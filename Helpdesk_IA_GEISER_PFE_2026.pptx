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0"/>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1A3A8F"/>
          </a:solidFill>
          <a:ln w="12700">
            <a:solidFill>
              <a:srgbClr val="1A3A8F"/>
            </a:solidFill>
            <a:prstDash val="solid"/>
          </a:ln>
        </p:spPr>
      </p:sp>
      <p:sp>
        <p:nvSpPr>
          <p:cNvPr id="3" name="Shape 1"/>
          <p:cNvSpPr/>
          <p:nvPr/>
        </p:nvSpPr>
        <p:spPr>
          <a:xfrm>
            <a:off x="3474720" y="0"/>
            <a:ext cx="54864" cy="5143500"/>
          </a:xfrm>
          <a:prstGeom prst="rect">
            <a:avLst/>
          </a:prstGeom>
          <a:solidFill>
            <a:srgbClr val="2EC4F3"/>
          </a:solidFill>
          <a:ln w="12700">
            <a:solidFill>
              <a:srgbClr val="2EC4F3"/>
            </a:solidFill>
            <a:prstDash val="solid"/>
          </a:ln>
        </p:spPr>
      </p:sp>
      <p:sp>
        <p:nvSpPr>
          <p:cNvPr id="4" name="Text 2"/>
          <p:cNvSpPr/>
          <p:nvPr/>
        </p:nvSpPr>
        <p:spPr>
          <a:xfrm>
            <a:off x="274320" y="365760"/>
            <a:ext cx="2926080" cy="548640"/>
          </a:xfrm>
          <a:prstGeom prst="rect">
            <a:avLst/>
          </a:prstGeom>
          <a:noFill/>
          <a:ln/>
        </p:spPr>
        <p:txBody>
          <a:bodyPr wrap="square" lIns="0" tIns="0" rIns="0" bIns="0" rtlCol="0" anchor="ctr"/>
          <a:lstStyle/>
          <a:p>
            <a:pPr indent="0" marL="0">
              <a:buNone/>
            </a:pPr>
            <a:r>
              <a:rPr lang="en-US" sz="1100" b="1" spc="600" kern="0" dirty="0">
                <a:solidFill>
                  <a:srgbClr val="2EC4F3"/>
                </a:solidFill>
                <a:latin typeface="Calibri" pitchFamily="34" charset="0"/>
                <a:ea typeface="Calibri" pitchFamily="34" charset="-122"/>
                <a:cs typeface="Calibri" pitchFamily="34" charset="-120"/>
              </a:rPr>
              <a:t>PFE</a:t>
            </a:r>
            <a:endParaRPr lang="en-US" sz="1100" dirty="0"/>
          </a:p>
        </p:txBody>
      </p:sp>
      <p:sp>
        <p:nvSpPr>
          <p:cNvPr id="5" name="Text 3"/>
          <p:cNvSpPr/>
          <p:nvPr/>
        </p:nvSpPr>
        <p:spPr>
          <a:xfrm>
            <a:off x="274320" y="868680"/>
            <a:ext cx="2926080" cy="365760"/>
          </a:xfrm>
          <a:prstGeom prst="rect">
            <a:avLst/>
          </a:prstGeom>
          <a:noFill/>
          <a:ln/>
        </p:spPr>
        <p:txBody>
          <a:bodyPr wrap="square" lIns="0" tIns="0" rIns="0" bIns="0" rtlCol="0" anchor="ctr"/>
          <a:lstStyle/>
          <a:p>
            <a:pPr indent="0" marL="0">
              <a:buNone/>
            </a:pPr>
            <a:r>
              <a:rPr lang="en-US" sz="1000" dirty="0">
                <a:solidFill>
                  <a:srgbClr val="A0BFE0"/>
                </a:solidFill>
                <a:latin typeface="Calibri" pitchFamily="34" charset="0"/>
                <a:ea typeface="Calibri" pitchFamily="34" charset="-122"/>
                <a:cs typeface="Calibri" pitchFamily="34" charset="-120"/>
              </a:rPr>
              <a:t>Projet de Fin d'Études</a:t>
            </a:r>
            <a:endParaRPr lang="en-US" sz="1000" dirty="0"/>
          </a:p>
        </p:txBody>
      </p:sp>
      <p:sp>
        <p:nvSpPr>
          <p:cNvPr id="6" name="Text 4"/>
          <p:cNvSpPr/>
          <p:nvPr/>
        </p:nvSpPr>
        <p:spPr>
          <a:xfrm>
            <a:off x="274320" y="3657600"/>
            <a:ext cx="2926080" cy="411480"/>
          </a:xfrm>
          <a:prstGeom prst="rect">
            <a:avLst/>
          </a:prstGeom>
          <a:noFill/>
          <a:ln/>
        </p:spPr>
        <p:txBody>
          <a:bodyPr wrap="square" lIns="0" tIns="0" rIns="0" bIns="0" rtlCol="0" anchor="ctr"/>
          <a:lstStyle/>
          <a:p>
            <a:pPr indent="0" marL="0">
              <a:buNone/>
            </a:pPr>
            <a:r>
              <a:rPr lang="en-US" sz="2200" b="1" spc="400" kern="0" dirty="0">
                <a:solidFill>
                  <a:srgbClr val="FFFFFF"/>
                </a:solidFill>
                <a:latin typeface="Calibri" pitchFamily="34" charset="0"/>
                <a:ea typeface="Calibri" pitchFamily="34" charset="-122"/>
                <a:cs typeface="Calibri" pitchFamily="34" charset="-120"/>
              </a:rPr>
              <a:t>GEISER</a:t>
            </a:r>
            <a:endParaRPr lang="en-US" sz="2200" dirty="0"/>
          </a:p>
        </p:txBody>
      </p:sp>
      <p:sp>
        <p:nvSpPr>
          <p:cNvPr id="7" name="Text 5"/>
          <p:cNvSpPr/>
          <p:nvPr/>
        </p:nvSpPr>
        <p:spPr>
          <a:xfrm>
            <a:off x="274320" y="4096512"/>
            <a:ext cx="2926080" cy="274320"/>
          </a:xfrm>
          <a:prstGeom prst="rect">
            <a:avLst/>
          </a:prstGeom>
          <a:noFill/>
          <a:ln/>
        </p:spPr>
        <p:txBody>
          <a:bodyPr wrap="square" lIns="0" tIns="0" rIns="0" bIns="0" rtlCol="0" anchor="ctr"/>
          <a:lstStyle/>
          <a:p>
            <a:pPr indent="0" marL="0">
              <a:buNone/>
            </a:pPr>
            <a:r>
              <a:rPr lang="en-US" sz="900" i="1" dirty="0">
                <a:solidFill>
                  <a:srgbClr val="A0BFE0"/>
                </a:solidFill>
                <a:latin typeface="Calibri" pitchFamily="34" charset="0"/>
                <a:ea typeface="Calibri" pitchFamily="34" charset="-122"/>
                <a:cs typeface="Calibri" pitchFamily="34" charset="-120"/>
              </a:rPr>
              <a:t>Organisme d'accueil</a:t>
            </a:r>
            <a:endParaRPr lang="en-US" sz="900" dirty="0"/>
          </a:p>
        </p:txBody>
      </p:sp>
      <p:sp>
        <p:nvSpPr>
          <p:cNvPr id="8" name="Text 6"/>
          <p:cNvSpPr/>
          <p:nvPr/>
        </p:nvSpPr>
        <p:spPr>
          <a:xfrm>
            <a:off x="274320" y="4480560"/>
            <a:ext cx="2926080" cy="274320"/>
          </a:xfrm>
          <a:prstGeom prst="rect">
            <a:avLst/>
          </a:prstGeom>
          <a:noFill/>
          <a:ln/>
        </p:spPr>
        <p:txBody>
          <a:bodyPr wrap="square" lIns="0" tIns="0" rIns="0" bIns="0" rtlCol="0" anchor="ctr"/>
          <a:lstStyle/>
          <a:p>
            <a:pPr indent="0" marL="0">
              <a:buNone/>
            </a:pPr>
            <a:r>
              <a:rPr lang="en-US" sz="850" dirty="0">
                <a:solidFill>
                  <a:srgbClr val="A0BFE0"/>
                </a:solidFill>
                <a:latin typeface="Calibri" pitchFamily="34" charset="0"/>
                <a:ea typeface="Calibri" pitchFamily="34" charset="-122"/>
                <a:cs typeface="Calibri" pitchFamily="34" charset="-120"/>
              </a:rPr>
              <a:t>Année universitaire 2025 – 2026</a:t>
            </a:r>
            <a:endParaRPr lang="en-US" sz="850" dirty="0"/>
          </a:p>
        </p:txBody>
      </p:sp>
      <p:sp>
        <p:nvSpPr>
          <p:cNvPr id="9" name="Text 7"/>
          <p:cNvSpPr/>
          <p:nvPr/>
        </p:nvSpPr>
        <p:spPr>
          <a:xfrm>
            <a:off x="3840480" y="731520"/>
            <a:ext cx="5029200" cy="77724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Plateforme de Gestion de Tickets</a:t>
            </a:r>
            <a:endParaRPr lang="en-US" sz="2600" dirty="0"/>
          </a:p>
        </p:txBody>
      </p:sp>
      <p:sp>
        <p:nvSpPr>
          <p:cNvPr id="10" name="Text 8"/>
          <p:cNvSpPr/>
          <p:nvPr/>
        </p:nvSpPr>
        <p:spPr>
          <a:xfrm>
            <a:off x="3840480" y="1508760"/>
            <a:ext cx="5029200" cy="502920"/>
          </a:xfrm>
          <a:prstGeom prst="rect">
            <a:avLst/>
          </a:prstGeom>
          <a:noFill/>
          <a:ln/>
        </p:spPr>
        <p:txBody>
          <a:bodyPr wrap="square" lIns="0" tIns="0" rIns="0" bIns="0" rtlCol="0" anchor="ctr"/>
          <a:lstStyle/>
          <a:p>
            <a:pPr algn="l" indent="0" marL="0">
              <a:buNone/>
            </a:pPr>
            <a:r>
              <a:rPr lang="en-US" sz="1600" dirty="0">
                <a:solidFill>
                  <a:srgbClr val="2EC4F3"/>
                </a:solidFill>
                <a:latin typeface="Calibri" pitchFamily="34" charset="0"/>
                <a:ea typeface="Calibri" pitchFamily="34" charset="-122"/>
                <a:cs typeface="Calibri" pitchFamily="34" charset="-120"/>
              </a:rPr>
              <a:t>Automatisée avec Intelligence Artificielle</a:t>
            </a:r>
            <a:endParaRPr lang="en-US" sz="1600" dirty="0"/>
          </a:p>
        </p:txBody>
      </p:sp>
      <p:sp>
        <p:nvSpPr>
          <p:cNvPr id="11" name="Text 9"/>
          <p:cNvSpPr/>
          <p:nvPr/>
        </p:nvSpPr>
        <p:spPr>
          <a:xfrm>
            <a:off x="3840480" y="2057400"/>
            <a:ext cx="5029200" cy="320040"/>
          </a:xfrm>
          <a:prstGeom prst="rect">
            <a:avLst/>
          </a:prstGeom>
          <a:noFill/>
          <a:ln/>
        </p:spPr>
        <p:txBody>
          <a:bodyPr wrap="square" lIns="0" tIns="0" rIns="0" bIns="0" rtlCol="0" anchor="ctr"/>
          <a:lstStyle/>
          <a:p>
            <a:pPr algn="l" indent="0" marL="0">
              <a:buNone/>
            </a:pPr>
            <a:r>
              <a:rPr lang="en-US" sz="1200" i="1" dirty="0">
                <a:solidFill>
                  <a:srgbClr val="7AADD0"/>
                </a:solidFill>
                <a:latin typeface="Calibri" pitchFamily="34" charset="0"/>
                <a:ea typeface="Calibri" pitchFamily="34" charset="-122"/>
                <a:cs typeface="Calibri" pitchFamily="34" charset="-120"/>
              </a:rPr>
              <a:t>Helpdesk IA – GEISER</a:t>
            </a:r>
            <a:endParaRPr lang="en-US" sz="1200" dirty="0"/>
          </a:p>
        </p:txBody>
      </p:sp>
      <p:sp>
        <p:nvSpPr>
          <p:cNvPr id="12" name="Shape 10"/>
          <p:cNvSpPr/>
          <p:nvPr/>
        </p:nvSpPr>
        <p:spPr>
          <a:xfrm>
            <a:off x="3840480" y="2514600"/>
            <a:ext cx="1371600" cy="36576"/>
          </a:xfrm>
          <a:prstGeom prst="rect">
            <a:avLst/>
          </a:prstGeom>
          <a:solidFill>
            <a:srgbClr val="2EC4F3"/>
          </a:solidFill>
          <a:ln w="12700">
            <a:solidFill>
              <a:srgbClr val="2EC4F3"/>
            </a:solidFill>
            <a:prstDash val="solid"/>
          </a:ln>
        </p:spPr>
      </p:sp>
      <p:sp>
        <p:nvSpPr>
          <p:cNvPr id="13" name="Text 11"/>
          <p:cNvSpPr/>
          <p:nvPr/>
        </p:nvSpPr>
        <p:spPr>
          <a:xfrm>
            <a:off x="3840480" y="2697480"/>
            <a:ext cx="1371600" cy="320040"/>
          </a:xfrm>
          <a:prstGeom prst="rect">
            <a:avLst/>
          </a:prstGeom>
          <a:noFill/>
          <a:ln/>
        </p:spPr>
        <p:txBody>
          <a:bodyPr wrap="square" lIns="0" tIns="0" rIns="0" bIns="0" rtlCol="0" anchor="ctr"/>
          <a:lstStyle/>
          <a:p>
            <a:pPr indent="0" marL="0">
              <a:buNone/>
            </a:pPr>
            <a:r>
              <a:rPr lang="en-US" sz="1000" b="1" dirty="0">
                <a:solidFill>
                  <a:srgbClr val="2EC4F3"/>
                </a:solidFill>
                <a:latin typeface="Calibri" pitchFamily="34" charset="0"/>
                <a:ea typeface="Calibri" pitchFamily="34" charset="-122"/>
                <a:cs typeface="Calibri" pitchFamily="34" charset="-120"/>
              </a:rPr>
              <a:t>Étudiant :</a:t>
            </a:r>
            <a:endParaRPr lang="en-US" sz="1000" dirty="0"/>
          </a:p>
        </p:txBody>
      </p:sp>
      <p:sp>
        <p:nvSpPr>
          <p:cNvPr id="14" name="Text 12"/>
          <p:cNvSpPr/>
          <p:nvPr/>
        </p:nvSpPr>
        <p:spPr>
          <a:xfrm>
            <a:off x="5257800" y="2697480"/>
            <a:ext cx="3657600" cy="320040"/>
          </a:xfrm>
          <a:prstGeom prst="rect">
            <a:avLst/>
          </a:prstGeom>
          <a:noFill/>
          <a:ln/>
        </p:spPr>
        <p:txBody>
          <a:bodyPr wrap="square" lIns="0" tIns="0" rIns="0" bIns="0" rtlCol="0" anchor="ctr"/>
          <a:lstStyle/>
          <a:p>
            <a:pPr indent="0" marL="0">
              <a:buNone/>
            </a:pPr>
            <a:r>
              <a:rPr lang="en-US" sz="1000" dirty="0">
                <a:solidFill>
                  <a:srgbClr val="C8DCF0"/>
                </a:solidFill>
                <a:latin typeface="Calibri" pitchFamily="34" charset="0"/>
                <a:ea typeface="Calibri" pitchFamily="34" charset="-122"/>
                <a:cs typeface="Calibri" pitchFamily="34" charset="-120"/>
              </a:rPr>
              <a:t>[Votre Nom &amp; Prénom]</a:t>
            </a:r>
            <a:endParaRPr lang="en-US" sz="1000" dirty="0"/>
          </a:p>
        </p:txBody>
      </p:sp>
      <p:sp>
        <p:nvSpPr>
          <p:cNvPr id="15" name="Text 13"/>
          <p:cNvSpPr/>
          <p:nvPr/>
        </p:nvSpPr>
        <p:spPr>
          <a:xfrm>
            <a:off x="3840480" y="3154680"/>
            <a:ext cx="1371600" cy="320040"/>
          </a:xfrm>
          <a:prstGeom prst="rect">
            <a:avLst/>
          </a:prstGeom>
          <a:noFill/>
          <a:ln/>
        </p:spPr>
        <p:txBody>
          <a:bodyPr wrap="square" lIns="0" tIns="0" rIns="0" bIns="0" rtlCol="0" anchor="ctr"/>
          <a:lstStyle/>
          <a:p>
            <a:pPr indent="0" marL="0">
              <a:buNone/>
            </a:pPr>
            <a:r>
              <a:rPr lang="en-US" sz="1000" b="1" dirty="0">
                <a:solidFill>
                  <a:srgbClr val="2EC4F3"/>
                </a:solidFill>
                <a:latin typeface="Calibri" pitchFamily="34" charset="0"/>
                <a:ea typeface="Calibri" pitchFamily="34" charset="-122"/>
                <a:cs typeface="Calibri" pitchFamily="34" charset="-120"/>
              </a:rPr>
              <a:t>Encadrant :</a:t>
            </a:r>
            <a:endParaRPr lang="en-US" sz="1000" dirty="0"/>
          </a:p>
        </p:txBody>
      </p:sp>
      <p:sp>
        <p:nvSpPr>
          <p:cNvPr id="16" name="Text 14"/>
          <p:cNvSpPr/>
          <p:nvPr/>
        </p:nvSpPr>
        <p:spPr>
          <a:xfrm>
            <a:off x="5257800" y="3154680"/>
            <a:ext cx="3657600" cy="320040"/>
          </a:xfrm>
          <a:prstGeom prst="rect">
            <a:avLst/>
          </a:prstGeom>
          <a:noFill/>
          <a:ln/>
        </p:spPr>
        <p:txBody>
          <a:bodyPr wrap="square" lIns="0" tIns="0" rIns="0" bIns="0" rtlCol="0" anchor="ctr"/>
          <a:lstStyle/>
          <a:p>
            <a:pPr indent="0" marL="0">
              <a:buNone/>
            </a:pPr>
            <a:r>
              <a:rPr lang="en-US" sz="1000" dirty="0">
                <a:solidFill>
                  <a:srgbClr val="C8DCF0"/>
                </a:solidFill>
                <a:latin typeface="Calibri" pitchFamily="34" charset="0"/>
                <a:ea typeface="Calibri" pitchFamily="34" charset="-122"/>
                <a:cs typeface="Calibri" pitchFamily="34" charset="-120"/>
              </a:rPr>
              <a:t>[Nom de l'Encadrant]</a:t>
            </a:r>
            <a:endParaRPr lang="en-US" sz="1000" dirty="0"/>
          </a:p>
        </p:txBody>
      </p:sp>
      <p:sp>
        <p:nvSpPr>
          <p:cNvPr id="17" name="Text 15"/>
          <p:cNvSpPr/>
          <p:nvPr/>
        </p:nvSpPr>
        <p:spPr>
          <a:xfrm>
            <a:off x="3840480" y="3611880"/>
            <a:ext cx="1371600" cy="320040"/>
          </a:xfrm>
          <a:prstGeom prst="rect">
            <a:avLst/>
          </a:prstGeom>
          <a:noFill/>
          <a:ln/>
        </p:spPr>
        <p:txBody>
          <a:bodyPr wrap="square" lIns="0" tIns="0" rIns="0" bIns="0" rtlCol="0" anchor="ctr"/>
          <a:lstStyle/>
          <a:p>
            <a:pPr indent="0" marL="0">
              <a:buNone/>
            </a:pPr>
            <a:r>
              <a:rPr lang="en-US" sz="1000" b="1" dirty="0">
                <a:solidFill>
                  <a:srgbClr val="2EC4F3"/>
                </a:solidFill>
                <a:latin typeface="Calibri" pitchFamily="34" charset="0"/>
                <a:ea typeface="Calibri" pitchFamily="34" charset="-122"/>
                <a:cs typeface="Calibri" pitchFamily="34" charset="-120"/>
              </a:rPr>
              <a:t>Spécialité :</a:t>
            </a:r>
            <a:endParaRPr lang="en-US" sz="1000" dirty="0"/>
          </a:p>
        </p:txBody>
      </p:sp>
      <p:sp>
        <p:nvSpPr>
          <p:cNvPr id="18" name="Text 16"/>
          <p:cNvSpPr/>
          <p:nvPr/>
        </p:nvSpPr>
        <p:spPr>
          <a:xfrm>
            <a:off x="5257800" y="3611880"/>
            <a:ext cx="3657600" cy="320040"/>
          </a:xfrm>
          <a:prstGeom prst="rect">
            <a:avLst/>
          </a:prstGeom>
          <a:noFill/>
          <a:ln/>
        </p:spPr>
        <p:txBody>
          <a:bodyPr wrap="square" lIns="0" tIns="0" rIns="0" bIns="0" rtlCol="0" anchor="ctr"/>
          <a:lstStyle/>
          <a:p>
            <a:pPr indent="0" marL="0">
              <a:buNone/>
            </a:pPr>
            <a:r>
              <a:rPr lang="en-US" sz="1000" dirty="0">
                <a:solidFill>
                  <a:srgbClr val="C8DCF0"/>
                </a:solidFill>
                <a:latin typeface="Calibri" pitchFamily="34" charset="0"/>
                <a:ea typeface="Calibri" pitchFamily="34" charset="-122"/>
                <a:cs typeface="Calibri" pitchFamily="34" charset="-120"/>
              </a:rPr>
              <a:t>Génie Informatique / Systèmes Intelligents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CADRE DU PROJET</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Contexte académique et enjeux du stage</a:t>
            </a:r>
            <a:endParaRPr lang="en-US" sz="1100" dirty="0"/>
          </a:p>
        </p:txBody>
      </p:sp>
      <p:sp>
        <p:nvSpPr>
          <p:cNvPr id="5" name="Shape 3"/>
          <p:cNvSpPr/>
          <p:nvPr/>
        </p:nvSpPr>
        <p:spPr>
          <a:xfrm>
            <a:off x="320040" y="1051560"/>
            <a:ext cx="2651760" cy="3474720"/>
          </a:xfrm>
          <a:prstGeom prst="rect">
            <a:avLst/>
          </a:prstGeom>
          <a:solidFill>
            <a:srgbClr val="F1F5FB"/>
          </a:solidFill>
          <a:ln w="6350">
            <a:solidFill>
              <a:srgbClr val="D1DCF0"/>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411480" y="1115568"/>
            <a:ext cx="502920" cy="50292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7" name="Text 5"/>
          <p:cNvSpPr/>
          <p:nvPr/>
        </p:nvSpPr>
        <p:spPr>
          <a:xfrm>
            <a:off x="411480" y="1645920"/>
            <a:ext cx="2468880" cy="384048"/>
          </a:xfrm>
          <a:prstGeom prst="rect">
            <a:avLst/>
          </a:prstGeom>
          <a:noFill/>
          <a:ln/>
        </p:spPr>
        <p:txBody>
          <a:bodyPr wrap="square" lIns="0" tIns="0" rIns="0" bIns="0" rtlCol="0" anchor="ctr"/>
          <a:lstStyle/>
          <a:p>
            <a:pPr indent="0" marL="0">
              <a:buNone/>
            </a:pPr>
            <a:r>
              <a:rPr lang="en-US" sz="1200" b="1" dirty="0">
                <a:solidFill>
                  <a:srgbClr val="1A3A8F"/>
                </a:solidFill>
                <a:latin typeface="Calibri" pitchFamily="34" charset="0"/>
                <a:ea typeface="Calibri" pitchFamily="34" charset="-122"/>
                <a:cs typeface="Calibri" pitchFamily="34" charset="-120"/>
              </a:rPr>
              <a:t>Contexte académique</a:t>
            </a:r>
            <a:endParaRPr lang="en-US" sz="1200" dirty="0"/>
          </a:p>
        </p:txBody>
      </p:sp>
      <p:sp>
        <p:nvSpPr>
          <p:cNvPr id="8" name="Shape 6"/>
          <p:cNvSpPr/>
          <p:nvPr/>
        </p:nvSpPr>
        <p:spPr>
          <a:xfrm>
            <a:off x="411480" y="2029968"/>
            <a:ext cx="548640" cy="36576"/>
          </a:xfrm>
          <a:prstGeom prst="rect">
            <a:avLst/>
          </a:prstGeom>
          <a:solidFill>
            <a:srgbClr val="2EC4F3"/>
          </a:solidFill>
          <a:ln w="12700">
            <a:solidFill>
              <a:srgbClr val="2EC4F3"/>
            </a:solidFill>
            <a:prstDash val="solid"/>
          </a:ln>
        </p:spPr>
      </p:sp>
      <p:sp>
        <p:nvSpPr>
          <p:cNvPr id="9" name="Text 7"/>
          <p:cNvSpPr/>
          <p:nvPr/>
        </p:nvSpPr>
        <p:spPr>
          <a:xfrm>
            <a:off x="411480" y="2121408"/>
            <a:ext cx="2468880" cy="2286000"/>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Ce projet s'inscrit dans le cadre du Projet de Fin d'Études (PFE) sanctionnant l'obtention du diplôme d'ingénieur en informatique. Il constitue une synthèse des compétences acquises durant la formation et représente une immersion concrète dans le milieu professionnel au sein de l'entreprise GEISER.</a:t>
            </a:r>
            <a:endParaRPr lang="en-US" sz="950" dirty="0"/>
          </a:p>
        </p:txBody>
      </p:sp>
      <p:sp>
        <p:nvSpPr>
          <p:cNvPr id="10" name="Shape 8"/>
          <p:cNvSpPr/>
          <p:nvPr/>
        </p:nvSpPr>
        <p:spPr>
          <a:xfrm>
            <a:off x="3172968" y="1051560"/>
            <a:ext cx="2651760" cy="3474720"/>
          </a:xfrm>
          <a:prstGeom prst="rect">
            <a:avLst/>
          </a:prstGeom>
          <a:solidFill>
            <a:srgbClr val="F1F5FB"/>
          </a:solidFill>
          <a:ln w="6350">
            <a:solidFill>
              <a:srgbClr val="D1DCF0"/>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3264408" y="1115568"/>
            <a:ext cx="502920" cy="50292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2" name="Text 10"/>
          <p:cNvSpPr/>
          <p:nvPr/>
        </p:nvSpPr>
        <p:spPr>
          <a:xfrm>
            <a:off x="3264408" y="1645920"/>
            <a:ext cx="2468880" cy="384048"/>
          </a:xfrm>
          <a:prstGeom prst="rect">
            <a:avLst/>
          </a:prstGeom>
          <a:noFill/>
          <a:ln/>
        </p:spPr>
        <p:txBody>
          <a:bodyPr wrap="square" lIns="0" tIns="0" rIns="0" bIns="0" rtlCol="0" anchor="ctr"/>
          <a:lstStyle/>
          <a:p>
            <a:pPr indent="0" marL="0">
              <a:buNone/>
            </a:pPr>
            <a:r>
              <a:rPr lang="en-US" sz="1200" b="1" dirty="0">
                <a:solidFill>
                  <a:srgbClr val="1A3A8F"/>
                </a:solidFill>
                <a:latin typeface="Calibri" pitchFamily="34" charset="0"/>
                <a:ea typeface="Calibri" pitchFamily="34" charset="-122"/>
                <a:cs typeface="Calibri" pitchFamily="34" charset="-120"/>
              </a:rPr>
              <a:t>Présentation du stage</a:t>
            </a:r>
            <a:endParaRPr lang="en-US" sz="1200" dirty="0"/>
          </a:p>
        </p:txBody>
      </p:sp>
      <p:sp>
        <p:nvSpPr>
          <p:cNvPr id="13" name="Shape 11"/>
          <p:cNvSpPr/>
          <p:nvPr/>
        </p:nvSpPr>
        <p:spPr>
          <a:xfrm>
            <a:off x="3264408" y="2029968"/>
            <a:ext cx="548640" cy="36576"/>
          </a:xfrm>
          <a:prstGeom prst="rect">
            <a:avLst/>
          </a:prstGeom>
          <a:solidFill>
            <a:srgbClr val="2EC4F3"/>
          </a:solidFill>
          <a:ln w="12700">
            <a:solidFill>
              <a:srgbClr val="2EC4F3"/>
            </a:solidFill>
            <a:prstDash val="solid"/>
          </a:ln>
        </p:spPr>
      </p:sp>
      <p:sp>
        <p:nvSpPr>
          <p:cNvPr id="14" name="Text 12"/>
          <p:cNvSpPr/>
          <p:nvPr/>
        </p:nvSpPr>
        <p:spPr>
          <a:xfrm>
            <a:off x="3264408" y="2121408"/>
            <a:ext cx="2468880" cy="2286000"/>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Le stage de fin d'études s'est déroulé au sein de GEISER sur une durée de six mois (mars – août 2026). Il a consisté à analyser les besoins internes en matière de gestion des incidents IT, concevoir une solution adaptée, puis développer et déployer une plateforme Helpdesk intelligente.</a:t>
            </a:r>
            <a:endParaRPr lang="en-US" sz="950" dirty="0"/>
          </a:p>
        </p:txBody>
      </p:sp>
      <p:sp>
        <p:nvSpPr>
          <p:cNvPr id="15" name="Shape 13"/>
          <p:cNvSpPr/>
          <p:nvPr/>
        </p:nvSpPr>
        <p:spPr>
          <a:xfrm>
            <a:off x="6025896" y="1051560"/>
            <a:ext cx="2651760" cy="3474720"/>
          </a:xfrm>
          <a:prstGeom prst="rect">
            <a:avLst/>
          </a:prstGeom>
          <a:solidFill>
            <a:srgbClr val="F1F5FB"/>
          </a:solidFill>
          <a:ln w="6350">
            <a:solidFill>
              <a:srgbClr val="D1DCF0"/>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6117336" y="1115568"/>
            <a:ext cx="502920" cy="50292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7" name="Text 15"/>
          <p:cNvSpPr/>
          <p:nvPr/>
        </p:nvSpPr>
        <p:spPr>
          <a:xfrm>
            <a:off x="6117336" y="1645920"/>
            <a:ext cx="2468880" cy="384048"/>
          </a:xfrm>
          <a:prstGeom prst="rect">
            <a:avLst/>
          </a:prstGeom>
          <a:noFill/>
          <a:ln/>
        </p:spPr>
        <p:txBody>
          <a:bodyPr wrap="square" lIns="0" tIns="0" rIns="0" bIns="0" rtlCol="0" anchor="ctr"/>
          <a:lstStyle/>
          <a:p>
            <a:pPr indent="0" marL="0">
              <a:buNone/>
            </a:pPr>
            <a:r>
              <a:rPr lang="en-US" sz="1200" b="1" dirty="0">
                <a:solidFill>
                  <a:srgbClr val="1A3A8F"/>
                </a:solidFill>
                <a:latin typeface="Calibri" pitchFamily="34" charset="0"/>
                <a:ea typeface="Calibri" pitchFamily="34" charset="-122"/>
                <a:cs typeface="Calibri" pitchFamily="34" charset="-120"/>
              </a:rPr>
              <a:t>Importance du projet</a:t>
            </a:r>
            <a:endParaRPr lang="en-US" sz="1200" dirty="0"/>
          </a:p>
        </p:txBody>
      </p:sp>
      <p:sp>
        <p:nvSpPr>
          <p:cNvPr id="18" name="Shape 16"/>
          <p:cNvSpPr/>
          <p:nvPr/>
        </p:nvSpPr>
        <p:spPr>
          <a:xfrm>
            <a:off x="6117336" y="2029968"/>
            <a:ext cx="548640" cy="36576"/>
          </a:xfrm>
          <a:prstGeom prst="rect">
            <a:avLst/>
          </a:prstGeom>
          <a:solidFill>
            <a:srgbClr val="2EC4F3"/>
          </a:solidFill>
          <a:ln w="12700">
            <a:solidFill>
              <a:srgbClr val="2EC4F3"/>
            </a:solidFill>
            <a:prstDash val="solid"/>
          </a:ln>
        </p:spPr>
      </p:sp>
      <p:sp>
        <p:nvSpPr>
          <p:cNvPr id="19" name="Text 17"/>
          <p:cNvSpPr/>
          <p:nvPr/>
        </p:nvSpPr>
        <p:spPr>
          <a:xfrm>
            <a:off x="6117336" y="2121408"/>
            <a:ext cx="2468880" cy="2286000"/>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À l'ère de la transformation numérique, l'automatisation des processus de support IT via l'Intelligence Artificielle représente un enjeu stratégique majeur. Ce projet contribue directement à l'optimisation des flux de travail, à la réduction des délais de résolution et à l'amélioration de l'expérience utilisateur.</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ORGANISME D'ACCUEIL</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Présentation de GEISER</a:t>
            </a:r>
            <a:endParaRPr lang="en-US" sz="1100" dirty="0"/>
          </a:p>
        </p:txBody>
      </p:sp>
      <p:sp>
        <p:nvSpPr>
          <p:cNvPr id="5" name="Shape 3"/>
          <p:cNvSpPr/>
          <p:nvPr/>
        </p:nvSpPr>
        <p:spPr>
          <a:xfrm>
            <a:off x="320040" y="1005840"/>
            <a:ext cx="3931920" cy="3657600"/>
          </a:xfrm>
          <a:prstGeom prst="rect">
            <a:avLst/>
          </a:prstGeom>
          <a:solidFill>
            <a:srgbClr val="F1F5FB"/>
          </a:solidFill>
          <a:ln w="6350">
            <a:solidFill>
              <a:srgbClr val="D1DCF0"/>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502920" y="1115568"/>
            <a:ext cx="3474720" cy="502920"/>
          </a:xfrm>
          <a:prstGeom prst="rect">
            <a:avLst/>
          </a:prstGeom>
          <a:noFill/>
          <a:ln/>
        </p:spPr>
        <p:txBody>
          <a:bodyPr wrap="square" lIns="0" tIns="0" rIns="0" bIns="0" rtlCol="0" anchor="ctr"/>
          <a:lstStyle/>
          <a:p>
            <a:pPr indent="0" marL="0">
              <a:buNone/>
            </a:pPr>
            <a:r>
              <a:rPr lang="en-US" sz="2600" b="1" dirty="0">
                <a:solidFill>
                  <a:srgbClr val="1A3A8F"/>
                </a:solidFill>
                <a:latin typeface="Calibri" pitchFamily="34" charset="0"/>
                <a:ea typeface="Calibri" pitchFamily="34" charset="-122"/>
                <a:cs typeface="Calibri" pitchFamily="34" charset="-120"/>
              </a:rPr>
              <a:t>GEISER</a:t>
            </a:r>
            <a:endParaRPr lang="en-US" sz="2600" dirty="0"/>
          </a:p>
        </p:txBody>
      </p:sp>
      <p:sp>
        <p:nvSpPr>
          <p:cNvPr id="7" name="Text 5"/>
          <p:cNvSpPr/>
          <p:nvPr/>
        </p:nvSpPr>
        <p:spPr>
          <a:xfrm>
            <a:off x="502920" y="1627632"/>
            <a:ext cx="3474720" cy="36576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Groupe Expert en Ingénierie de Systèmes et Réseaux</a:t>
            </a:r>
            <a:endParaRPr lang="en-US" sz="950" dirty="0"/>
          </a:p>
        </p:txBody>
      </p:sp>
      <p:sp>
        <p:nvSpPr>
          <p:cNvPr id="8" name="Shape 6"/>
          <p:cNvSpPr/>
          <p:nvPr/>
        </p:nvSpPr>
        <p:spPr>
          <a:xfrm>
            <a:off x="502920" y="2029968"/>
            <a:ext cx="914400" cy="36576"/>
          </a:xfrm>
          <a:prstGeom prst="rect">
            <a:avLst/>
          </a:prstGeom>
          <a:solidFill>
            <a:srgbClr val="2EC4F3"/>
          </a:solidFill>
          <a:ln w="12700">
            <a:solidFill>
              <a:srgbClr val="2EC4F3"/>
            </a:solidFill>
            <a:prstDash val="solid"/>
          </a:ln>
        </p:spPr>
      </p:sp>
      <p:sp>
        <p:nvSpPr>
          <p:cNvPr id="9" name="Text 7"/>
          <p:cNvSpPr/>
          <p:nvPr/>
        </p:nvSpPr>
        <p:spPr>
          <a:xfrm>
            <a:off x="502920" y="2148840"/>
            <a:ext cx="3566160" cy="2286000"/>
          </a:xfrm>
          <a:prstGeom prst="rect">
            <a:avLst/>
          </a:prstGeom>
          <a:noFill/>
          <a:ln/>
        </p:spPr>
        <p:txBody>
          <a:bodyPr wrap="square" rtlCol="0" anchor="t"/>
          <a:lstStyle/>
          <a:p>
            <a:pPr indent="0" marL="0">
              <a:spcAft>
                <a:spcPts val="300"/>
              </a:spcAft>
              <a:buNone/>
            </a:pPr>
            <a:r>
              <a:rPr lang="en-US" sz="1250" b="1" dirty="0">
                <a:solidFill>
                  <a:srgbClr val="1A3A8F"/>
                </a:solidFill>
                <a:latin typeface="Calibri" pitchFamily="34" charset="0"/>
                <a:ea typeface="Calibri" pitchFamily="34" charset="-122"/>
                <a:cs typeface="Calibri" pitchFamily="34" charset="-120"/>
              </a:rPr>
              <a:t>Domaine d'activité</a:t>
            </a:r>
            <a:endParaRPr lang="en-US" sz="12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Intégration et gestion de systèmes d'information</a:t>
            </a:r>
            <a:endParaRPr lang="en-US" sz="12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Conseil en transformation numérique</a:t>
            </a:r>
            <a:endParaRPr lang="en-US" sz="12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Sécurité informatique et conformité ISO/IEC 27001</a:t>
            </a:r>
            <a:endParaRPr lang="en-US" sz="12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Infrastructure réseau, cloud et hébergement</a:t>
            </a:r>
            <a:endParaRPr lang="en-US" sz="1250" dirty="0"/>
          </a:p>
        </p:txBody>
      </p:sp>
      <p:sp>
        <p:nvSpPr>
          <p:cNvPr id="10" name="Shape 8"/>
          <p:cNvSpPr/>
          <p:nvPr/>
        </p:nvSpPr>
        <p:spPr>
          <a:xfrm>
            <a:off x="4480560" y="1005840"/>
            <a:ext cx="2103120" cy="1645920"/>
          </a:xfrm>
          <a:prstGeom prst="rect">
            <a:avLst/>
          </a:prstGeom>
          <a:solidFill>
            <a:srgbClr val="F1F5FB"/>
          </a:solidFill>
          <a:ln w="6350">
            <a:solidFill>
              <a:srgbClr val="D1DCF0"/>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4480560" y="1234440"/>
            <a:ext cx="2103120" cy="685800"/>
          </a:xfrm>
          <a:prstGeom prst="rect">
            <a:avLst/>
          </a:prstGeom>
          <a:noFill/>
          <a:ln/>
        </p:spPr>
        <p:txBody>
          <a:bodyPr wrap="square" lIns="0" tIns="0" rIns="0" bIns="0" rtlCol="0" anchor="ctr"/>
          <a:lstStyle/>
          <a:p>
            <a:pPr algn="ctr" indent="0" marL="0">
              <a:buNone/>
            </a:pPr>
            <a:r>
              <a:rPr lang="en-US" sz="2800" b="1" dirty="0">
                <a:solidFill>
                  <a:srgbClr val="1A3A8F"/>
                </a:solidFill>
                <a:latin typeface="Calibri" pitchFamily="34" charset="0"/>
                <a:ea typeface="Calibri" pitchFamily="34" charset="-122"/>
                <a:cs typeface="Calibri" pitchFamily="34" charset="-120"/>
              </a:rPr>
              <a:t>ISO</a:t>
            </a:r>
            <a:endParaRPr lang="en-US" sz="2800" dirty="0"/>
          </a:p>
        </p:txBody>
      </p:sp>
      <p:sp>
        <p:nvSpPr>
          <p:cNvPr id="12" name="Text 10"/>
          <p:cNvSpPr/>
          <p:nvPr/>
        </p:nvSpPr>
        <p:spPr>
          <a:xfrm>
            <a:off x="4480560" y="1920240"/>
            <a:ext cx="2103120" cy="5029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27001 : 2013 Certifiée</a:t>
            </a:r>
            <a:endParaRPr lang="en-US" sz="900" dirty="0"/>
          </a:p>
        </p:txBody>
      </p:sp>
      <p:sp>
        <p:nvSpPr>
          <p:cNvPr id="13" name="Shape 11"/>
          <p:cNvSpPr/>
          <p:nvPr/>
        </p:nvSpPr>
        <p:spPr>
          <a:xfrm>
            <a:off x="6812280" y="1005840"/>
            <a:ext cx="2103120" cy="1645920"/>
          </a:xfrm>
          <a:prstGeom prst="rect">
            <a:avLst/>
          </a:prstGeom>
          <a:solidFill>
            <a:srgbClr val="F1F5FB"/>
          </a:solidFill>
          <a:ln w="6350">
            <a:solidFill>
              <a:srgbClr val="D1DCF0"/>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6812280" y="1234440"/>
            <a:ext cx="2103120" cy="68580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10+</a:t>
            </a:r>
            <a:endParaRPr lang="en-US" sz="2800" dirty="0"/>
          </a:p>
        </p:txBody>
      </p:sp>
      <p:sp>
        <p:nvSpPr>
          <p:cNvPr id="15" name="Text 13"/>
          <p:cNvSpPr/>
          <p:nvPr/>
        </p:nvSpPr>
        <p:spPr>
          <a:xfrm>
            <a:off x="6812280" y="1920240"/>
            <a:ext cx="2103120" cy="5029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Années d'expérience</a:t>
            </a:r>
            <a:endParaRPr lang="en-US" sz="900" dirty="0"/>
          </a:p>
        </p:txBody>
      </p:sp>
      <p:sp>
        <p:nvSpPr>
          <p:cNvPr id="16" name="Shape 14"/>
          <p:cNvSpPr/>
          <p:nvPr/>
        </p:nvSpPr>
        <p:spPr>
          <a:xfrm>
            <a:off x="4480560" y="2880360"/>
            <a:ext cx="2103120" cy="1645920"/>
          </a:xfrm>
          <a:prstGeom prst="rect">
            <a:avLst/>
          </a:prstGeom>
          <a:solidFill>
            <a:srgbClr val="F1F5FB"/>
          </a:solidFill>
          <a:ln w="6350">
            <a:solidFill>
              <a:srgbClr val="D1DCF0"/>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4480560" y="3108960"/>
            <a:ext cx="2103120" cy="68580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99.5%</a:t>
            </a:r>
            <a:endParaRPr lang="en-US" sz="2800" dirty="0"/>
          </a:p>
        </p:txBody>
      </p:sp>
      <p:sp>
        <p:nvSpPr>
          <p:cNvPr id="18" name="Text 16"/>
          <p:cNvSpPr/>
          <p:nvPr/>
        </p:nvSpPr>
        <p:spPr>
          <a:xfrm>
            <a:off x="4480560" y="3794760"/>
            <a:ext cx="2103120" cy="5029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Disponibilité cible SLA</a:t>
            </a:r>
            <a:endParaRPr lang="en-US" sz="900" dirty="0"/>
          </a:p>
        </p:txBody>
      </p:sp>
      <p:sp>
        <p:nvSpPr>
          <p:cNvPr id="19" name="Shape 17"/>
          <p:cNvSpPr/>
          <p:nvPr/>
        </p:nvSpPr>
        <p:spPr>
          <a:xfrm>
            <a:off x="6812280" y="2880360"/>
            <a:ext cx="2103120" cy="1645920"/>
          </a:xfrm>
          <a:prstGeom prst="rect">
            <a:avLst/>
          </a:prstGeom>
          <a:solidFill>
            <a:srgbClr val="F1F5FB"/>
          </a:solidFill>
          <a:ln w="6350">
            <a:solidFill>
              <a:srgbClr val="D1DCF0"/>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6812280" y="3108960"/>
            <a:ext cx="2103120" cy="685800"/>
          </a:xfrm>
          <a:prstGeom prst="rect">
            <a:avLst/>
          </a:prstGeom>
          <a:noFill/>
          <a:ln/>
        </p:spPr>
        <p:txBody>
          <a:bodyPr wrap="square" lIns="0" tIns="0" rIns="0" bIns="0" rtlCol="0" anchor="ctr"/>
          <a:lstStyle/>
          <a:p>
            <a:pPr algn="ctr" indent="0" marL="0">
              <a:buNone/>
            </a:pPr>
            <a:r>
              <a:rPr lang="en-US" sz="2800" b="1" dirty="0">
                <a:solidFill>
                  <a:srgbClr val="2EC4F3"/>
                </a:solidFill>
                <a:latin typeface="Calibri" pitchFamily="34" charset="0"/>
                <a:ea typeface="Calibri" pitchFamily="34" charset="-122"/>
                <a:cs typeface="Calibri" pitchFamily="34" charset="-120"/>
              </a:rPr>
              <a:t>360°</a:t>
            </a:r>
            <a:endParaRPr lang="en-US" sz="2800" dirty="0"/>
          </a:p>
        </p:txBody>
      </p:sp>
      <p:sp>
        <p:nvSpPr>
          <p:cNvPr id="21" name="Text 19"/>
          <p:cNvSpPr/>
          <p:nvPr/>
        </p:nvSpPr>
        <p:spPr>
          <a:xfrm>
            <a:off x="6812280" y="3794760"/>
            <a:ext cx="2103120" cy="5029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Support IT complet</a:t>
            </a:r>
            <a:endParaRPr lang="en-US" sz="900" dirty="0"/>
          </a:p>
        </p:txBody>
      </p:sp>
      <p:sp>
        <p:nvSpPr>
          <p:cNvPr id="22" name="Text 20"/>
          <p:cNvSpPr/>
          <p:nvPr/>
        </p:nvSpPr>
        <p:spPr>
          <a:xfrm>
            <a:off x="4480560" y="4572000"/>
            <a:ext cx="4434840" cy="4572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Rôle dans le projet : GEISER est l'entreprise commanditaire du projet. Elle a fourni le contexte métier, les exigences fonctionnelles et techniques, ainsi que l'accès aux équipes IT pour la collecte des besoins et les tests de validation de la plateforme Helpdesk IA.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4F3"/>
          </a:solidFill>
          <a:ln w="12700">
            <a:solidFill>
              <a:srgbClr val="2EC4F3"/>
            </a:solidFill>
            <a:prstDash val="solid"/>
          </a:ln>
        </p:spPr>
      </p:sp>
      <p:sp>
        <p:nvSpPr>
          <p:cNvPr id="3" name="Text 1"/>
          <p:cNvSpPr/>
          <p:nvPr/>
        </p:nvSpPr>
        <p:spPr>
          <a:xfrm>
            <a:off x="457200" y="164592"/>
            <a:ext cx="8229600" cy="457200"/>
          </a:xfrm>
          <a:prstGeom prst="rect">
            <a:avLst/>
          </a:prstGeom>
          <a:noFill/>
          <a:ln/>
        </p:spPr>
        <p:txBody>
          <a:bodyPr wrap="square" lIns="0" tIns="0" rIns="0" bIns="0" rtlCol="0" anchor="ctr"/>
          <a:lstStyle/>
          <a:p>
            <a:pPr indent="0" marL="0">
              <a:buNone/>
            </a:pPr>
            <a:r>
              <a:rPr lang="en-US" sz="2000" b="1" spc="200" kern="0" dirty="0">
                <a:solidFill>
                  <a:srgbClr val="FFFFFF"/>
                </a:solidFill>
                <a:latin typeface="Calibri" pitchFamily="34" charset="0"/>
                <a:ea typeface="Calibri" pitchFamily="34" charset="-122"/>
                <a:cs typeface="Calibri" pitchFamily="34" charset="-120"/>
              </a:rPr>
              <a:t>PROBLÉMATIQUE</a:t>
            </a:r>
            <a:endParaRPr lang="en-US" sz="20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100" i="1" dirty="0">
                <a:solidFill>
                  <a:srgbClr val="2EC4F3"/>
                </a:solidFill>
                <a:latin typeface="Calibri" pitchFamily="34" charset="0"/>
                <a:ea typeface="Calibri" pitchFamily="34" charset="-122"/>
                <a:cs typeface="Calibri" pitchFamily="34" charset="-120"/>
              </a:rPr>
              <a:t>Les limites des systèmes de tickets classiques</a:t>
            </a:r>
            <a:endParaRPr lang="en-US" sz="1100" dirty="0"/>
          </a:p>
        </p:txBody>
      </p:sp>
      <p:sp>
        <p:nvSpPr>
          <p:cNvPr id="5" name="Shape 3"/>
          <p:cNvSpPr/>
          <p:nvPr/>
        </p:nvSpPr>
        <p:spPr>
          <a:xfrm>
            <a:off x="320040" y="1005840"/>
            <a:ext cx="4160520" cy="1737360"/>
          </a:xfrm>
          <a:prstGeom prst="rect">
            <a:avLst/>
          </a:prstGeom>
          <a:solidFill>
            <a:srgbClr val="0D1E40"/>
          </a:solidFill>
          <a:ln w="12700">
            <a:solidFill>
              <a:srgbClr val="1E3A6A"/>
            </a:solidFill>
            <a:prstDash val="solid"/>
          </a:ln>
        </p:spPr>
      </p:sp>
      <p:sp>
        <p:nvSpPr>
          <p:cNvPr id="6" name="Shape 4"/>
          <p:cNvSpPr/>
          <p:nvPr/>
        </p:nvSpPr>
        <p:spPr>
          <a:xfrm>
            <a:off x="320040" y="1005840"/>
            <a:ext cx="54864" cy="1737360"/>
          </a:xfrm>
          <a:prstGeom prst="rect">
            <a:avLst/>
          </a:prstGeom>
          <a:solidFill>
            <a:srgbClr val="2EC4F3"/>
          </a:solidFill>
          <a:ln w="12700">
            <a:solidFill>
              <a:srgbClr val="2EC4F3"/>
            </a:solidFill>
            <a:prstDash val="solid"/>
          </a:ln>
        </p:spPr>
      </p:sp>
      <p:sp>
        <p:nvSpPr>
          <p:cNvPr id="7" name="Text 5"/>
          <p:cNvSpPr/>
          <p:nvPr/>
        </p:nvSpPr>
        <p:spPr>
          <a:xfrm>
            <a:off x="457200" y="1097280"/>
            <a:ext cx="594360" cy="457200"/>
          </a:xfrm>
          <a:prstGeom prst="rect">
            <a:avLst/>
          </a:prstGeom>
          <a:noFill/>
          <a:ln/>
        </p:spPr>
        <p:txBody>
          <a:bodyPr wrap="square" lIns="0" tIns="0" rIns="0" bIns="0" rtlCol="0" anchor="ctr"/>
          <a:lstStyle/>
          <a:p>
            <a:pPr indent="0" marL="0">
              <a:buNone/>
            </a:pPr>
            <a:r>
              <a:rPr lang="en-US" sz="2200" b="1" dirty="0">
                <a:solidFill>
                  <a:srgbClr val="2EC4F3"/>
                </a:solidFill>
                <a:latin typeface="Calibri" pitchFamily="34" charset="0"/>
                <a:ea typeface="Calibri" pitchFamily="34" charset="-122"/>
                <a:cs typeface="Calibri" pitchFamily="34" charset="-120"/>
              </a:rPr>
              <a:t>01</a:t>
            </a:r>
            <a:endParaRPr lang="en-US" sz="2200" dirty="0"/>
          </a:p>
        </p:txBody>
      </p:sp>
      <p:sp>
        <p:nvSpPr>
          <p:cNvPr id="8" name="Text 6"/>
          <p:cNvSpPr/>
          <p:nvPr/>
        </p:nvSpPr>
        <p:spPr>
          <a:xfrm>
            <a:off x="1069848" y="1115568"/>
            <a:ext cx="324612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Traitement manuel</a:t>
            </a:r>
            <a:endParaRPr lang="en-US" sz="1200" dirty="0"/>
          </a:p>
        </p:txBody>
      </p:sp>
      <p:sp>
        <p:nvSpPr>
          <p:cNvPr id="9" name="Text 7"/>
          <p:cNvSpPr/>
          <p:nvPr/>
        </p:nvSpPr>
        <p:spPr>
          <a:xfrm>
            <a:off x="457200" y="1536192"/>
            <a:ext cx="3886200" cy="1115568"/>
          </a:xfrm>
          <a:prstGeom prst="rect">
            <a:avLst/>
          </a:prstGeom>
          <a:noFill/>
          <a:ln/>
        </p:spPr>
        <p:txBody>
          <a:bodyPr wrap="square" lIns="0" tIns="0" rIns="0" bIns="0" rtlCol="0" anchor="t"/>
          <a:lstStyle/>
          <a:p>
            <a:pPr indent="0" marL="0">
              <a:buNone/>
            </a:pPr>
            <a:r>
              <a:rPr lang="en-US" sz="950" dirty="0">
                <a:solidFill>
                  <a:srgbClr val="A0BFD8"/>
                </a:solidFill>
                <a:latin typeface="Calibri" pitchFamily="34" charset="0"/>
                <a:ea typeface="Calibri" pitchFamily="34" charset="-122"/>
                <a:cs typeface="Calibri" pitchFamily="34" charset="-120"/>
              </a:rPr>
              <a:t>La saisie, la classification et le routage des tickets sont réalisés manuellement par les agents, ce qui entraîne des erreurs d'attribution, des doublons et une perte de temps considérable sur des tâches à faible valeur ajoutée.</a:t>
            </a:r>
            <a:endParaRPr lang="en-US" sz="950" dirty="0"/>
          </a:p>
        </p:txBody>
      </p:sp>
      <p:sp>
        <p:nvSpPr>
          <p:cNvPr id="10" name="Shape 8"/>
          <p:cNvSpPr/>
          <p:nvPr/>
        </p:nvSpPr>
        <p:spPr>
          <a:xfrm>
            <a:off x="4754880" y="1005840"/>
            <a:ext cx="4160520" cy="1737360"/>
          </a:xfrm>
          <a:prstGeom prst="rect">
            <a:avLst/>
          </a:prstGeom>
          <a:solidFill>
            <a:srgbClr val="0D1E40"/>
          </a:solidFill>
          <a:ln w="12700">
            <a:solidFill>
              <a:srgbClr val="1E3A6A"/>
            </a:solidFill>
            <a:prstDash val="solid"/>
          </a:ln>
        </p:spPr>
      </p:sp>
      <p:sp>
        <p:nvSpPr>
          <p:cNvPr id="11" name="Shape 9"/>
          <p:cNvSpPr/>
          <p:nvPr/>
        </p:nvSpPr>
        <p:spPr>
          <a:xfrm>
            <a:off x="4754880" y="1005840"/>
            <a:ext cx="54864" cy="1737360"/>
          </a:xfrm>
          <a:prstGeom prst="rect">
            <a:avLst/>
          </a:prstGeom>
          <a:solidFill>
            <a:srgbClr val="2EC4F3"/>
          </a:solidFill>
          <a:ln w="12700">
            <a:solidFill>
              <a:srgbClr val="2EC4F3"/>
            </a:solidFill>
            <a:prstDash val="solid"/>
          </a:ln>
        </p:spPr>
      </p:sp>
      <p:sp>
        <p:nvSpPr>
          <p:cNvPr id="12" name="Text 10"/>
          <p:cNvSpPr/>
          <p:nvPr/>
        </p:nvSpPr>
        <p:spPr>
          <a:xfrm>
            <a:off x="4892040" y="1097280"/>
            <a:ext cx="594360" cy="457200"/>
          </a:xfrm>
          <a:prstGeom prst="rect">
            <a:avLst/>
          </a:prstGeom>
          <a:noFill/>
          <a:ln/>
        </p:spPr>
        <p:txBody>
          <a:bodyPr wrap="square" lIns="0" tIns="0" rIns="0" bIns="0" rtlCol="0" anchor="ctr"/>
          <a:lstStyle/>
          <a:p>
            <a:pPr indent="0" marL="0">
              <a:buNone/>
            </a:pPr>
            <a:r>
              <a:rPr lang="en-US" sz="2200" b="1" dirty="0">
                <a:solidFill>
                  <a:srgbClr val="2EC4F3"/>
                </a:solidFill>
                <a:latin typeface="Calibri" pitchFamily="34" charset="0"/>
                <a:ea typeface="Calibri" pitchFamily="34" charset="-122"/>
                <a:cs typeface="Calibri" pitchFamily="34" charset="-120"/>
              </a:rPr>
              <a:t>02</a:t>
            </a:r>
            <a:endParaRPr lang="en-US" sz="2200" dirty="0"/>
          </a:p>
        </p:txBody>
      </p:sp>
      <p:sp>
        <p:nvSpPr>
          <p:cNvPr id="13" name="Text 11"/>
          <p:cNvSpPr/>
          <p:nvPr/>
        </p:nvSpPr>
        <p:spPr>
          <a:xfrm>
            <a:off x="5504688" y="1115568"/>
            <a:ext cx="324612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Temps de réponse élevé</a:t>
            </a:r>
            <a:endParaRPr lang="en-US" sz="1200" dirty="0"/>
          </a:p>
        </p:txBody>
      </p:sp>
      <p:sp>
        <p:nvSpPr>
          <p:cNvPr id="14" name="Text 12"/>
          <p:cNvSpPr/>
          <p:nvPr/>
        </p:nvSpPr>
        <p:spPr>
          <a:xfrm>
            <a:off x="4892040" y="1536192"/>
            <a:ext cx="3886200" cy="1115568"/>
          </a:xfrm>
          <a:prstGeom prst="rect">
            <a:avLst/>
          </a:prstGeom>
          <a:noFill/>
          <a:ln/>
        </p:spPr>
        <p:txBody>
          <a:bodyPr wrap="square" lIns="0" tIns="0" rIns="0" bIns="0" rtlCol="0" anchor="t"/>
          <a:lstStyle/>
          <a:p>
            <a:pPr indent="0" marL="0">
              <a:buNone/>
            </a:pPr>
            <a:r>
              <a:rPr lang="en-US" sz="950" dirty="0">
                <a:solidFill>
                  <a:srgbClr val="A0BFD8"/>
                </a:solidFill>
                <a:latin typeface="Calibri" pitchFamily="34" charset="0"/>
                <a:ea typeface="Calibri" pitchFamily="34" charset="-122"/>
                <a:cs typeface="Calibri" pitchFamily="34" charset="-120"/>
              </a:rPr>
              <a:t>L'absence d'automatisation et de priorisation intelligente provoque des délais de traitement excessifs, impactant directement la satisfaction des utilisateurs internes et externes de GEISER.</a:t>
            </a:r>
            <a:endParaRPr lang="en-US" sz="950" dirty="0"/>
          </a:p>
        </p:txBody>
      </p:sp>
      <p:sp>
        <p:nvSpPr>
          <p:cNvPr id="15" name="Shape 13"/>
          <p:cNvSpPr/>
          <p:nvPr/>
        </p:nvSpPr>
        <p:spPr>
          <a:xfrm>
            <a:off x="320040" y="2926080"/>
            <a:ext cx="4160520" cy="1737360"/>
          </a:xfrm>
          <a:prstGeom prst="rect">
            <a:avLst/>
          </a:prstGeom>
          <a:solidFill>
            <a:srgbClr val="0D1E40"/>
          </a:solidFill>
          <a:ln w="12700">
            <a:solidFill>
              <a:srgbClr val="1E3A6A"/>
            </a:solidFill>
            <a:prstDash val="solid"/>
          </a:ln>
        </p:spPr>
      </p:sp>
      <p:sp>
        <p:nvSpPr>
          <p:cNvPr id="16" name="Shape 14"/>
          <p:cNvSpPr/>
          <p:nvPr/>
        </p:nvSpPr>
        <p:spPr>
          <a:xfrm>
            <a:off x="320040" y="2926080"/>
            <a:ext cx="54864" cy="1737360"/>
          </a:xfrm>
          <a:prstGeom prst="rect">
            <a:avLst/>
          </a:prstGeom>
          <a:solidFill>
            <a:srgbClr val="2EC4F3"/>
          </a:solidFill>
          <a:ln w="12700">
            <a:solidFill>
              <a:srgbClr val="2EC4F3"/>
            </a:solidFill>
            <a:prstDash val="solid"/>
          </a:ln>
        </p:spPr>
      </p:sp>
      <p:sp>
        <p:nvSpPr>
          <p:cNvPr id="17" name="Text 15"/>
          <p:cNvSpPr/>
          <p:nvPr/>
        </p:nvSpPr>
        <p:spPr>
          <a:xfrm>
            <a:off x="457200" y="3017520"/>
            <a:ext cx="594360" cy="457200"/>
          </a:xfrm>
          <a:prstGeom prst="rect">
            <a:avLst/>
          </a:prstGeom>
          <a:noFill/>
          <a:ln/>
        </p:spPr>
        <p:txBody>
          <a:bodyPr wrap="square" lIns="0" tIns="0" rIns="0" bIns="0" rtlCol="0" anchor="ctr"/>
          <a:lstStyle/>
          <a:p>
            <a:pPr indent="0" marL="0">
              <a:buNone/>
            </a:pPr>
            <a:r>
              <a:rPr lang="en-US" sz="2200" b="1" dirty="0">
                <a:solidFill>
                  <a:srgbClr val="2EC4F3"/>
                </a:solidFill>
                <a:latin typeface="Calibri" pitchFamily="34" charset="0"/>
                <a:ea typeface="Calibri" pitchFamily="34" charset="-122"/>
                <a:cs typeface="Calibri" pitchFamily="34" charset="-120"/>
              </a:rPr>
              <a:t>03</a:t>
            </a:r>
            <a:endParaRPr lang="en-US" sz="2200" dirty="0"/>
          </a:p>
        </p:txBody>
      </p:sp>
      <p:sp>
        <p:nvSpPr>
          <p:cNvPr id="18" name="Text 16"/>
          <p:cNvSpPr/>
          <p:nvPr/>
        </p:nvSpPr>
        <p:spPr>
          <a:xfrm>
            <a:off x="1069848" y="3035808"/>
            <a:ext cx="324612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Surcharge des agents</a:t>
            </a:r>
            <a:endParaRPr lang="en-US" sz="1200" dirty="0"/>
          </a:p>
        </p:txBody>
      </p:sp>
      <p:sp>
        <p:nvSpPr>
          <p:cNvPr id="19" name="Text 17"/>
          <p:cNvSpPr/>
          <p:nvPr/>
        </p:nvSpPr>
        <p:spPr>
          <a:xfrm>
            <a:off x="457200" y="3456432"/>
            <a:ext cx="3886200" cy="1115568"/>
          </a:xfrm>
          <a:prstGeom prst="rect">
            <a:avLst/>
          </a:prstGeom>
          <a:noFill/>
          <a:ln/>
        </p:spPr>
        <p:txBody>
          <a:bodyPr wrap="square" lIns="0" tIns="0" rIns="0" bIns="0" rtlCol="0" anchor="t"/>
          <a:lstStyle/>
          <a:p>
            <a:pPr indent="0" marL="0">
              <a:buNone/>
            </a:pPr>
            <a:r>
              <a:rPr lang="en-US" sz="950" dirty="0">
                <a:solidFill>
                  <a:srgbClr val="A0BFD8"/>
                </a:solidFill>
                <a:latin typeface="Calibri" pitchFamily="34" charset="0"/>
                <a:ea typeface="Calibri" pitchFamily="34" charset="-122"/>
                <a:cs typeface="Calibri" pitchFamily="34" charset="-120"/>
              </a:rPr>
              <a:t>Les équipes IT croulent sous des volumes croissants de tickets répétitifs et triviaux (réinitialisation de mot de passe, accès bloqués…), laissant peu de temps pour les incidents critiques nécessitant une expertise réelle.</a:t>
            </a:r>
            <a:endParaRPr lang="en-US" sz="950" dirty="0"/>
          </a:p>
        </p:txBody>
      </p:sp>
      <p:sp>
        <p:nvSpPr>
          <p:cNvPr id="20" name="Shape 18"/>
          <p:cNvSpPr/>
          <p:nvPr/>
        </p:nvSpPr>
        <p:spPr>
          <a:xfrm>
            <a:off x="4754880" y="2926080"/>
            <a:ext cx="4160520" cy="1737360"/>
          </a:xfrm>
          <a:prstGeom prst="rect">
            <a:avLst/>
          </a:prstGeom>
          <a:solidFill>
            <a:srgbClr val="0D1E40"/>
          </a:solidFill>
          <a:ln w="12700">
            <a:solidFill>
              <a:srgbClr val="1E3A6A"/>
            </a:solidFill>
            <a:prstDash val="solid"/>
          </a:ln>
        </p:spPr>
      </p:sp>
      <p:sp>
        <p:nvSpPr>
          <p:cNvPr id="21" name="Shape 19"/>
          <p:cNvSpPr/>
          <p:nvPr/>
        </p:nvSpPr>
        <p:spPr>
          <a:xfrm>
            <a:off x="4754880" y="2926080"/>
            <a:ext cx="54864" cy="1737360"/>
          </a:xfrm>
          <a:prstGeom prst="rect">
            <a:avLst/>
          </a:prstGeom>
          <a:solidFill>
            <a:srgbClr val="2EC4F3"/>
          </a:solidFill>
          <a:ln w="12700">
            <a:solidFill>
              <a:srgbClr val="2EC4F3"/>
            </a:solidFill>
            <a:prstDash val="solid"/>
          </a:ln>
        </p:spPr>
      </p:sp>
      <p:sp>
        <p:nvSpPr>
          <p:cNvPr id="22" name="Text 20"/>
          <p:cNvSpPr/>
          <p:nvPr/>
        </p:nvSpPr>
        <p:spPr>
          <a:xfrm>
            <a:off x="4892040" y="3017520"/>
            <a:ext cx="594360" cy="457200"/>
          </a:xfrm>
          <a:prstGeom prst="rect">
            <a:avLst/>
          </a:prstGeom>
          <a:noFill/>
          <a:ln/>
        </p:spPr>
        <p:txBody>
          <a:bodyPr wrap="square" lIns="0" tIns="0" rIns="0" bIns="0" rtlCol="0" anchor="ctr"/>
          <a:lstStyle/>
          <a:p>
            <a:pPr indent="0" marL="0">
              <a:buNone/>
            </a:pPr>
            <a:r>
              <a:rPr lang="en-US" sz="2200" b="1" dirty="0">
                <a:solidFill>
                  <a:srgbClr val="2EC4F3"/>
                </a:solidFill>
                <a:latin typeface="Calibri" pitchFamily="34" charset="0"/>
                <a:ea typeface="Calibri" pitchFamily="34" charset="-122"/>
                <a:cs typeface="Calibri" pitchFamily="34" charset="-120"/>
              </a:rPr>
              <a:t>04</a:t>
            </a:r>
            <a:endParaRPr lang="en-US" sz="2200" dirty="0"/>
          </a:p>
        </p:txBody>
      </p:sp>
      <p:sp>
        <p:nvSpPr>
          <p:cNvPr id="23" name="Text 21"/>
          <p:cNvSpPr/>
          <p:nvPr/>
        </p:nvSpPr>
        <p:spPr>
          <a:xfrm>
            <a:off x="5504688" y="3035808"/>
            <a:ext cx="324612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Absence de reporting</a:t>
            </a:r>
            <a:endParaRPr lang="en-US" sz="1200" dirty="0"/>
          </a:p>
        </p:txBody>
      </p:sp>
      <p:sp>
        <p:nvSpPr>
          <p:cNvPr id="24" name="Text 22"/>
          <p:cNvSpPr/>
          <p:nvPr/>
        </p:nvSpPr>
        <p:spPr>
          <a:xfrm>
            <a:off x="4892040" y="3456432"/>
            <a:ext cx="3886200" cy="1115568"/>
          </a:xfrm>
          <a:prstGeom prst="rect">
            <a:avLst/>
          </a:prstGeom>
          <a:noFill/>
          <a:ln/>
        </p:spPr>
        <p:txBody>
          <a:bodyPr wrap="square" lIns="0" tIns="0" rIns="0" bIns="0" rtlCol="0" anchor="t"/>
          <a:lstStyle/>
          <a:p>
            <a:pPr indent="0" marL="0">
              <a:buNone/>
            </a:pPr>
            <a:r>
              <a:rPr lang="en-US" sz="950" dirty="0">
                <a:solidFill>
                  <a:srgbClr val="A0BFD8"/>
                </a:solidFill>
                <a:latin typeface="Calibri" pitchFamily="34" charset="0"/>
                <a:ea typeface="Calibri" pitchFamily="34" charset="-122"/>
                <a:cs typeface="Calibri" pitchFamily="34" charset="-120"/>
              </a:rPr>
              <a:t>Les systèmes classiques offrent peu de visibilité sur les indicateurs clés (SLA, performance par agent, tickets récurrents), rendant difficile la prise de décision stratégique pour le management IT.</a:t>
            </a:r>
            <a:endParaRPr lang="en-US" sz="950" dirty="0"/>
          </a:p>
        </p:txBody>
      </p:sp>
      <p:sp>
        <p:nvSpPr>
          <p:cNvPr id="25" name="Text 23"/>
          <p:cNvSpPr/>
          <p:nvPr/>
        </p:nvSpPr>
        <p:spPr>
          <a:xfrm>
            <a:off x="320040" y="4828032"/>
            <a:ext cx="8503920" cy="274320"/>
          </a:xfrm>
          <a:prstGeom prst="rect">
            <a:avLst/>
          </a:prstGeom>
          <a:noFill/>
          <a:ln/>
        </p:spPr>
        <p:txBody>
          <a:bodyPr wrap="square" lIns="0" tIns="0" rIns="0" bIns="0" rtlCol="0" anchor="ctr"/>
          <a:lstStyle/>
          <a:p>
            <a:pPr indent="0" marL="0">
              <a:buNone/>
            </a:pPr>
            <a:r>
              <a:rPr lang="en-US" sz="900" i="1" dirty="0">
                <a:solidFill>
                  <a:srgbClr val="2EC4F3"/>
                </a:solidFill>
                <a:latin typeface="Calibri" pitchFamily="34" charset="0"/>
                <a:ea typeface="Calibri" pitchFamily="34" charset="-122"/>
                <a:cs typeface="Calibri" pitchFamily="34" charset="-120"/>
              </a:rPr>
              <a:t>⚠  Ces problèmes engendrent une baisse de productivité, un non-respect des SLA et une expérience utilisateur dégradée, justifiant pleinement la mise en place d'une solution Helpdesk intelligente.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ÉTUDE ET CRITIQUE DE L'EXISTANT</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Analyse comparative des solutions du marché</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8503920" cy="914400"/>
        </p:xfrm>
        <a:graphic>
          <a:graphicData uri="http://schemas.openxmlformats.org/drawingml/2006/table">
            <a:tbl>
              <a:tblPr/>
              <a:tblGrid>
                <a:gridCol w="1554480"/>
                <a:gridCol w="2103120"/>
                <a:gridCol w="2103120"/>
                <a:gridCol w="2103120"/>
              </a:tblGrid>
              <a:tr h="4754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Solution</a:t>
                      </a:r>
                      <a:endParaRPr lang="en-US" sz="100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1A3A8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Points forts</a:t>
                      </a:r>
                      <a:endParaRPr lang="en-US" sz="100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1A3A8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Limites</a:t>
                      </a:r>
                      <a:endParaRPr lang="en-US" sz="100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1A3A8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IA avancée ?</a:t>
                      </a:r>
                      <a:endParaRPr lang="en-US" sz="100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1A3A8F"/>
                    </a:solidFill>
                  </a:tcPr>
                </a:tc>
              </a:tr>
              <a:tr h="475488">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ServiceNow</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Très complet, ITSM mature, puissant reporting</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Coût très élevé, complexité d'implémentation, personnalisation limitée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Partielle (module séparé payant)</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r>
              <a:tr h="475488">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Jira Service Desk</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Intégration Atlassian, workflows configurables</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Interface peu intuitive pour les non-techs, IA basique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Faible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r>
              <a:tr h="475488">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Zendesk</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Ergonomie soignée, multicanal, chatbot intégré</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Prix élevé à l'échelle, IA générique peu personnalisable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Modérée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r>
              <a:tr h="475488">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Freshdesk</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Tarif accessible, multi-tenant, API ouverte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IA superficielle, manque d'adaptabilité métier spécifique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Faible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r>
            </a:tbl>
          </a:graphicData>
        </a:graphic>
      </p:graphicFrame>
      <p:sp>
        <p:nvSpPr>
          <p:cNvPr id="6" name="Shape 3"/>
          <p:cNvSpPr/>
          <p:nvPr/>
        </p:nvSpPr>
        <p:spPr>
          <a:xfrm>
            <a:off x="320040" y="3611880"/>
            <a:ext cx="8503920" cy="1325880"/>
          </a:xfrm>
          <a:prstGeom prst="rect">
            <a:avLst/>
          </a:prstGeom>
          <a:solidFill>
            <a:srgbClr val="FEF3C7"/>
          </a:solidFill>
          <a:ln w="12700">
            <a:solidFill>
              <a:srgbClr val="F59E0B"/>
            </a:solidFill>
            <a:prstDash val="solid"/>
          </a:ln>
        </p:spPr>
      </p:sp>
      <p:sp>
        <p:nvSpPr>
          <p:cNvPr id="7" name="Text 4"/>
          <p:cNvSpPr/>
          <p:nvPr/>
        </p:nvSpPr>
        <p:spPr>
          <a:xfrm>
            <a:off x="502920" y="3703320"/>
            <a:ext cx="3657600" cy="32004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  Analyse Critique</a:t>
            </a:r>
            <a:endParaRPr lang="en-US" sz="1100" dirty="0"/>
          </a:p>
        </p:txBody>
      </p:sp>
      <p:sp>
        <p:nvSpPr>
          <p:cNvPr id="8" name="Text 5"/>
          <p:cNvSpPr/>
          <p:nvPr/>
        </p:nvSpPr>
        <p:spPr>
          <a:xfrm>
            <a:off x="502920" y="4041648"/>
            <a:ext cx="8229600" cy="841248"/>
          </a:xfrm>
          <a:prstGeom prst="rect">
            <a:avLst/>
          </a:prstGeom>
          <a:noFill/>
          <a:ln/>
        </p:spPr>
        <p:txBody>
          <a:bodyPr wrap="square" rtlCol="0" anchor="t"/>
          <a:lstStyle/>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Coût prohibitif : les solutions leaders (ServiceNow, Zendesk) représentent un investissement financier inaccessible pour les structures de taille intermédiaire comme GEISER.</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IA superficielle : les modules IA proposés restent génériques et non entraînés sur les données métier spécifiques de l'entreprise.</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Faible personnalisation : l'adaptation aux processus internes, aux workflows GEISER et aux normes ISO 27001 requiert des développements coûteux.</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3163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w="12700">
            <a:solidFill>
              <a:srgbClr val="10B981"/>
            </a:solidFill>
            <a:prstDash val="solid"/>
          </a:ln>
        </p:spPr>
      </p:sp>
      <p:sp>
        <p:nvSpPr>
          <p:cNvPr id="3" name="Text 1"/>
          <p:cNvSpPr/>
          <p:nvPr/>
        </p:nvSpPr>
        <p:spPr>
          <a:xfrm>
            <a:off x="457200" y="164592"/>
            <a:ext cx="8229600" cy="457200"/>
          </a:xfrm>
          <a:prstGeom prst="rect">
            <a:avLst/>
          </a:prstGeom>
          <a:noFill/>
          <a:ln/>
        </p:spPr>
        <p:txBody>
          <a:bodyPr wrap="square" lIns="0" tIns="0" rIns="0" bIns="0" rtlCol="0" anchor="ctr"/>
          <a:lstStyle/>
          <a:p>
            <a:pPr indent="0" marL="0">
              <a:buNone/>
            </a:pPr>
            <a:r>
              <a:rPr lang="en-US" sz="2000" b="1" spc="200" kern="0" dirty="0">
                <a:solidFill>
                  <a:srgbClr val="FFFFFF"/>
                </a:solidFill>
                <a:latin typeface="Calibri" pitchFamily="34" charset="0"/>
                <a:ea typeface="Calibri" pitchFamily="34" charset="-122"/>
                <a:cs typeface="Calibri" pitchFamily="34" charset="-120"/>
              </a:rPr>
              <a:t>SOLUTION PROPOSÉE</a:t>
            </a:r>
            <a:endParaRPr lang="en-US" sz="20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100" i="1" dirty="0">
                <a:solidFill>
                  <a:srgbClr val="10B981"/>
                </a:solidFill>
                <a:latin typeface="Calibri" pitchFamily="34" charset="0"/>
                <a:ea typeface="Calibri" pitchFamily="34" charset="-122"/>
                <a:cs typeface="Calibri" pitchFamily="34" charset="-120"/>
              </a:rPr>
              <a:t>Plateforme Helpdesk IA – sur mesure pour GEISER</a:t>
            </a:r>
            <a:endParaRPr lang="en-US" sz="1100" dirty="0"/>
          </a:p>
        </p:txBody>
      </p:sp>
      <p:sp>
        <p:nvSpPr>
          <p:cNvPr id="5" name="Shape 3"/>
          <p:cNvSpPr/>
          <p:nvPr/>
        </p:nvSpPr>
        <p:spPr>
          <a:xfrm>
            <a:off x="274320" y="1005840"/>
            <a:ext cx="2743200" cy="1828800"/>
          </a:xfrm>
          <a:prstGeom prst="rect">
            <a:avLst/>
          </a:prstGeom>
          <a:solidFill>
            <a:srgbClr val="0A1E3A"/>
          </a:solidFill>
          <a:ln w="12700">
            <a:solidFill>
              <a:srgbClr val="1A6B4A"/>
            </a:solidFill>
            <a:prstDash val="solid"/>
          </a:ln>
        </p:spPr>
      </p:sp>
      <p:sp>
        <p:nvSpPr>
          <p:cNvPr id="6" name="Shape 4"/>
          <p:cNvSpPr/>
          <p:nvPr/>
        </p:nvSpPr>
        <p:spPr>
          <a:xfrm>
            <a:off x="274320" y="1005840"/>
            <a:ext cx="2743200" cy="54864"/>
          </a:xfrm>
          <a:prstGeom prst="rect">
            <a:avLst/>
          </a:prstGeom>
          <a:solidFill>
            <a:srgbClr val="1A6B4A"/>
          </a:solidFill>
          <a:ln w="12700">
            <a:solidFill>
              <a:srgbClr val="1A6B4A"/>
            </a:solidFill>
            <a:prstDash val="solid"/>
          </a:ln>
        </p:spPr>
      </p:sp>
      <p:sp>
        <p:nvSpPr>
          <p:cNvPr id="7" name="Text 5"/>
          <p:cNvSpPr/>
          <p:nvPr/>
        </p:nvSpPr>
        <p:spPr>
          <a:xfrm>
            <a:off x="274320" y="1115568"/>
            <a:ext cx="274320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365760" y="1572768"/>
            <a:ext cx="25603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Réception Multi-Canal</a:t>
            </a:r>
            <a:endParaRPr lang="en-US" sz="1050" dirty="0"/>
          </a:p>
        </p:txBody>
      </p:sp>
      <p:sp>
        <p:nvSpPr>
          <p:cNvPr id="9" name="Text 7"/>
          <p:cNvSpPr/>
          <p:nvPr/>
        </p:nvSpPr>
        <p:spPr>
          <a:xfrm>
            <a:off x="365760" y="1965960"/>
            <a:ext cx="2560320" cy="777240"/>
          </a:xfrm>
          <a:prstGeom prst="rect">
            <a:avLst/>
          </a:prstGeom>
          <a:noFill/>
          <a:ln/>
        </p:spPr>
        <p:txBody>
          <a:bodyPr wrap="square" lIns="0" tIns="0" rIns="0" bIns="0" rtlCol="0" anchor="t"/>
          <a:lstStyle/>
          <a:p>
            <a:pPr algn="ctr" indent="0" marL="0">
              <a:buNone/>
            </a:pPr>
            <a:r>
              <a:rPr lang="en-US" sz="850" dirty="0">
                <a:solidFill>
                  <a:srgbClr val="90B4CC"/>
                </a:solidFill>
                <a:latin typeface="Calibri" pitchFamily="34" charset="0"/>
                <a:ea typeface="Calibri" pitchFamily="34" charset="-122"/>
                <a:cs typeface="Calibri" pitchFamily="34" charset="-120"/>
              </a:rPr>
              <a:t>Centralisation des demandes via portail web, email et chat en un seul flux unifié avec création automatique de tickets structurés.</a:t>
            </a:r>
            <a:endParaRPr lang="en-US" sz="850" dirty="0"/>
          </a:p>
        </p:txBody>
      </p:sp>
      <p:sp>
        <p:nvSpPr>
          <p:cNvPr id="10" name="Shape 8"/>
          <p:cNvSpPr/>
          <p:nvPr/>
        </p:nvSpPr>
        <p:spPr>
          <a:xfrm>
            <a:off x="3200400" y="1005840"/>
            <a:ext cx="2743200" cy="1828800"/>
          </a:xfrm>
          <a:prstGeom prst="rect">
            <a:avLst/>
          </a:prstGeom>
          <a:solidFill>
            <a:srgbClr val="0A1E3A"/>
          </a:solidFill>
          <a:ln w="12700">
            <a:solidFill>
              <a:srgbClr val="1A3A8F"/>
            </a:solidFill>
            <a:prstDash val="solid"/>
          </a:ln>
        </p:spPr>
      </p:sp>
      <p:sp>
        <p:nvSpPr>
          <p:cNvPr id="11" name="Shape 9"/>
          <p:cNvSpPr/>
          <p:nvPr/>
        </p:nvSpPr>
        <p:spPr>
          <a:xfrm>
            <a:off x="3200400" y="1005840"/>
            <a:ext cx="2743200" cy="54864"/>
          </a:xfrm>
          <a:prstGeom prst="rect">
            <a:avLst/>
          </a:prstGeom>
          <a:solidFill>
            <a:srgbClr val="1A3A8F"/>
          </a:solidFill>
          <a:ln w="12700">
            <a:solidFill>
              <a:srgbClr val="1A3A8F"/>
            </a:solidFill>
            <a:prstDash val="solid"/>
          </a:ln>
        </p:spPr>
      </p:sp>
      <p:sp>
        <p:nvSpPr>
          <p:cNvPr id="12" name="Text 10"/>
          <p:cNvSpPr/>
          <p:nvPr/>
        </p:nvSpPr>
        <p:spPr>
          <a:xfrm>
            <a:off x="3200400" y="1115568"/>
            <a:ext cx="274320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3291840" y="1572768"/>
            <a:ext cx="25603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Classification IA (NLP)</a:t>
            </a:r>
            <a:endParaRPr lang="en-US" sz="1050" dirty="0"/>
          </a:p>
        </p:txBody>
      </p:sp>
      <p:sp>
        <p:nvSpPr>
          <p:cNvPr id="14" name="Text 12"/>
          <p:cNvSpPr/>
          <p:nvPr/>
        </p:nvSpPr>
        <p:spPr>
          <a:xfrm>
            <a:off x="3291840" y="1965960"/>
            <a:ext cx="2560320" cy="777240"/>
          </a:xfrm>
          <a:prstGeom prst="rect">
            <a:avLst/>
          </a:prstGeom>
          <a:noFill/>
          <a:ln/>
        </p:spPr>
        <p:txBody>
          <a:bodyPr wrap="square" lIns="0" tIns="0" rIns="0" bIns="0" rtlCol="0" anchor="t"/>
          <a:lstStyle/>
          <a:p>
            <a:pPr algn="ctr" indent="0" marL="0">
              <a:buNone/>
            </a:pPr>
            <a:r>
              <a:rPr lang="en-US" sz="850" dirty="0">
                <a:solidFill>
                  <a:srgbClr val="90B4CC"/>
                </a:solidFill>
                <a:latin typeface="Calibri" pitchFamily="34" charset="0"/>
                <a:ea typeface="Calibri" pitchFamily="34" charset="-122"/>
                <a:cs typeface="Calibri" pitchFamily="34" charset="-120"/>
              </a:rPr>
              <a:t>Moteur NLP analysant le contenu des tickets pour les catégoriser automatiquement (réseau, matériel, logiciel…) et les prioriser selon impact et urgence.</a:t>
            </a:r>
            <a:endParaRPr lang="en-US" sz="850" dirty="0"/>
          </a:p>
        </p:txBody>
      </p:sp>
      <p:sp>
        <p:nvSpPr>
          <p:cNvPr id="15" name="Shape 13"/>
          <p:cNvSpPr/>
          <p:nvPr/>
        </p:nvSpPr>
        <p:spPr>
          <a:xfrm>
            <a:off x="6126480" y="1005840"/>
            <a:ext cx="2743200" cy="1828800"/>
          </a:xfrm>
          <a:prstGeom prst="rect">
            <a:avLst/>
          </a:prstGeom>
          <a:solidFill>
            <a:srgbClr val="0A1E3A"/>
          </a:solidFill>
          <a:ln w="12700">
            <a:solidFill>
              <a:srgbClr val="7C3AED"/>
            </a:solidFill>
            <a:prstDash val="solid"/>
          </a:ln>
        </p:spPr>
      </p:sp>
      <p:sp>
        <p:nvSpPr>
          <p:cNvPr id="16" name="Shape 14"/>
          <p:cNvSpPr/>
          <p:nvPr/>
        </p:nvSpPr>
        <p:spPr>
          <a:xfrm>
            <a:off x="6126480" y="1005840"/>
            <a:ext cx="2743200" cy="54864"/>
          </a:xfrm>
          <a:prstGeom prst="rect">
            <a:avLst/>
          </a:prstGeom>
          <a:solidFill>
            <a:srgbClr val="7C3AED"/>
          </a:solidFill>
          <a:ln w="12700">
            <a:solidFill>
              <a:srgbClr val="7C3AED"/>
            </a:solidFill>
            <a:prstDash val="solid"/>
          </a:ln>
        </p:spPr>
      </p:sp>
      <p:sp>
        <p:nvSpPr>
          <p:cNvPr id="17" name="Text 15"/>
          <p:cNvSpPr/>
          <p:nvPr/>
        </p:nvSpPr>
        <p:spPr>
          <a:xfrm>
            <a:off x="6126480" y="1115568"/>
            <a:ext cx="274320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6"/>
          <p:cNvSpPr/>
          <p:nvPr/>
        </p:nvSpPr>
        <p:spPr>
          <a:xfrm>
            <a:off x="6217920" y="1572768"/>
            <a:ext cx="25603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Routage Intelligent</a:t>
            </a:r>
            <a:endParaRPr lang="en-US" sz="1050" dirty="0"/>
          </a:p>
        </p:txBody>
      </p:sp>
      <p:sp>
        <p:nvSpPr>
          <p:cNvPr id="19" name="Text 17"/>
          <p:cNvSpPr/>
          <p:nvPr/>
        </p:nvSpPr>
        <p:spPr>
          <a:xfrm>
            <a:off x="6217920" y="1965960"/>
            <a:ext cx="2560320" cy="777240"/>
          </a:xfrm>
          <a:prstGeom prst="rect">
            <a:avLst/>
          </a:prstGeom>
          <a:noFill/>
          <a:ln/>
        </p:spPr>
        <p:txBody>
          <a:bodyPr wrap="square" lIns="0" tIns="0" rIns="0" bIns="0" rtlCol="0" anchor="t"/>
          <a:lstStyle/>
          <a:p>
            <a:pPr algn="ctr" indent="0" marL="0">
              <a:buNone/>
            </a:pPr>
            <a:r>
              <a:rPr lang="en-US" sz="850" dirty="0">
                <a:solidFill>
                  <a:srgbClr val="90B4CC"/>
                </a:solidFill>
                <a:latin typeface="Calibri" pitchFamily="34" charset="0"/>
                <a:ea typeface="Calibri" pitchFamily="34" charset="-122"/>
                <a:cs typeface="Calibri" pitchFamily="34" charset="-120"/>
              </a:rPr>
              <a:t>Attribution automatique des tickets à l'équipe ou l'agent le plus compétent, en tenant compte de la charge de travail, des SLA et de l'historique de routage.</a:t>
            </a:r>
            <a:endParaRPr lang="en-US" sz="850" dirty="0"/>
          </a:p>
        </p:txBody>
      </p:sp>
      <p:sp>
        <p:nvSpPr>
          <p:cNvPr id="20" name="Shape 18"/>
          <p:cNvSpPr/>
          <p:nvPr/>
        </p:nvSpPr>
        <p:spPr>
          <a:xfrm>
            <a:off x="274320" y="3017520"/>
            <a:ext cx="2743200" cy="1828800"/>
          </a:xfrm>
          <a:prstGeom prst="rect">
            <a:avLst/>
          </a:prstGeom>
          <a:solidFill>
            <a:srgbClr val="0A1E3A"/>
          </a:solidFill>
          <a:ln w="12700">
            <a:solidFill>
              <a:srgbClr val="B45309"/>
            </a:solidFill>
            <a:prstDash val="solid"/>
          </a:ln>
        </p:spPr>
      </p:sp>
      <p:sp>
        <p:nvSpPr>
          <p:cNvPr id="21" name="Shape 19"/>
          <p:cNvSpPr/>
          <p:nvPr/>
        </p:nvSpPr>
        <p:spPr>
          <a:xfrm>
            <a:off x="274320" y="3017520"/>
            <a:ext cx="2743200" cy="54864"/>
          </a:xfrm>
          <a:prstGeom prst="rect">
            <a:avLst/>
          </a:prstGeom>
          <a:solidFill>
            <a:srgbClr val="B45309"/>
          </a:solidFill>
          <a:ln w="12700">
            <a:solidFill>
              <a:srgbClr val="B45309"/>
            </a:solidFill>
            <a:prstDash val="solid"/>
          </a:ln>
        </p:spPr>
      </p:sp>
      <p:sp>
        <p:nvSpPr>
          <p:cNvPr id="22" name="Text 20"/>
          <p:cNvSpPr/>
          <p:nvPr/>
        </p:nvSpPr>
        <p:spPr>
          <a:xfrm>
            <a:off x="274320" y="3127248"/>
            <a:ext cx="274320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365760" y="3584448"/>
            <a:ext cx="25603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Chatbot IA 24/7</a:t>
            </a:r>
            <a:endParaRPr lang="en-US" sz="1050" dirty="0"/>
          </a:p>
        </p:txBody>
      </p:sp>
      <p:sp>
        <p:nvSpPr>
          <p:cNvPr id="24" name="Text 22"/>
          <p:cNvSpPr/>
          <p:nvPr/>
        </p:nvSpPr>
        <p:spPr>
          <a:xfrm>
            <a:off x="365760" y="3977640"/>
            <a:ext cx="2560320" cy="777240"/>
          </a:xfrm>
          <a:prstGeom prst="rect">
            <a:avLst/>
          </a:prstGeom>
          <a:noFill/>
          <a:ln/>
        </p:spPr>
        <p:txBody>
          <a:bodyPr wrap="square" lIns="0" tIns="0" rIns="0" bIns="0" rtlCol="0" anchor="t"/>
          <a:lstStyle/>
          <a:p>
            <a:pPr algn="ctr" indent="0" marL="0">
              <a:buNone/>
            </a:pPr>
            <a:r>
              <a:rPr lang="en-US" sz="850" dirty="0">
                <a:solidFill>
                  <a:srgbClr val="90B4CC"/>
                </a:solidFill>
                <a:latin typeface="Calibri" pitchFamily="34" charset="0"/>
                <a:ea typeface="Calibri" pitchFamily="34" charset="-122"/>
                <a:cs typeface="Calibri" pitchFamily="34" charset="-120"/>
              </a:rPr>
              <a:t>Assistant conversationnel en langage naturel, disponible en permanence pour répondre aux questions courantes et guider les utilisateurs vers une résolution autonome.</a:t>
            </a:r>
            <a:endParaRPr lang="en-US" sz="850" dirty="0"/>
          </a:p>
        </p:txBody>
      </p:sp>
      <p:sp>
        <p:nvSpPr>
          <p:cNvPr id="25" name="Shape 23"/>
          <p:cNvSpPr/>
          <p:nvPr/>
        </p:nvSpPr>
        <p:spPr>
          <a:xfrm>
            <a:off x="3200400" y="3017520"/>
            <a:ext cx="2743200" cy="1828800"/>
          </a:xfrm>
          <a:prstGeom prst="rect">
            <a:avLst/>
          </a:prstGeom>
          <a:solidFill>
            <a:srgbClr val="0A1E3A"/>
          </a:solidFill>
          <a:ln w="12700">
            <a:solidFill>
              <a:srgbClr val="0F766E"/>
            </a:solidFill>
            <a:prstDash val="solid"/>
          </a:ln>
        </p:spPr>
      </p:sp>
      <p:sp>
        <p:nvSpPr>
          <p:cNvPr id="26" name="Shape 24"/>
          <p:cNvSpPr/>
          <p:nvPr/>
        </p:nvSpPr>
        <p:spPr>
          <a:xfrm>
            <a:off x="3200400" y="3017520"/>
            <a:ext cx="2743200" cy="54864"/>
          </a:xfrm>
          <a:prstGeom prst="rect">
            <a:avLst/>
          </a:prstGeom>
          <a:solidFill>
            <a:srgbClr val="0F766E"/>
          </a:solidFill>
          <a:ln w="12700">
            <a:solidFill>
              <a:srgbClr val="0F766E"/>
            </a:solidFill>
            <a:prstDash val="solid"/>
          </a:ln>
        </p:spPr>
      </p:sp>
      <p:sp>
        <p:nvSpPr>
          <p:cNvPr id="27" name="Text 25"/>
          <p:cNvSpPr/>
          <p:nvPr/>
        </p:nvSpPr>
        <p:spPr>
          <a:xfrm>
            <a:off x="3200400" y="3127248"/>
            <a:ext cx="274320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6"/>
          <p:cNvSpPr/>
          <p:nvPr/>
        </p:nvSpPr>
        <p:spPr>
          <a:xfrm>
            <a:off x="3291840" y="3584448"/>
            <a:ext cx="25603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Reporting &amp; Dashboards</a:t>
            </a:r>
            <a:endParaRPr lang="en-US" sz="1050" dirty="0"/>
          </a:p>
        </p:txBody>
      </p:sp>
      <p:sp>
        <p:nvSpPr>
          <p:cNvPr id="29" name="Text 27"/>
          <p:cNvSpPr/>
          <p:nvPr/>
        </p:nvSpPr>
        <p:spPr>
          <a:xfrm>
            <a:off x="3291840" y="3977640"/>
            <a:ext cx="2560320" cy="777240"/>
          </a:xfrm>
          <a:prstGeom prst="rect">
            <a:avLst/>
          </a:prstGeom>
          <a:noFill/>
          <a:ln/>
        </p:spPr>
        <p:txBody>
          <a:bodyPr wrap="square" lIns="0" tIns="0" rIns="0" bIns="0" rtlCol="0" anchor="t"/>
          <a:lstStyle/>
          <a:p>
            <a:pPr algn="ctr" indent="0" marL="0">
              <a:buNone/>
            </a:pPr>
            <a:r>
              <a:rPr lang="en-US" sz="850" dirty="0">
                <a:solidFill>
                  <a:srgbClr val="90B4CC"/>
                </a:solidFill>
                <a:latin typeface="Calibri" pitchFamily="34" charset="0"/>
                <a:ea typeface="Calibri" pitchFamily="34" charset="-122"/>
                <a:cs typeface="Calibri" pitchFamily="34" charset="-120"/>
              </a:rPr>
              <a:t>Tableaux de bord interactifs offrant une vision en temps réel des KPIs : volumes de tickets, performance agents, taux de respect des SLA, tendances.</a:t>
            </a:r>
            <a:endParaRPr lang="en-US" sz="850" dirty="0"/>
          </a:p>
        </p:txBody>
      </p:sp>
      <p:sp>
        <p:nvSpPr>
          <p:cNvPr id="30" name="Shape 28"/>
          <p:cNvSpPr/>
          <p:nvPr/>
        </p:nvSpPr>
        <p:spPr>
          <a:xfrm>
            <a:off x="6126480" y="3017520"/>
            <a:ext cx="2743200" cy="1828800"/>
          </a:xfrm>
          <a:prstGeom prst="rect">
            <a:avLst/>
          </a:prstGeom>
          <a:solidFill>
            <a:srgbClr val="0A1E3A"/>
          </a:solidFill>
          <a:ln w="12700">
            <a:solidFill>
              <a:srgbClr val="991B1B"/>
            </a:solidFill>
            <a:prstDash val="solid"/>
          </a:ln>
        </p:spPr>
      </p:sp>
      <p:sp>
        <p:nvSpPr>
          <p:cNvPr id="31" name="Shape 29"/>
          <p:cNvSpPr/>
          <p:nvPr/>
        </p:nvSpPr>
        <p:spPr>
          <a:xfrm>
            <a:off x="6126480" y="3017520"/>
            <a:ext cx="2743200" cy="54864"/>
          </a:xfrm>
          <a:prstGeom prst="rect">
            <a:avLst/>
          </a:prstGeom>
          <a:solidFill>
            <a:srgbClr val="991B1B"/>
          </a:solidFill>
          <a:ln w="12700">
            <a:solidFill>
              <a:srgbClr val="991B1B"/>
            </a:solidFill>
            <a:prstDash val="solid"/>
          </a:ln>
        </p:spPr>
      </p:sp>
      <p:sp>
        <p:nvSpPr>
          <p:cNvPr id="32" name="Text 30"/>
          <p:cNvSpPr/>
          <p:nvPr/>
        </p:nvSpPr>
        <p:spPr>
          <a:xfrm>
            <a:off x="6126480" y="3127248"/>
            <a:ext cx="274320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3" name="Text 31"/>
          <p:cNvSpPr/>
          <p:nvPr/>
        </p:nvSpPr>
        <p:spPr>
          <a:xfrm>
            <a:off x="6217920" y="3584448"/>
            <a:ext cx="25603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Sécurité ISO 27001</a:t>
            </a:r>
            <a:endParaRPr lang="en-US" sz="1050" dirty="0"/>
          </a:p>
        </p:txBody>
      </p:sp>
      <p:sp>
        <p:nvSpPr>
          <p:cNvPr id="34" name="Text 32"/>
          <p:cNvSpPr/>
          <p:nvPr/>
        </p:nvSpPr>
        <p:spPr>
          <a:xfrm>
            <a:off x="6217920" y="3977640"/>
            <a:ext cx="2560320" cy="777240"/>
          </a:xfrm>
          <a:prstGeom prst="rect">
            <a:avLst/>
          </a:prstGeom>
          <a:noFill/>
          <a:ln/>
        </p:spPr>
        <p:txBody>
          <a:bodyPr wrap="square" lIns="0" tIns="0" rIns="0" bIns="0" rtlCol="0" anchor="t"/>
          <a:lstStyle/>
          <a:p>
            <a:pPr algn="ctr" indent="0" marL="0">
              <a:buNone/>
            </a:pPr>
            <a:r>
              <a:rPr lang="en-US" sz="850" dirty="0">
                <a:solidFill>
                  <a:srgbClr val="90B4CC"/>
                </a:solidFill>
                <a:latin typeface="Calibri" pitchFamily="34" charset="0"/>
                <a:ea typeface="Calibri" pitchFamily="34" charset="-122"/>
                <a:cs typeface="Calibri" pitchFamily="34" charset="-120"/>
              </a:rPr>
              <a:t>Authentification JWT/OAuth2, gestion des rôles RBAC, chiffrement des données, journaux d'audit conformes aux exigences de la certification ISO/IEC 27001 de GEISER.</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OBJECTIFS DU PROJET</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Ambitions fonctionnelles, techniques et organisationnelles</a:t>
            </a:r>
            <a:endParaRPr lang="en-US" sz="1100" dirty="0"/>
          </a:p>
        </p:txBody>
      </p:sp>
      <p:sp>
        <p:nvSpPr>
          <p:cNvPr id="5" name="Shape 3"/>
          <p:cNvSpPr/>
          <p:nvPr/>
        </p:nvSpPr>
        <p:spPr>
          <a:xfrm>
            <a:off x="320040" y="987552"/>
            <a:ext cx="548640" cy="685800"/>
          </a:xfrm>
          <a:prstGeom prst="rect">
            <a:avLst/>
          </a:prstGeom>
          <a:solidFill>
            <a:srgbClr val="1A3A8F"/>
          </a:solidFill>
          <a:ln w="12700">
            <a:solidFill>
              <a:srgbClr val="1A3A8F"/>
            </a:solidFill>
            <a:prstDash val="solid"/>
          </a:ln>
        </p:spPr>
      </p:sp>
      <p:sp>
        <p:nvSpPr>
          <p:cNvPr id="6" name="Text 4"/>
          <p:cNvSpPr/>
          <p:nvPr/>
        </p:nvSpPr>
        <p:spPr>
          <a:xfrm>
            <a:off x="320040" y="1078992"/>
            <a:ext cx="54864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7" name="Shape 5"/>
          <p:cNvSpPr/>
          <p:nvPr/>
        </p:nvSpPr>
        <p:spPr>
          <a:xfrm>
            <a:off x="914400" y="987552"/>
            <a:ext cx="5669280" cy="685800"/>
          </a:xfrm>
          <a:prstGeom prst="rect">
            <a:avLst/>
          </a:prstGeom>
          <a:solidFill>
            <a:srgbClr val="F1F5FB"/>
          </a:solidFill>
          <a:ln w="6350">
            <a:solidFill>
              <a:srgbClr val="D1DCF0"/>
            </a:solidFill>
            <a:prstDash val="solid"/>
          </a:ln>
        </p:spPr>
      </p:sp>
      <p:sp>
        <p:nvSpPr>
          <p:cNvPr id="8" name="Text 6"/>
          <p:cNvSpPr/>
          <p:nvPr/>
        </p:nvSpPr>
        <p:spPr>
          <a:xfrm>
            <a:off x="1051560" y="1042416"/>
            <a:ext cx="3657600" cy="274320"/>
          </a:xfrm>
          <a:prstGeom prst="rect">
            <a:avLst/>
          </a:prstGeom>
          <a:noFill/>
          <a:ln/>
        </p:spPr>
        <p:txBody>
          <a:bodyPr wrap="square" lIns="0" tIns="0" rIns="0" bIns="0" rtlCol="0" anchor="ctr"/>
          <a:lstStyle/>
          <a:p>
            <a:pPr indent="0" marL="0">
              <a:buNone/>
            </a:pPr>
            <a:r>
              <a:rPr lang="en-US" sz="1100" b="1" dirty="0">
                <a:solidFill>
                  <a:srgbClr val="1A3A8F"/>
                </a:solidFill>
                <a:latin typeface="Calibri" pitchFamily="34" charset="0"/>
                <a:ea typeface="Calibri" pitchFamily="34" charset="-122"/>
                <a:cs typeface="Calibri" pitchFamily="34" charset="-120"/>
              </a:rPr>
              <a:t>Réduire le temps de traitement</a:t>
            </a:r>
            <a:endParaRPr lang="en-US" sz="1100" dirty="0"/>
          </a:p>
        </p:txBody>
      </p:sp>
      <p:sp>
        <p:nvSpPr>
          <p:cNvPr id="9" name="Text 7"/>
          <p:cNvSpPr/>
          <p:nvPr/>
        </p:nvSpPr>
        <p:spPr>
          <a:xfrm>
            <a:off x="1051560" y="1325880"/>
            <a:ext cx="54864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Automatiser les tâches répétitives de classification et d'attribution pour réduire le délai moyen de traitement des tickets de 60 % grâce à l'IA.</a:t>
            </a:r>
            <a:endParaRPr lang="en-US" sz="900" dirty="0"/>
          </a:p>
        </p:txBody>
      </p:sp>
      <p:sp>
        <p:nvSpPr>
          <p:cNvPr id="10" name="Shape 8"/>
          <p:cNvSpPr/>
          <p:nvPr/>
        </p:nvSpPr>
        <p:spPr>
          <a:xfrm>
            <a:off x="6629400" y="987552"/>
            <a:ext cx="1920240" cy="685800"/>
          </a:xfrm>
          <a:prstGeom prst="rect">
            <a:avLst/>
          </a:prstGeom>
          <a:solidFill>
            <a:srgbClr val="1A3A8F"/>
          </a:solidFill>
          <a:ln w="12700">
            <a:solidFill>
              <a:srgbClr val="1A3A8F"/>
            </a:solidFill>
            <a:prstDash val="solid"/>
          </a:ln>
        </p:spPr>
      </p:sp>
      <p:sp>
        <p:nvSpPr>
          <p:cNvPr id="11" name="Text 9"/>
          <p:cNvSpPr/>
          <p:nvPr/>
        </p:nvSpPr>
        <p:spPr>
          <a:xfrm>
            <a:off x="6629400" y="1170432"/>
            <a:ext cx="1920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Cible : –60% du TTR</a:t>
            </a:r>
            <a:endParaRPr lang="en-US" sz="900" dirty="0"/>
          </a:p>
        </p:txBody>
      </p:sp>
      <p:sp>
        <p:nvSpPr>
          <p:cNvPr id="12" name="Shape 10"/>
          <p:cNvSpPr/>
          <p:nvPr/>
        </p:nvSpPr>
        <p:spPr>
          <a:xfrm>
            <a:off x="320040" y="1792224"/>
            <a:ext cx="548640" cy="685800"/>
          </a:xfrm>
          <a:prstGeom prst="rect">
            <a:avLst/>
          </a:prstGeom>
          <a:solidFill>
            <a:srgbClr val="10B981"/>
          </a:solidFill>
          <a:ln w="12700">
            <a:solidFill>
              <a:srgbClr val="10B981"/>
            </a:solidFill>
            <a:prstDash val="solid"/>
          </a:ln>
        </p:spPr>
      </p:sp>
      <p:sp>
        <p:nvSpPr>
          <p:cNvPr id="13" name="Text 11"/>
          <p:cNvSpPr/>
          <p:nvPr/>
        </p:nvSpPr>
        <p:spPr>
          <a:xfrm>
            <a:off x="320040" y="1883664"/>
            <a:ext cx="54864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Shape 12"/>
          <p:cNvSpPr/>
          <p:nvPr/>
        </p:nvSpPr>
        <p:spPr>
          <a:xfrm>
            <a:off x="914400" y="1792224"/>
            <a:ext cx="5669280" cy="685800"/>
          </a:xfrm>
          <a:prstGeom prst="rect">
            <a:avLst/>
          </a:prstGeom>
          <a:solidFill>
            <a:srgbClr val="F1F5FB"/>
          </a:solidFill>
          <a:ln w="6350">
            <a:solidFill>
              <a:srgbClr val="D1DCF0"/>
            </a:solidFill>
            <a:prstDash val="solid"/>
          </a:ln>
        </p:spPr>
      </p:sp>
      <p:sp>
        <p:nvSpPr>
          <p:cNvPr id="15" name="Text 13"/>
          <p:cNvSpPr/>
          <p:nvPr/>
        </p:nvSpPr>
        <p:spPr>
          <a:xfrm>
            <a:off x="1051560" y="1847088"/>
            <a:ext cx="365760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Améliorer la productivité</a:t>
            </a:r>
            <a:endParaRPr lang="en-US" sz="1100" dirty="0"/>
          </a:p>
        </p:txBody>
      </p:sp>
      <p:sp>
        <p:nvSpPr>
          <p:cNvPr id="16" name="Text 14"/>
          <p:cNvSpPr/>
          <p:nvPr/>
        </p:nvSpPr>
        <p:spPr>
          <a:xfrm>
            <a:off x="1051560" y="2130552"/>
            <a:ext cx="54864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Libérer les agents des tâches à faible valeur ajoutée afin qu'ils se concentrent sur les incidents complexes et les actions stratégiques.</a:t>
            </a:r>
            <a:endParaRPr lang="en-US" sz="900" dirty="0"/>
          </a:p>
        </p:txBody>
      </p:sp>
      <p:sp>
        <p:nvSpPr>
          <p:cNvPr id="17" name="Shape 15"/>
          <p:cNvSpPr/>
          <p:nvPr/>
        </p:nvSpPr>
        <p:spPr>
          <a:xfrm>
            <a:off x="6629400" y="1792224"/>
            <a:ext cx="1920240" cy="685800"/>
          </a:xfrm>
          <a:prstGeom prst="rect">
            <a:avLst/>
          </a:prstGeom>
          <a:solidFill>
            <a:srgbClr val="10B981"/>
          </a:solidFill>
          <a:ln w="12700">
            <a:solidFill>
              <a:srgbClr val="10B981"/>
            </a:solidFill>
            <a:prstDash val="solid"/>
          </a:ln>
        </p:spPr>
      </p:sp>
      <p:sp>
        <p:nvSpPr>
          <p:cNvPr id="18" name="Text 16"/>
          <p:cNvSpPr/>
          <p:nvPr/>
        </p:nvSpPr>
        <p:spPr>
          <a:xfrm>
            <a:off x="6629400" y="1975104"/>
            <a:ext cx="1920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Cible : +40% productivité</a:t>
            </a:r>
            <a:endParaRPr lang="en-US" sz="900" dirty="0"/>
          </a:p>
        </p:txBody>
      </p:sp>
      <p:sp>
        <p:nvSpPr>
          <p:cNvPr id="19" name="Shape 17"/>
          <p:cNvSpPr/>
          <p:nvPr/>
        </p:nvSpPr>
        <p:spPr>
          <a:xfrm>
            <a:off x="320040" y="2596896"/>
            <a:ext cx="548640" cy="685800"/>
          </a:xfrm>
          <a:prstGeom prst="rect">
            <a:avLst/>
          </a:prstGeom>
          <a:solidFill>
            <a:srgbClr val="F59E0B"/>
          </a:solidFill>
          <a:ln w="12700">
            <a:solidFill>
              <a:srgbClr val="F59E0B"/>
            </a:solidFill>
            <a:prstDash val="solid"/>
          </a:ln>
        </p:spPr>
      </p:sp>
      <p:sp>
        <p:nvSpPr>
          <p:cNvPr id="20" name="Text 18"/>
          <p:cNvSpPr/>
          <p:nvPr/>
        </p:nvSpPr>
        <p:spPr>
          <a:xfrm>
            <a:off x="320040" y="2688336"/>
            <a:ext cx="54864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1" name="Shape 19"/>
          <p:cNvSpPr/>
          <p:nvPr/>
        </p:nvSpPr>
        <p:spPr>
          <a:xfrm>
            <a:off x="914400" y="2596896"/>
            <a:ext cx="5669280" cy="685800"/>
          </a:xfrm>
          <a:prstGeom prst="rect">
            <a:avLst/>
          </a:prstGeom>
          <a:solidFill>
            <a:srgbClr val="F1F5FB"/>
          </a:solidFill>
          <a:ln w="6350">
            <a:solidFill>
              <a:srgbClr val="D1DCF0"/>
            </a:solidFill>
            <a:prstDash val="solid"/>
          </a:ln>
        </p:spPr>
      </p:sp>
      <p:sp>
        <p:nvSpPr>
          <p:cNvPr id="22" name="Text 20"/>
          <p:cNvSpPr/>
          <p:nvPr/>
        </p:nvSpPr>
        <p:spPr>
          <a:xfrm>
            <a:off x="1051560" y="2651760"/>
            <a:ext cx="36576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Automatisation intelligente</a:t>
            </a:r>
            <a:endParaRPr lang="en-US" sz="1100" dirty="0"/>
          </a:p>
        </p:txBody>
      </p:sp>
      <p:sp>
        <p:nvSpPr>
          <p:cNvPr id="23" name="Text 21"/>
          <p:cNvSpPr/>
          <p:nvPr/>
        </p:nvSpPr>
        <p:spPr>
          <a:xfrm>
            <a:off x="1051560" y="2935224"/>
            <a:ext cx="54864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Déployer des modules IA (NLP, chatbot, routage) capables d'apprendre et de s'améliorer en continu à partir de l'historique des tickets GEISER.</a:t>
            </a:r>
            <a:endParaRPr lang="en-US" sz="900" dirty="0"/>
          </a:p>
        </p:txBody>
      </p:sp>
      <p:sp>
        <p:nvSpPr>
          <p:cNvPr id="24" name="Shape 22"/>
          <p:cNvSpPr/>
          <p:nvPr/>
        </p:nvSpPr>
        <p:spPr>
          <a:xfrm>
            <a:off x="6629400" y="2596896"/>
            <a:ext cx="1920240" cy="685800"/>
          </a:xfrm>
          <a:prstGeom prst="rect">
            <a:avLst/>
          </a:prstGeom>
          <a:solidFill>
            <a:srgbClr val="F59E0B"/>
          </a:solidFill>
          <a:ln w="12700">
            <a:solidFill>
              <a:srgbClr val="F59E0B"/>
            </a:solidFill>
            <a:prstDash val="solid"/>
          </a:ln>
        </p:spPr>
      </p:sp>
      <p:sp>
        <p:nvSpPr>
          <p:cNvPr id="25" name="Text 23"/>
          <p:cNvSpPr/>
          <p:nvPr/>
        </p:nvSpPr>
        <p:spPr>
          <a:xfrm>
            <a:off x="6629400" y="2779776"/>
            <a:ext cx="1920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Auto-résolution : 30%</a:t>
            </a:r>
            <a:endParaRPr lang="en-US" sz="900" dirty="0"/>
          </a:p>
        </p:txBody>
      </p:sp>
      <p:sp>
        <p:nvSpPr>
          <p:cNvPr id="26" name="Shape 24"/>
          <p:cNvSpPr/>
          <p:nvPr/>
        </p:nvSpPr>
        <p:spPr>
          <a:xfrm>
            <a:off x="320040" y="3401568"/>
            <a:ext cx="548640" cy="685800"/>
          </a:xfrm>
          <a:prstGeom prst="rect">
            <a:avLst/>
          </a:prstGeom>
          <a:solidFill>
            <a:srgbClr val="7C3AED"/>
          </a:solidFill>
          <a:ln w="12700">
            <a:solidFill>
              <a:srgbClr val="7C3AED"/>
            </a:solidFill>
            <a:prstDash val="solid"/>
          </a:ln>
        </p:spPr>
      </p:sp>
      <p:sp>
        <p:nvSpPr>
          <p:cNvPr id="27" name="Text 25"/>
          <p:cNvSpPr/>
          <p:nvPr/>
        </p:nvSpPr>
        <p:spPr>
          <a:xfrm>
            <a:off x="320040" y="3493008"/>
            <a:ext cx="54864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Shape 26"/>
          <p:cNvSpPr/>
          <p:nvPr/>
        </p:nvSpPr>
        <p:spPr>
          <a:xfrm>
            <a:off x="914400" y="3401568"/>
            <a:ext cx="5669280" cy="685800"/>
          </a:xfrm>
          <a:prstGeom prst="rect">
            <a:avLst/>
          </a:prstGeom>
          <a:solidFill>
            <a:srgbClr val="F1F5FB"/>
          </a:solidFill>
          <a:ln w="6350">
            <a:solidFill>
              <a:srgbClr val="D1DCF0"/>
            </a:solidFill>
            <a:prstDash val="solid"/>
          </a:ln>
        </p:spPr>
      </p:sp>
      <p:sp>
        <p:nvSpPr>
          <p:cNvPr id="29" name="Text 27"/>
          <p:cNvSpPr/>
          <p:nvPr/>
        </p:nvSpPr>
        <p:spPr>
          <a:xfrm>
            <a:off x="1051560" y="3456432"/>
            <a:ext cx="3657600" cy="274320"/>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Respecter les SLA</a:t>
            </a:r>
            <a:endParaRPr lang="en-US" sz="1100" dirty="0"/>
          </a:p>
        </p:txBody>
      </p:sp>
      <p:sp>
        <p:nvSpPr>
          <p:cNvPr id="30" name="Text 28"/>
          <p:cNvSpPr/>
          <p:nvPr/>
        </p:nvSpPr>
        <p:spPr>
          <a:xfrm>
            <a:off x="1051560" y="3739896"/>
            <a:ext cx="54864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Garantir le respect des accords de niveau de service grâce à la priorisation automatique et aux alertes préventives avant dépassement.</a:t>
            </a:r>
            <a:endParaRPr lang="en-US" sz="900" dirty="0"/>
          </a:p>
        </p:txBody>
      </p:sp>
      <p:sp>
        <p:nvSpPr>
          <p:cNvPr id="31" name="Shape 29"/>
          <p:cNvSpPr/>
          <p:nvPr/>
        </p:nvSpPr>
        <p:spPr>
          <a:xfrm>
            <a:off x="6629400" y="3401568"/>
            <a:ext cx="1920240" cy="685800"/>
          </a:xfrm>
          <a:prstGeom prst="rect">
            <a:avLst/>
          </a:prstGeom>
          <a:solidFill>
            <a:srgbClr val="7C3AED"/>
          </a:solidFill>
          <a:ln w="12700">
            <a:solidFill>
              <a:srgbClr val="7C3AED"/>
            </a:solidFill>
            <a:prstDash val="solid"/>
          </a:ln>
        </p:spPr>
      </p:sp>
      <p:sp>
        <p:nvSpPr>
          <p:cNvPr id="32" name="Text 30"/>
          <p:cNvSpPr/>
          <p:nvPr/>
        </p:nvSpPr>
        <p:spPr>
          <a:xfrm>
            <a:off x="6629400" y="3584448"/>
            <a:ext cx="1920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SLA respecté : &gt;95%</a:t>
            </a:r>
            <a:endParaRPr lang="en-US" sz="900" dirty="0"/>
          </a:p>
        </p:txBody>
      </p:sp>
      <p:sp>
        <p:nvSpPr>
          <p:cNvPr id="33" name="Shape 31"/>
          <p:cNvSpPr/>
          <p:nvPr/>
        </p:nvSpPr>
        <p:spPr>
          <a:xfrm>
            <a:off x="320040" y="4206240"/>
            <a:ext cx="548640" cy="685800"/>
          </a:xfrm>
          <a:prstGeom prst="rect">
            <a:avLst/>
          </a:prstGeom>
          <a:solidFill>
            <a:srgbClr val="2EC4F3"/>
          </a:solidFill>
          <a:ln w="12700">
            <a:solidFill>
              <a:srgbClr val="2EC4F3"/>
            </a:solidFill>
            <a:prstDash val="solid"/>
          </a:ln>
        </p:spPr>
      </p:sp>
      <p:sp>
        <p:nvSpPr>
          <p:cNvPr id="34" name="Text 32"/>
          <p:cNvSpPr/>
          <p:nvPr/>
        </p:nvSpPr>
        <p:spPr>
          <a:xfrm>
            <a:off x="320040" y="4297680"/>
            <a:ext cx="54864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5" name="Shape 33"/>
          <p:cNvSpPr/>
          <p:nvPr/>
        </p:nvSpPr>
        <p:spPr>
          <a:xfrm>
            <a:off x="914400" y="4206240"/>
            <a:ext cx="5669280" cy="685800"/>
          </a:xfrm>
          <a:prstGeom prst="rect">
            <a:avLst/>
          </a:prstGeom>
          <a:solidFill>
            <a:srgbClr val="F1F5FB"/>
          </a:solidFill>
          <a:ln w="6350">
            <a:solidFill>
              <a:srgbClr val="D1DCF0"/>
            </a:solidFill>
            <a:prstDash val="solid"/>
          </a:ln>
        </p:spPr>
      </p:sp>
      <p:sp>
        <p:nvSpPr>
          <p:cNvPr id="36" name="Text 34"/>
          <p:cNvSpPr/>
          <p:nvPr/>
        </p:nvSpPr>
        <p:spPr>
          <a:xfrm>
            <a:off x="1051560" y="4261104"/>
            <a:ext cx="3657600" cy="274320"/>
          </a:xfrm>
          <a:prstGeom prst="rect">
            <a:avLst/>
          </a:prstGeom>
          <a:noFill/>
          <a:ln/>
        </p:spPr>
        <p:txBody>
          <a:bodyPr wrap="square" lIns="0" tIns="0" rIns="0" bIns="0" rtlCol="0" anchor="ctr"/>
          <a:lstStyle/>
          <a:p>
            <a:pPr indent="0" marL="0">
              <a:buNone/>
            </a:pPr>
            <a:r>
              <a:rPr lang="en-US" sz="1100" b="1" dirty="0">
                <a:solidFill>
                  <a:srgbClr val="2EC4F3"/>
                </a:solidFill>
                <a:latin typeface="Calibri" pitchFamily="34" charset="0"/>
                <a:ea typeface="Calibri" pitchFamily="34" charset="-122"/>
                <a:cs typeface="Calibri" pitchFamily="34" charset="-120"/>
              </a:rPr>
              <a:t>Améliorer l'UX utilisateur</a:t>
            </a:r>
            <a:endParaRPr lang="en-US" sz="1100" dirty="0"/>
          </a:p>
        </p:txBody>
      </p:sp>
      <p:sp>
        <p:nvSpPr>
          <p:cNvPr id="37" name="Text 35"/>
          <p:cNvSpPr/>
          <p:nvPr/>
        </p:nvSpPr>
        <p:spPr>
          <a:xfrm>
            <a:off x="1051560" y="4544568"/>
            <a:ext cx="54864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Offrir une expérience utilisateur fluide, intuitive et multicanale (web, email, chat, mobile) avec des notifications en temps réel sur l'avancement des tickets.</a:t>
            </a:r>
            <a:endParaRPr lang="en-US" sz="900" dirty="0"/>
          </a:p>
        </p:txBody>
      </p:sp>
      <p:sp>
        <p:nvSpPr>
          <p:cNvPr id="38" name="Shape 36"/>
          <p:cNvSpPr/>
          <p:nvPr/>
        </p:nvSpPr>
        <p:spPr>
          <a:xfrm>
            <a:off x="6629400" y="4206240"/>
            <a:ext cx="1920240" cy="685800"/>
          </a:xfrm>
          <a:prstGeom prst="rect">
            <a:avLst/>
          </a:prstGeom>
          <a:solidFill>
            <a:srgbClr val="2EC4F3"/>
          </a:solidFill>
          <a:ln w="12700">
            <a:solidFill>
              <a:srgbClr val="2EC4F3"/>
            </a:solidFill>
            <a:prstDash val="solid"/>
          </a:ln>
        </p:spPr>
      </p:sp>
      <p:sp>
        <p:nvSpPr>
          <p:cNvPr id="39" name="Text 37"/>
          <p:cNvSpPr/>
          <p:nvPr/>
        </p:nvSpPr>
        <p:spPr>
          <a:xfrm>
            <a:off x="6629400" y="4389120"/>
            <a:ext cx="1920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Satisfaction : &gt;90%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BESOINS FONCTIONNELS</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Spécifications fonctionnelles de la plateforme Helpdesk IA</a:t>
            </a:r>
            <a:endParaRPr lang="en-US" sz="1100" dirty="0"/>
          </a:p>
        </p:txBody>
      </p:sp>
      <p:sp>
        <p:nvSpPr>
          <p:cNvPr id="5" name="Shape 3"/>
          <p:cNvSpPr/>
          <p:nvPr/>
        </p:nvSpPr>
        <p:spPr>
          <a:xfrm>
            <a:off x="274320" y="987552"/>
            <a:ext cx="2788920" cy="3977640"/>
          </a:xfrm>
          <a:prstGeom prst="rect">
            <a:avLst/>
          </a:prstGeom>
          <a:solidFill>
            <a:srgbClr val="F1F5FB"/>
          </a:solidFill>
          <a:ln w="6350">
            <a:solidFill>
              <a:srgbClr val="D1DC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987552"/>
            <a:ext cx="2788920" cy="640080"/>
          </a:xfrm>
          <a:prstGeom prst="rect">
            <a:avLst/>
          </a:prstGeom>
          <a:solidFill>
            <a:srgbClr val="1A3A8F"/>
          </a:solidFill>
          <a:ln w="12700">
            <a:solidFill>
              <a:srgbClr val="1A3A8F"/>
            </a:solidFill>
            <a:prstDash val="solid"/>
          </a:ln>
        </p:spPr>
      </p:sp>
      <p:sp>
        <p:nvSpPr>
          <p:cNvPr id="7" name="Text 5"/>
          <p:cNvSpPr/>
          <p:nvPr/>
        </p:nvSpPr>
        <p:spPr>
          <a:xfrm>
            <a:off x="384048" y="1024128"/>
            <a:ext cx="2578608" cy="53035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Gestion des tickets</a:t>
            </a:r>
            <a:endParaRPr lang="en-US" sz="1050" dirty="0"/>
          </a:p>
        </p:txBody>
      </p:sp>
      <p:sp>
        <p:nvSpPr>
          <p:cNvPr id="8" name="Text 6"/>
          <p:cNvSpPr/>
          <p:nvPr/>
        </p:nvSpPr>
        <p:spPr>
          <a:xfrm>
            <a:off x="384048" y="1719072"/>
            <a:ext cx="2578608" cy="3154680"/>
          </a:xfrm>
          <a:prstGeom prst="rect">
            <a:avLst/>
          </a:prstGeom>
          <a:noFill/>
          <a:ln/>
        </p:spPr>
        <p:txBody>
          <a:bodyPr wrap="square" rtlCol="0" anchor="t"/>
          <a:lstStyle/>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Création via portail web, email et chat en ligne</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Formulaire structuré : sujet, catégorie, priorité, pièces jointes</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Suivi en temps réel (ouvert / en cours / résolu)</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Historique complet et piste d'audit</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Notifications automatiques (email / SMS)</a:t>
            </a:r>
            <a:endParaRPr lang="en-US" sz="950" dirty="0"/>
          </a:p>
        </p:txBody>
      </p:sp>
      <p:sp>
        <p:nvSpPr>
          <p:cNvPr id="9" name="Shape 7"/>
          <p:cNvSpPr/>
          <p:nvPr/>
        </p:nvSpPr>
        <p:spPr>
          <a:xfrm>
            <a:off x="3200400" y="987552"/>
            <a:ext cx="2788920" cy="3977640"/>
          </a:xfrm>
          <a:prstGeom prst="rect">
            <a:avLst/>
          </a:prstGeom>
          <a:solidFill>
            <a:srgbClr val="F1F5FB"/>
          </a:solidFill>
          <a:ln w="6350">
            <a:solidFill>
              <a:srgbClr val="D1DC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0" y="987552"/>
            <a:ext cx="2788920" cy="640080"/>
          </a:xfrm>
          <a:prstGeom prst="rect">
            <a:avLst/>
          </a:prstGeom>
          <a:solidFill>
            <a:srgbClr val="1A3A8F"/>
          </a:solidFill>
          <a:ln w="12700">
            <a:solidFill>
              <a:srgbClr val="1A3A8F"/>
            </a:solidFill>
            <a:prstDash val="solid"/>
          </a:ln>
        </p:spPr>
      </p:sp>
      <p:sp>
        <p:nvSpPr>
          <p:cNvPr id="11" name="Text 9"/>
          <p:cNvSpPr/>
          <p:nvPr/>
        </p:nvSpPr>
        <p:spPr>
          <a:xfrm>
            <a:off x="3310128" y="1024128"/>
            <a:ext cx="2578608" cy="53035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Intelligence Artificielle</a:t>
            </a:r>
            <a:endParaRPr lang="en-US" sz="1050" dirty="0"/>
          </a:p>
        </p:txBody>
      </p:sp>
      <p:sp>
        <p:nvSpPr>
          <p:cNvPr id="12" name="Text 10"/>
          <p:cNvSpPr/>
          <p:nvPr/>
        </p:nvSpPr>
        <p:spPr>
          <a:xfrm>
            <a:off x="3310128" y="1719072"/>
            <a:ext cx="2578608" cy="3154680"/>
          </a:xfrm>
          <a:prstGeom prst="rect">
            <a:avLst/>
          </a:prstGeom>
          <a:noFill/>
          <a:ln/>
        </p:spPr>
        <p:txBody>
          <a:bodyPr wrap="square" rtlCol="0" anchor="t"/>
          <a:lstStyle/>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Classification NLP automatique des tickets entrants</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Priorisation selon impact et urgence détectés</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Routage intelligent vers l'agent/équipe compétent</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Chatbot 24/7 pour les demandes courantes</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Suggestions de résolution basées sur l'historique</a:t>
            </a:r>
            <a:endParaRPr lang="en-US" sz="950" dirty="0"/>
          </a:p>
        </p:txBody>
      </p:sp>
      <p:sp>
        <p:nvSpPr>
          <p:cNvPr id="13" name="Shape 11"/>
          <p:cNvSpPr/>
          <p:nvPr/>
        </p:nvSpPr>
        <p:spPr>
          <a:xfrm>
            <a:off x="6126480" y="987552"/>
            <a:ext cx="2788920" cy="3977640"/>
          </a:xfrm>
          <a:prstGeom prst="rect">
            <a:avLst/>
          </a:prstGeom>
          <a:solidFill>
            <a:srgbClr val="F1F5FB"/>
          </a:solidFill>
          <a:ln w="6350">
            <a:solidFill>
              <a:srgbClr val="D1DCF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6126480" y="987552"/>
            <a:ext cx="2788920" cy="640080"/>
          </a:xfrm>
          <a:prstGeom prst="rect">
            <a:avLst/>
          </a:prstGeom>
          <a:solidFill>
            <a:srgbClr val="1A3A8F"/>
          </a:solidFill>
          <a:ln w="12700">
            <a:solidFill>
              <a:srgbClr val="1A3A8F"/>
            </a:solidFill>
            <a:prstDash val="solid"/>
          </a:ln>
        </p:spPr>
      </p:sp>
      <p:sp>
        <p:nvSpPr>
          <p:cNvPr id="15" name="Text 13"/>
          <p:cNvSpPr/>
          <p:nvPr/>
        </p:nvSpPr>
        <p:spPr>
          <a:xfrm>
            <a:off x="6236208" y="1024128"/>
            <a:ext cx="2578608" cy="53035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SLA &amp; Reporting</a:t>
            </a:r>
            <a:endParaRPr lang="en-US" sz="1050" dirty="0"/>
          </a:p>
        </p:txBody>
      </p:sp>
      <p:sp>
        <p:nvSpPr>
          <p:cNvPr id="16" name="Text 14"/>
          <p:cNvSpPr/>
          <p:nvPr/>
        </p:nvSpPr>
        <p:spPr>
          <a:xfrm>
            <a:off x="6236208" y="1719072"/>
            <a:ext cx="2578608" cy="3154680"/>
          </a:xfrm>
          <a:prstGeom prst="rect">
            <a:avLst/>
          </a:prstGeom>
          <a:noFill/>
          <a:ln/>
        </p:spPr>
        <p:txBody>
          <a:bodyPr wrap="square" rtlCol="0" anchor="t"/>
          <a:lstStyle/>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Définition et suivi des accords de niveau de service</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Alertes préventives avant dépassement SLA</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Tableaux de bord manager avec KPIs en temps réel</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Rapports exportables (PDF, Excel) par agent / équipe</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Analyse prédictive et tendances des tickets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BESOINS NON FONCTIONNELS</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Contraintes qualité, performance, sécurité et conformité</a:t>
            </a:r>
            <a:endParaRPr lang="en-US" sz="1100" dirty="0"/>
          </a:p>
        </p:txBody>
      </p:sp>
      <p:sp>
        <p:nvSpPr>
          <p:cNvPr id="5" name="Shape 3"/>
          <p:cNvSpPr/>
          <p:nvPr/>
        </p:nvSpPr>
        <p:spPr>
          <a:xfrm>
            <a:off x="274320" y="987552"/>
            <a:ext cx="2788920" cy="187452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987552"/>
            <a:ext cx="54864" cy="1874520"/>
          </a:xfrm>
          <a:prstGeom prst="rect">
            <a:avLst/>
          </a:prstGeom>
          <a:solidFill>
            <a:srgbClr val="EF4444"/>
          </a:solidFill>
          <a:ln w="12700">
            <a:solidFill>
              <a:srgbClr val="EF4444"/>
            </a:solidFill>
            <a:prstDash val="solid"/>
          </a:ln>
        </p:spPr>
      </p:sp>
      <p:sp>
        <p:nvSpPr>
          <p:cNvPr id="7" name="Text 5"/>
          <p:cNvSpPr/>
          <p:nvPr/>
        </p:nvSpPr>
        <p:spPr>
          <a:xfrm>
            <a:off x="411480" y="1060704"/>
            <a:ext cx="2578608" cy="347472"/>
          </a:xfrm>
          <a:prstGeom prst="rect">
            <a:avLst/>
          </a:prstGeom>
          <a:noFill/>
          <a:ln/>
        </p:spPr>
        <p:txBody>
          <a:bodyPr wrap="square" lIns="0" tIns="0" rIns="0" bIns="0" rtlCol="0" anchor="ctr"/>
          <a:lstStyle/>
          <a:p>
            <a:pPr indent="0" marL="0">
              <a:buNone/>
            </a:pPr>
            <a:r>
              <a:rPr lang="en-US" sz="1050" b="1" dirty="0">
                <a:solidFill>
                  <a:srgbClr val="EF4444"/>
                </a:solidFill>
                <a:latin typeface="Calibri" pitchFamily="34" charset="0"/>
                <a:ea typeface="Calibri" pitchFamily="34" charset="-122"/>
                <a:cs typeface="Calibri" pitchFamily="34" charset="-120"/>
              </a:rPr>
              <a:t>🔒 Sécurité &amp; Conformité</a:t>
            </a:r>
            <a:endParaRPr lang="en-US" sz="1050" dirty="0"/>
          </a:p>
        </p:txBody>
      </p:sp>
      <p:sp>
        <p:nvSpPr>
          <p:cNvPr id="8" name="Text 6"/>
          <p:cNvSpPr/>
          <p:nvPr/>
        </p:nvSpPr>
        <p:spPr>
          <a:xfrm>
            <a:off x="411480" y="1444752"/>
            <a:ext cx="2606040" cy="1353312"/>
          </a:xfrm>
          <a:prstGeom prst="rect">
            <a:avLst/>
          </a:prstGeom>
          <a:noFill/>
          <a:ln/>
        </p:spPr>
        <p:txBody>
          <a:bodyPr wrap="square" rtlCol="0" anchor="t"/>
          <a:lstStyle/>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Authentification JWT / OAuth2 / MFA</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Gestion des rôles RBAC (4 profils)</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Chiffrement des données sensibles (AES-256)</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Journaux d'audit conformes ISO/IEC 27001</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Protection XSS, CSRF, injection SQL</a:t>
            </a:r>
            <a:endParaRPr lang="en-US" sz="850" dirty="0"/>
          </a:p>
        </p:txBody>
      </p:sp>
      <p:sp>
        <p:nvSpPr>
          <p:cNvPr id="9" name="Shape 7"/>
          <p:cNvSpPr/>
          <p:nvPr/>
        </p:nvSpPr>
        <p:spPr>
          <a:xfrm>
            <a:off x="3200400" y="987552"/>
            <a:ext cx="2788920" cy="187452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0" y="987552"/>
            <a:ext cx="54864" cy="1874520"/>
          </a:xfrm>
          <a:prstGeom prst="rect">
            <a:avLst/>
          </a:prstGeom>
          <a:solidFill>
            <a:srgbClr val="F59E0B"/>
          </a:solidFill>
          <a:ln w="12700">
            <a:solidFill>
              <a:srgbClr val="F59E0B"/>
            </a:solidFill>
            <a:prstDash val="solid"/>
          </a:ln>
        </p:spPr>
      </p:sp>
      <p:sp>
        <p:nvSpPr>
          <p:cNvPr id="11" name="Text 9"/>
          <p:cNvSpPr/>
          <p:nvPr/>
        </p:nvSpPr>
        <p:spPr>
          <a:xfrm>
            <a:off x="3337560" y="1060704"/>
            <a:ext cx="2578608" cy="347472"/>
          </a:xfrm>
          <a:prstGeom prst="rect">
            <a:avLst/>
          </a:prstGeom>
          <a:noFill/>
          <a:ln/>
        </p:spPr>
        <p:txBody>
          <a:bodyPr wrap="square" lIns="0" tIns="0" rIns="0" bIns="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 Performance</a:t>
            </a:r>
            <a:endParaRPr lang="en-US" sz="1050" dirty="0"/>
          </a:p>
        </p:txBody>
      </p:sp>
      <p:sp>
        <p:nvSpPr>
          <p:cNvPr id="12" name="Text 10"/>
          <p:cNvSpPr/>
          <p:nvPr/>
        </p:nvSpPr>
        <p:spPr>
          <a:xfrm>
            <a:off x="3337560" y="1444752"/>
            <a:ext cx="2606040" cy="1353312"/>
          </a:xfrm>
          <a:prstGeom prst="rect">
            <a:avLst/>
          </a:prstGeom>
          <a:noFill/>
          <a:ln/>
        </p:spPr>
        <p:txBody>
          <a:bodyPr wrap="square" rtlCol="0" anchor="t"/>
          <a:lstStyle/>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Temps de réponse &lt; 2 secondes (actions clés)</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Traitement IA &lt; 5 secondes par ticket</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Support de plusieurs centaines d'utilisateurs simultanés</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Requêtes BDD optimisées et indexées</a:t>
            </a:r>
            <a:endParaRPr lang="en-US" sz="850" dirty="0"/>
          </a:p>
        </p:txBody>
      </p:sp>
      <p:sp>
        <p:nvSpPr>
          <p:cNvPr id="13" name="Shape 11"/>
          <p:cNvSpPr/>
          <p:nvPr/>
        </p:nvSpPr>
        <p:spPr>
          <a:xfrm>
            <a:off x="6126480" y="987552"/>
            <a:ext cx="2788920" cy="187452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6126480" y="987552"/>
            <a:ext cx="54864" cy="1874520"/>
          </a:xfrm>
          <a:prstGeom prst="rect">
            <a:avLst/>
          </a:prstGeom>
          <a:solidFill>
            <a:srgbClr val="10B981"/>
          </a:solidFill>
          <a:ln w="12700">
            <a:solidFill>
              <a:srgbClr val="10B981"/>
            </a:solidFill>
            <a:prstDash val="solid"/>
          </a:ln>
        </p:spPr>
      </p:sp>
      <p:sp>
        <p:nvSpPr>
          <p:cNvPr id="15" name="Text 13"/>
          <p:cNvSpPr/>
          <p:nvPr/>
        </p:nvSpPr>
        <p:spPr>
          <a:xfrm>
            <a:off x="6263640" y="1060704"/>
            <a:ext cx="2578608" cy="347472"/>
          </a:xfrm>
          <a:prstGeom prst="rect">
            <a:avLst/>
          </a:prstGeom>
          <a:noFill/>
          <a:ln/>
        </p:spPr>
        <p:txBody>
          <a:bodyPr wrap="square" lIns="0" tIns="0" rIns="0" bIns="0" rtlCol="0" anchor="ctr"/>
          <a:lstStyle/>
          <a:p>
            <a:pPr indent="0" marL="0">
              <a:buNone/>
            </a:pPr>
            <a:r>
              <a:rPr lang="en-US" sz="1050" b="1" dirty="0">
                <a:solidFill>
                  <a:srgbClr val="10B981"/>
                </a:solidFill>
                <a:latin typeface="Calibri" pitchFamily="34" charset="0"/>
                <a:ea typeface="Calibri" pitchFamily="34" charset="-122"/>
                <a:cs typeface="Calibri" pitchFamily="34" charset="-120"/>
              </a:rPr>
              <a:t>🌐 Disponibilité &amp; Fiabilité</a:t>
            </a:r>
            <a:endParaRPr lang="en-US" sz="1050" dirty="0"/>
          </a:p>
        </p:txBody>
      </p:sp>
      <p:sp>
        <p:nvSpPr>
          <p:cNvPr id="16" name="Text 14"/>
          <p:cNvSpPr/>
          <p:nvPr/>
        </p:nvSpPr>
        <p:spPr>
          <a:xfrm>
            <a:off x="6263640" y="1444752"/>
            <a:ext cx="2606040" cy="1353312"/>
          </a:xfrm>
          <a:prstGeom prst="rect">
            <a:avLst/>
          </a:prstGeom>
          <a:noFill/>
          <a:ln/>
        </p:spPr>
        <p:txBody>
          <a:bodyPr wrap="square" rtlCol="0" anchor="t"/>
          <a:lstStyle/>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Disponibilité cible : 99,5 % (uptime annuel)</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Sauvegardes automatiques quotidiennes</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Tolérance aux pannes et reprise rapide</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Monitoring continu du système</a:t>
            </a:r>
            <a:endParaRPr lang="en-US" sz="850" dirty="0"/>
          </a:p>
        </p:txBody>
      </p:sp>
      <p:sp>
        <p:nvSpPr>
          <p:cNvPr id="17" name="Shape 15"/>
          <p:cNvSpPr/>
          <p:nvPr/>
        </p:nvSpPr>
        <p:spPr>
          <a:xfrm>
            <a:off x="274320" y="2980944"/>
            <a:ext cx="2788920" cy="187452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74320" y="2980944"/>
            <a:ext cx="54864" cy="1874520"/>
          </a:xfrm>
          <a:prstGeom prst="rect">
            <a:avLst/>
          </a:prstGeom>
          <a:solidFill>
            <a:srgbClr val="1A3A8F"/>
          </a:solidFill>
          <a:ln w="12700">
            <a:solidFill>
              <a:srgbClr val="1A3A8F"/>
            </a:solidFill>
            <a:prstDash val="solid"/>
          </a:ln>
        </p:spPr>
      </p:sp>
      <p:sp>
        <p:nvSpPr>
          <p:cNvPr id="19" name="Text 17"/>
          <p:cNvSpPr/>
          <p:nvPr/>
        </p:nvSpPr>
        <p:spPr>
          <a:xfrm>
            <a:off x="411480" y="3054096"/>
            <a:ext cx="2578608" cy="347472"/>
          </a:xfrm>
          <a:prstGeom prst="rect">
            <a:avLst/>
          </a:prstGeom>
          <a:noFill/>
          <a:ln/>
        </p:spPr>
        <p:txBody>
          <a:bodyPr wrap="square" lIns="0" tIns="0" rIns="0" bIns="0" rtlCol="0" anchor="ctr"/>
          <a:lstStyle/>
          <a:p>
            <a:pPr indent="0" marL="0">
              <a:buNone/>
            </a:pPr>
            <a:r>
              <a:rPr lang="en-US" sz="1050" b="1" dirty="0">
                <a:solidFill>
                  <a:srgbClr val="1A3A8F"/>
                </a:solidFill>
                <a:latin typeface="Calibri" pitchFamily="34" charset="0"/>
                <a:ea typeface="Calibri" pitchFamily="34" charset="-122"/>
                <a:cs typeface="Calibri" pitchFamily="34" charset="-120"/>
              </a:rPr>
              <a:t>📐 Scalabilité &amp; Architecture</a:t>
            </a:r>
            <a:endParaRPr lang="en-US" sz="1050" dirty="0"/>
          </a:p>
        </p:txBody>
      </p:sp>
      <p:sp>
        <p:nvSpPr>
          <p:cNvPr id="20" name="Text 18"/>
          <p:cNvSpPr/>
          <p:nvPr/>
        </p:nvSpPr>
        <p:spPr>
          <a:xfrm>
            <a:off x="411480" y="3438144"/>
            <a:ext cx="2606040" cy="1353312"/>
          </a:xfrm>
          <a:prstGeom prst="rect">
            <a:avLst/>
          </a:prstGeom>
          <a:noFill/>
          <a:ln/>
        </p:spPr>
        <p:txBody>
          <a:bodyPr wrap="square" rtlCol="0" anchor="t"/>
          <a:lstStyle/>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Architecture microservices modulaire</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Containerisation Docker</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Capacité d'augmentation des ressources serveur</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Support de la croissance du volume de tickets</a:t>
            </a:r>
            <a:endParaRPr lang="en-US" sz="850" dirty="0"/>
          </a:p>
        </p:txBody>
      </p:sp>
      <p:sp>
        <p:nvSpPr>
          <p:cNvPr id="21" name="Shape 19"/>
          <p:cNvSpPr/>
          <p:nvPr/>
        </p:nvSpPr>
        <p:spPr>
          <a:xfrm>
            <a:off x="3200400" y="2980944"/>
            <a:ext cx="2788920" cy="187452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200400" y="2980944"/>
            <a:ext cx="54864" cy="1874520"/>
          </a:xfrm>
          <a:prstGeom prst="rect">
            <a:avLst/>
          </a:prstGeom>
          <a:solidFill>
            <a:srgbClr val="7C3AED"/>
          </a:solidFill>
          <a:ln w="12700">
            <a:solidFill>
              <a:srgbClr val="7C3AED"/>
            </a:solidFill>
            <a:prstDash val="solid"/>
          </a:ln>
        </p:spPr>
      </p:sp>
      <p:sp>
        <p:nvSpPr>
          <p:cNvPr id="23" name="Text 21"/>
          <p:cNvSpPr/>
          <p:nvPr/>
        </p:nvSpPr>
        <p:spPr>
          <a:xfrm>
            <a:off x="3337560" y="3054096"/>
            <a:ext cx="2578608" cy="347472"/>
          </a:xfrm>
          <a:prstGeom prst="rect">
            <a:avLst/>
          </a:prstGeom>
          <a:noFill/>
          <a:ln/>
        </p:spPr>
        <p:txBody>
          <a:bodyPr wrap="square" lIns="0" tIns="0" rIns="0" bIns="0" rtlCol="0" anchor="ctr"/>
          <a:lstStyle/>
          <a:p>
            <a:pPr indent="0" marL="0">
              <a:buNone/>
            </a:pPr>
            <a:r>
              <a:rPr lang="en-US" sz="1050" b="1" dirty="0">
                <a:solidFill>
                  <a:srgbClr val="7C3AED"/>
                </a:solidFill>
                <a:latin typeface="Calibri" pitchFamily="34" charset="0"/>
                <a:ea typeface="Calibri" pitchFamily="34" charset="-122"/>
                <a:cs typeface="Calibri" pitchFamily="34" charset="-120"/>
              </a:rPr>
              <a:t>🖥️ Ergonomie &amp; UX</a:t>
            </a:r>
            <a:endParaRPr lang="en-US" sz="1050" dirty="0"/>
          </a:p>
        </p:txBody>
      </p:sp>
      <p:sp>
        <p:nvSpPr>
          <p:cNvPr id="24" name="Text 22"/>
          <p:cNvSpPr/>
          <p:nvPr/>
        </p:nvSpPr>
        <p:spPr>
          <a:xfrm>
            <a:off x="3337560" y="3438144"/>
            <a:ext cx="2606040" cy="1353312"/>
          </a:xfrm>
          <a:prstGeom prst="rect">
            <a:avLst/>
          </a:prstGeom>
          <a:noFill/>
          <a:ln/>
        </p:spPr>
        <p:txBody>
          <a:bodyPr wrap="square" rtlCol="0" anchor="t"/>
          <a:lstStyle/>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Interface intuitive et responsive (mobile-first)</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Navigation simple et accessible</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Messages d'erreur clairs et explicites</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Temps de chargement des pages optimisé</a:t>
            </a:r>
            <a:endParaRPr lang="en-US" sz="850" dirty="0"/>
          </a:p>
        </p:txBody>
      </p:sp>
      <p:sp>
        <p:nvSpPr>
          <p:cNvPr id="25" name="Shape 23"/>
          <p:cNvSpPr/>
          <p:nvPr/>
        </p:nvSpPr>
        <p:spPr>
          <a:xfrm>
            <a:off x="6126480" y="2980944"/>
            <a:ext cx="2788920" cy="187452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126480" y="2980944"/>
            <a:ext cx="54864" cy="1874520"/>
          </a:xfrm>
          <a:prstGeom prst="rect">
            <a:avLst/>
          </a:prstGeom>
          <a:solidFill>
            <a:srgbClr val="0F766E"/>
          </a:solidFill>
          <a:ln w="12700">
            <a:solidFill>
              <a:srgbClr val="0F766E"/>
            </a:solidFill>
            <a:prstDash val="solid"/>
          </a:ln>
        </p:spPr>
      </p:sp>
      <p:sp>
        <p:nvSpPr>
          <p:cNvPr id="27" name="Text 25"/>
          <p:cNvSpPr/>
          <p:nvPr/>
        </p:nvSpPr>
        <p:spPr>
          <a:xfrm>
            <a:off x="6263640" y="3054096"/>
            <a:ext cx="2578608" cy="347472"/>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 Maintenabilité</a:t>
            </a:r>
            <a:endParaRPr lang="en-US" sz="1050" dirty="0"/>
          </a:p>
        </p:txBody>
      </p:sp>
      <p:sp>
        <p:nvSpPr>
          <p:cNvPr id="28" name="Text 26"/>
          <p:cNvSpPr/>
          <p:nvPr/>
        </p:nvSpPr>
        <p:spPr>
          <a:xfrm>
            <a:off x="6263640" y="3438144"/>
            <a:ext cx="2606040" cy="1353312"/>
          </a:xfrm>
          <a:prstGeom prst="rect">
            <a:avLst/>
          </a:prstGeom>
          <a:noFill/>
          <a:ln/>
        </p:spPr>
        <p:txBody>
          <a:bodyPr wrap="square" rtlCol="0" anchor="t"/>
          <a:lstStyle/>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Code documenté (JSDoc, Swagger, README)</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Logs techniques détaillés</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Architecture propre (Clean Code, SOLID)</a:t>
            </a:r>
            <a:endParaRPr lang="en-US" sz="850" dirty="0"/>
          </a:p>
          <a:p>
            <a:pPr marL="342900" indent="-342900">
              <a:spcAft>
                <a:spcPts val="300"/>
              </a:spcAft>
              <a:buSzPct val="100000"/>
              <a:buChar char="•"/>
            </a:pPr>
            <a:r>
              <a:rPr lang="en-US" sz="850" dirty="0">
                <a:solidFill>
                  <a:srgbClr val="1E293B"/>
                </a:solidFill>
                <a:latin typeface="Calibri" pitchFamily="34" charset="0"/>
                <a:ea typeface="Calibri" pitchFamily="34" charset="-122"/>
                <a:cs typeface="Calibri" pitchFamily="34" charset="-120"/>
              </a:rPr>
              <a:t>Mises à jour modulaires sans interruption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ARCHITECTURE DU SYSTÈME</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Architecture modulaire en couches – Backend, Frontend, IA Service</a:t>
            </a:r>
            <a:endParaRPr lang="en-US" sz="1100" dirty="0"/>
          </a:p>
        </p:txBody>
      </p:sp>
      <p:sp>
        <p:nvSpPr>
          <p:cNvPr id="5" name="Shape 3"/>
          <p:cNvSpPr/>
          <p:nvPr/>
        </p:nvSpPr>
        <p:spPr>
          <a:xfrm>
            <a:off x="320040" y="960120"/>
            <a:ext cx="8503920" cy="731520"/>
          </a:xfrm>
          <a:prstGeom prst="rect">
            <a:avLst/>
          </a:prstGeom>
          <a:solidFill>
            <a:srgbClr val="000000"/>
          </a:solidFill>
          <a:ln w="10160">
            <a:solidFill>
              <a:srgbClr val="000000"/>
            </a:solidFill>
            <a:prstDash val="solid"/>
          </a:ln>
        </p:spPr>
      </p:sp>
      <p:sp>
        <p:nvSpPr>
          <p:cNvPr id="6" name="Shape 4"/>
          <p:cNvSpPr/>
          <p:nvPr/>
        </p:nvSpPr>
        <p:spPr>
          <a:xfrm>
            <a:off x="320040" y="960120"/>
            <a:ext cx="2286000" cy="731520"/>
          </a:xfrm>
          <a:prstGeom prst="rect">
            <a:avLst/>
          </a:prstGeom>
          <a:solidFill>
            <a:srgbClr val="1A3A8F"/>
          </a:solidFill>
          <a:ln w="12700">
            <a:solidFill>
              <a:srgbClr val="1A3A8F"/>
            </a:solidFill>
            <a:prstDash val="solid"/>
          </a:ln>
        </p:spPr>
      </p:sp>
      <p:sp>
        <p:nvSpPr>
          <p:cNvPr id="7" name="Text 5"/>
          <p:cNvSpPr/>
          <p:nvPr/>
        </p:nvSpPr>
        <p:spPr>
          <a:xfrm>
            <a:off x="384048" y="1161288"/>
            <a:ext cx="2148840"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Couche Présentation (Frontend)</a:t>
            </a:r>
            <a:endParaRPr lang="en-US" sz="850" dirty="0"/>
          </a:p>
        </p:txBody>
      </p:sp>
      <p:sp>
        <p:nvSpPr>
          <p:cNvPr id="8" name="Text 6"/>
          <p:cNvSpPr/>
          <p:nvPr/>
        </p:nvSpPr>
        <p:spPr>
          <a:xfrm>
            <a:off x="2743200" y="1124712"/>
            <a:ext cx="598932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Angular / React SPA   |   Interface responsive mobile-first   |   Portail web • Chat widget</a:t>
            </a:r>
            <a:endParaRPr lang="en-US" sz="900" dirty="0"/>
          </a:p>
        </p:txBody>
      </p:sp>
      <p:sp>
        <p:nvSpPr>
          <p:cNvPr id="9" name="Shape 7"/>
          <p:cNvSpPr/>
          <p:nvPr/>
        </p:nvSpPr>
        <p:spPr>
          <a:xfrm>
            <a:off x="4462272" y="1709928"/>
            <a:ext cx="36576" cy="54864"/>
          </a:xfrm>
          <a:prstGeom prst="rect">
            <a:avLst/>
          </a:prstGeom>
          <a:solidFill>
            <a:srgbClr val="2EC4F3"/>
          </a:solidFill>
          <a:ln w="12700">
            <a:solidFill>
              <a:srgbClr val="2EC4F3"/>
            </a:solidFill>
            <a:prstDash val="solid"/>
          </a:ln>
        </p:spPr>
      </p:sp>
      <p:sp>
        <p:nvSpPr>
          <p:cNvPr id="10" name="Shape 8"/>
          <p:cNvSpPr/>
          <p:nvPr/>
        </p:nvSpPr>
        <p:spPr>
          <a:xfrm>
            <a:off x="320040" y="1773936"/>
            <a:ext cx="8503920" cy="731520"/>
          </a:xfrm>
          <a:prstGeom prst="rect">
            <a:avLst/>
          </a:prstGeom>
          <a:solidFill>
            <a:srgbClr val="000000"/>
          </a:solidFill>
          <a:ln w="10160">
            <a:solidFill>
              <a:srgbClr val="000000"/>
            </a:solidFill>
            <a:prstDash val="solid"/>
          </a:ln>
        </p:spPr>
      </p:sp>
      <p:sp>
        <p:nvSpPr>
          <p:cNvPr id="11" name="Shape 9"/>
          <p:cNvSpPr/>
          <p:nvPr/>
        </p:nvSpPr>
        <p:spPr>
          <a:xfrm>
            <a:off x="320040" y="1773936"/>
            <a:ext cx="2286000" cy="731520"/>
          </a:xfrm>
          <a:prstGeom prst="rect">
            <a:avLst/>
          </a:prstGeom>
          <a:solidFill>
            <a:srgbClr val="0F766E"/>
          </a:solidFill>
          <a:ln w="12700">
            <a:solidFill>
              <a:srgbClr val="0F766E"/>
            </a:solidFill>
            <a:prstDash val="solid"/>
          </a:ln>
        </p:spPr>
      </p:sp>
      <p:sp>
        <p:nvSpPr>
          <p:cNvPr id="12" name="Text 10"/>
          <p:cNvSpPr/>
          <p:nvPr/>
        </p:nvSpPr>
        <p:spPr>
          <a:xfrm>
            <a:off x="384048" y="1975104"/>
            <a:ext cx="2148840"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Couche API Gateway</a:t>
            </a:r>
            <a:endParaRPr lang="en-US" sz="850" dirty="0"/>
          </a:p>
        </p:txBody>
      </p:sp>
      <p:sp>
        <p:nvSpPr>
          <p:cNvPr id="13" name="Text 11"/>
          <p:cNvSpPr/>
          <p:nvPr/>
        </p:nvSpPr>
        <p:spPr>
          <a:xfrm>
            <a:off x="2743200" y="1938528"/>
            <a:ext cx="598932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API REST (Node.js / Spring Boot)   |   Authentification JWT / OAuth2   |   Gestion des routes et rate-limiting</a:t>
            </a:r>
            <a:endParaRPr lang="en-US" sz="900" dirty="0"/>
          </a:p>
        </p:txBody>
      </p:sp>
      <p:sp>
        <p:nvSpPr>
          <p:cNvPr id="14" name="Shape 12"/>
          <p:cNvSpPr/>
          <p:nvPr/>
        </p:nvSpPr>
        <p:spPr>
          <a:xfrm>
            <a:off x="4462272" y="2523744"/>
            <a:ext cx="36576" cy="54864"/>
          </a:xfrm>
          <a:prstGeom prst="rect">
            <a:avLst/>
          </a:prstGeom>
          <a:solidFill>
            <a:srgbClr val="2EC4F3"/>
          </a:solidFill>
          <a:ln w="12700">
            <a:solidFill>
              <a:srgbClr val="2EC4F3"/>
            </a:solidFill>
            <a:prstDash val="solid"/>
          </a:ln>
        </p:spPr>
      </p:sp>
      <p:sp>
        <p:nvSpPr>
          <p:cNvPr id="15" name="Shape 13"/>
          <p:cNvSpPr/>
          <p:nvPr/>
        </p:nvSpPr>
        <p:spPr>
          <a:xfrm>
            <a:off x="320040" y="2587752"/>
            <a:ext cx="8503920" cy="731520"/>
          </a:xfrm>
          <a:prstGeom prst="rect">
            <a:avLst/>
          </a:prstGeom>
          <a:solidFill>
            <a:srgbClr val="000000"/>
          </a:solidFill>
          <a:ln w="10160">
            <a:solidFill>
              <a:srgbClr val="000000"/>
            </a:solidFill>
            <a:prstDash val="solid"/>
          </a:ln>
        </p:spPr>
      </p:sp>
      <p:sp>
        <p:nvSpPr>
          <p:cNvPr id="16" name="Shape 14"/>
          <p:cNvSpPr/>
          <p:nvPr/>
        </p:nvSpPr>
        <p:spPr>
          <a:xfrm>
            <a:off x="320040" y="2587752"/>
            <a:ext cx="2286000" cy="731520"/>
          </a:xfrm>
          <a:prstGeom prst="rect">
            <a:avLst/>
          </a:prstGeom>
          <a:solidFill>
            <a:srgbClr val="7C3AED"/>
          </a:solidFill>
          <a:ln w="12700">
            <a:solidFill>
              <a:srgbClr val="7C3AED"/>
            </a:solidFill>
            <a:prstDash val="solid"/>
          </a:ln>
        </p:spPr>
      </p:sp>
      <p:sp>
        <p:nvSpPr>
          <p:cNvPr id="17" name="Text 15"/>
          <p:cNvSpPr/>
          <p:nvPr/>
        </p:nvSpPr>
        <p:spPr>
          <a:xfrm>
            <a:off x="384048" y="2788920"/>
            <a:ext cx="2148840"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Couche Métier (Microservices)</a:t>
            </a:r>
            <a:endParaRPr lang="en-US" sz="850" dirty="0"/>
          </a:p>
        </p:txBody>
      </p:sp>
      <p:sp>
        <p:nvSpPr>
          <p:cNvPr id="18" name="Text 16"/>
          <p:cNvSpPr/>
          <p:nvPr/>
        </p:nvSpPr>
        <p:spPr>
          <a:xfrm>
            <a:off x="2743200" y="2752344"/>
            <a:ext cx="598932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Service Tickets • Service IA • Service Notifications   |   Service SLA • Service Reporting • Service Auth   |   Communication inter-services via REST / Message Queue</a:t>
            </a:r>
            <a:endParaRPr lang="en-US" sz="900" dirty="0"/>
          </a:p>
        </p:txBody>
      </p:sp>
      <p:sp>
        <p:nvSpPr>
          <p:cNvPr id="19" name="Shape 17"/>
          <p:cNvSpPr/>
          <p:nvPr/>
        </p:nvSpPr>
        <p:spPr>
          <a:xfrm>
            <a:off x="4462272" y="3337560"/>
            <a:ext cx="36576" cy="54864"/>
          </a:xfrm>
          <a:prstGeom prst="rect">
            <a:avLst/>
          </a:prstGeom>
          <a:solidFill>
            <a:srgbClr val="2EC4F3"/>
          </a:solidFill>
          <a:ln w="12700">
            <a:solidFill>
              <a:srgbClr val="2EC4F3"/>
            </a:solidFill>
            <a:prstDash val="solid"/>
          </a:ln>
        </p:spPr>
      </p:sp>
      <p:sp>
        <p:nvSpPr>
          <p:cNvPr id="20" name="Shape 18"/>
          <p:cNvSpPr/>
          <p:nvPr/>
        </p:nvSpPr>
        <p:spPr>
          <a:xfrm>
            <a:off x="320040" y="3401568"/>
            <a:ext cx="8503920" cy="731520"/>
          </a:xfrm>
          <a:prstGeom prst="rect">
            <a:avLst/>
          </a:prstGeom>
          <a:solidFill>
            <a:srgbClr val="000000"/>
          </a:solidFill>
          <a:ln w="10160">
            <a:solidFill>
              <a:srgbClr val="000000"/>
            </a:solidFill>
            <a:prstDash val="solid"/>
          </a:ln>
        </p:spPr>
      </p:sp>
      <p:sp>
        <p:nvSpPr>
          <p:cNvPr id="21" name="Shape 19"/>
          <p:cNvSpPr/>
          <p:nvPr/>
        </p:nvSpPr>
        <p:spPr>
          <a:xfrm>
            <a:off x="320040" y="3401568"/>
            <a:ext cx="2286000" cy="731520"/>
          </a:xfrm>
          <a:prstGeom prst="rect">
            <a:avLst/>
          </a:prstGeom>
          <a:solidFill>
            <a:srgbClr val="B45309"/>
          </a:solidFill>
          <a:ln w="12700">
            <a:solidFill>
              <a:srgbClr val="B45309"/>
            </a:solidFill>
            <a:prstDash val="solid"/>
          </a:ln>
        </p:spPr>
      </p:sp>
      <p:sp>
        <p:nvSpPr>
          <p:cNvPr id="22" name="Text 20"/>
          <p:cNvSpPr/>
          <p:nvPr/>
        </p:nvSpPr>
        <p:spPr>
          <a:xfrm>
            <a:off x="384048" y="3602736"/>
            <a:ext cx="2148840"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Couche IA (Python)</a:t>
            </a:r>
            <a:endParaRPr lang="en-US" sz="850" dirty="0"/>
          </a:p>
        </p:txBody>
      </p:sp>
      <p:sp>
        <p:nvSpPr>
          <p:cNvPr id="23" name="Text 21"/>
          <p:cNvSpPr/>
          <p:nvPr/>
        </p:nvSpPr>
        <p:spPr>
          <a:xfrm>
            <a:off x="2743200" y="3566160"/>
            <a:ext cx="598932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Moteur NLP – Classification automatique   |   Chatbot Rasa / LLM – Interactions NL   |   Analyse prédictive – Tendances &amp; recommandations</a:t>
            </a:r>
            <a:endParaRPr lang="en-US" sz="900" dirty="0"/>
          </a:p>
        </p:txBody>
      </p:sp>
      <p:sp>
        <p:nvSpPr>
          <p:cNvPr id="24" name="Shape 22"/>
          <p:cNvSpPr/>
          <p:nvPr/>
        </p:nvSpPr>
        <p:spPr>
          <a:xfrm>
            <a:off x="4462272" y="4151376"/>
            <a:ext cx="36576" cy="54864"/>
          </a:xfrm>
          <a:prstGeom prst="rect">
            <a:avLst/>
          </a:prstGeom>
          <a:solidFill>
            <a:srgbClr val="2EC4F3"/>
          </a:solidFill>
          <a:ln w="12700">
            <a:solidFill>
              <a:srgbClr val="2EC4F3"/>
            </a:solidFill>
            <a:prstDash val="solid"/>
          </a:ln>
        </p:spPr>
      </p:sp>
      <p:sp>
        <p:nvSpPr>
          <p:cNvPr id="25" name="Shape 23"/>
          <p:cNvSpPr/>
          <p:nvPr/>
        </p:nvSpPr>
        <p:spPr>
          <a:xfrm>
            <a:off x="320040" y="4215384"/>
            <a:ext cx="8503920" cy="731520"/>
          </a:xfrm>
          <a:prstGeom prst="rect">
            <a:avLst/>
          </a:prstGeom>
          <a:solidFill>
            <a:srgbClr val="000000"/>
          </a:solidFill>
          <a:ln w="10160">
            <a:solidFill>
              <a:srgbClr val="000000"/>
            </a:solidFill>
            <a:prstDash val="solid"/>
          </a:ln>
        </p:spPr>
      </p:sp>
      <p:sp>
        <p:nvSpPr>
          <p:cNvPr id="26" name="Shape 24"/>
          <p:cNvSpPr/>
          <p:nvPr/>
        </p:nvSpPr>
        <p:spPr>
          <a:xfrm>
            <a:off x="320040" y="4215384"/>
            <a:ext cx="2286000" cy="731520"/>
          </a:xfrm>
          <a:prstGeom prst="rect">
            <a:avLst/>
          </a:prstGeom>
          <a:solidFill>
            <a:srgbClr val="1E3A6A"/>
          </a:solidFill>
          <a:ln w="12700">
            <a:solidFill>
              <a:srgbClr val="1E3A6A"/>
            </a:solidFill>
            <a:prstDash val="solid"/>
          </a:ln>
        </p:spPr>
      </p:sp>
      <p:sp>
        <p:nvSpPr>
          <p:cNvPr id="27" name="Text 25"/>
          <p:cNvSpPr/>
          <p:nvPr/>
        </p:nvSpPr>
        <p:spPr>
          <a:xfrm>
            <a:off x="384048" y="4416552"/>
            <a:ext cx="2148840"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Couche Données &amp; Infrastructure</a:t>
            </a:r>
            <a:endParaRPr lang="en-US" sz="850" dirty="0"/>
          </a:p>
        </p:txBody>
      </p:sp>
      <p:sp>
        <p:nvSpPr>
          <p:cNvPr id="28" name="Text 26"/>
          <p:cNvSpPr/>
          <p:nvPr/>
        </p:nvSpPr>
        <p:spPr>
          <a:xfrm>
            <a:off x="2743200" y="4379976"/>
            <a:ext cx="5989320" cy="4114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MySQL (tickets, users, SLA)  •  MongoDB (logs, historique)   |   Docker / Kubernetes  •  CI/CD Pipeline   |   LDAP / Active Directory  •  Système de mail</a:t>
            </a:r>
            <a:endParaRPr lang="en-US" sz="900" dirty="0"/>
          </a:p>
        </p:txBody>
      </p:sp>
      <p:sp>
        <p:nvSpPr>
          <p:cNvPr id="29" name="Text 27"/>
          <p:cNvSpPr/>
          <p:nvPr/>
        </p:nvSpPr>
        <p:spPr>
          <a:xfrm>
            <a:off x="320040" y="5029200"/>
            <a:ext cx="850392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Architecture conforme aux principes SOLID, pattern MVC, containerisée avec Docker — conçue pour la scalabilité et la maintenabilité.</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FONCTIONNEMENT GLOBAL DU SYSTÈME</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Cycle de vie d'un ticket – De la création à la clôture</a:t>
            </a:r>
            <a:endParaRPr lang="en-US" sz="1100" dirty="0"/>
          </a:p>
        </p:txBody>
      </p:sp>
      <p:sp>
        <p:nvSpPr>
          <p:cNvPr id="5" name="Shape 3"/>
          <p:cNvSpPr/>
          <p:nvPr/>
        </p:nvSpPr>
        <p:spPr>
          <a:xfrm>
            <a:off x="274320" y="987552"/>
            <a:ext cx="2743200" cy="1828800"/>
          </a:xfrm>
          <a:prstGeom prst="rect">
            <a:avLst/>
          </a:prstGeom>
          <a:solidFill>
            <a:srgbClr val="FFFFFF"/>
          </a:solidFill>
          <a:ln w="12700">
            <a:solidFill>
              <a:srgbClr val="00000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987552"/>
            <a:ext cx="2743200" cy="502920"/>
          </a:xfrm>
          <a:prstGeom prst="rect">
            <a:avLst/>
          </a:prstGeom>
          <a:solidFill>
            <a:srgbClr val="1A3A8F"/>
          </a:solidFill>
          <a:ln w="12700">
            <a:solidFill>
              <a:srgbClr val="1A3A8F"/>
            </a:solidFill>
            <a:prstDash val="solid"/>
          </a:ln>
        </p:spPr>
      </p:sp>
      <p:sp>
        <p:nvSpPr>
          <p:cNvPr id="7" name="Text 5"/>
          <p:cNvSpPr/>
          <p:nvPr/>
        </p:nvSpPr>
        <p:spPr>
          <a:xfrm>
            <a:off x="274320" y="1060704"/>
            <a:ext cx="50292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777240" y="1078992"/>
            <a:ext cx="214884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Création</a:t>
            </a:r>
            <a:endParaRPr lang="en-US" sz="1150" dirty="0"/>
          </a:p>
        </p:txBody>
      </p:sp>
      <p:sp>
        <p:nvSpPr>
          <p:cNvPr id="9" name="Text 7"/>
          <p:cNvSpPr/>
          <p:nvPr/>
        </p:nvSpPr>
        <p:spPr>
          <a:xfrm>
            <a:off x="384048" y="1581912"/>
            <a:ext cx="2542032" cy="117043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L'utilisateur soumet une demande via le portail web, l'email ou le chat. Le système génère automatiquement un ticket structuré avec un identifiant unique.</a:t>
            </a:r>
            <a:endParaRPr lang="en-US" sz="900" dirty="0"/>
          </a:p>
        </p:txBody>
      </p:sp>
      <p:sp>
        <p:nvSpPr>
          <p:cNvPr id="10" name="Shape 8"/>
          <p:cNvSpPr/>
          <p:nvPr/>
        </p:nvSpPr>
        <p:spPr>
          <a:xfrm>
            <a:off x="3200400" y="987552"/>
            <a:ext cx="2743200" cy="1828800"/>
          </a:xfrm>
          <a:prstGeom prst="rect">
            <a:avLst/>
          </a:prstGeom>
          <a:solidFill>
            <a:srgbClr val="FFFFFF"/>
          </a:solidFill>
          <a:ln w="12700">
            <a:solidFill>
              <a:srgbClr val="00000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200400" y="987552"/>
            <a:ext cx="2743200" cy="502920"/>
          </a:xfrm>
          <a:prstGeom prst="rect">
            <a:avLst/>
          </a:prstGeom>
          <a:solidFill>
            <a:srgbClr val="7C3AED"/>
          </a:solidFill>
          <a:ln w="12700">
            <a:solidFill>
              <a:srgbClr val="7C3AED"/>
            </a:solidFill>
            <a:prstDash val="solid"/>
          </a:ln>
        </p:spPr>
      </p:sp>
      <p:sp>
        <p:nvSpPr>
          <p:cNvPr id="12" name="Text 10"/>
          <p:cNvSpPr/>
          <p:nvPr/>
        </p:nvSpPr>
        <p:spPr>
          <a:xfrm>
            <a:off x="3200400" y="1060704"/>
            <a:ext cx="50292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3703320" y="1078992"/>
            <a:ext cx="214884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Analyse IA</a:t>
            </a:r>
            <a:endParaRPr lang="en-US" sz="1150" dirty="0"/>
          </a:p>
        </p:txBody>
      </p:sp>
      <p:sp>
        <p:nvSpPr>
          <p:cNvPr id="14" name="Text 12"/>
          <p:cNvSpPr/>
          <p:nvPr/>
        </p:nvSpPr>
        <p:spPr>
          <a:xfrm>
            <a:off x="3310128" y="1581912"/>
            <a:ext cx="2542032" cy="117043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Le moteur NLP analyse le contenu du ticket : catégorisation (réseau, matériel, logiciel…), évaluation du niveau de priorité et extraction de mots-clés.</a:t>
            </a:r>
            <a:endParaRPr lang="en-US" sz="900" dirty="0"/>
          </a:p>
        </p:txBody>
      </p:sp>
      <p:sp>
        <p:nvSpPr>
          <p:cNvPr id="15" name="Shape 13"/>
          <p:cNvSpPr/>
          <p:nvPr/>
        </p:nvSpPr>
        <p:spPr>
          <a:xfrm>
            <a:off x="6126480" y="987552"/>
            <a:ext cx="2743200" cy="1828800"/>
          </a:xfrm>
          <a:prstGeom prst="rect">
            <a:avLst/>
          </a:prstGeom>
          <a:solidFill>
            <a:srgbClr val="FFFFFF"/>
          </a:solidFill>
          <a:ln w="12700">
            <a:solidFill>
              <a:srgbClr val="00000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6126480" y="987552"/>
            <a:ext cx="2743200" cy="502920"/>
          </a:xfrm>
          <a:prstGeom prst="rect">
            <a:avLst/>
          </a:prstGeom>
          <a:solidFill>
            <a:srgbClr val="F59E0B"/>
          </a:solidFill>
          <a:ln w="12700">
            <a:solidFill>
              <a:srgbClr val="F59E0B"/>
            </a:solidFill>
            <a:prstDash val="solid"/>
          </a:ln>
        </p:spPr>
      </p:sp>
      <p:sp>
        <p:nvSpPr>
          <p:cNvPr id="17" name="Text 15"/>
          <p:cNvSpPr/>
          <p:nvPr/>
        </p:nvSpPr>
        <p:spPr>
          <a:xfrm>
            <a:off x="6126480" y="1060704"/>
            <a:ext cx="50292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6629400" y="1078992"/>
            <a:ext cx="214884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Routage</a:t>
            </a:r>
            <a:endParaRPr lang="en-US" sz="1150" dirty="0"/>
          </a:p>
        </p:txBody>
      </p:sp>
      <p:sp>
        <p:nvSpPr>
          <p:cNvPr id="19" name="Text 17"/>
          <p:cNvSpPr/>
          <p:nvPr/>
        </p:nvSpPr>
        <p:spPr>
          <a:xfrm>
            <a:off x="6236208" y="1581912"/>
            <a:ext cx="2542032" cy="117043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Le ticket est automatiquement assigné à l'agent ou à l'équipe compétente, selon la charge de travail, les SLA définis et l'historique de routage appris.</a:t>
            </a:r>
            <a:endParaRPr lang="en-US" sz="900" dirty="0"/>
          </a:p>
        </p:txBody>
      </p:sp>
      <p:sp>
        <p:nvSpPr>
          <p:cNvPr id="20" name="Shape 18"/>
          <p:cNvSpPr/>
          <p:nvPr/>
        </p:nvSpPr>
        <p:spPr>
          <a:xfrm>
            <a:off x="274320" y="2999232"/>
            <a:ext cx="2743200" cy="1828800"/>
          </a:xfrm>
          <a:prstGeom prst="rect">
            <a:avLst/>
          </a:prstGeom>
          <a:solidFill>
            <a:srgbClr val="FFFFFF"/>
          </a:solidFill>
          <a:ln w="12700">
            <a:solidFill>
              <a:srgbClr val="00000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274320" y="2999232"/>
            <a:ext cx="2743200" cy="502920"/>
          </a:xfrm>
          <a:prstGeom prst="rect">
            <a:avLst/>
          </a:prstGeom>
          <a:solidFill>
            <a:srgbClr val="10B981"/>
          </a:solidFill>
          <a:ln w="12700">
            <a:solidFill>
              <a:srgbClr val="10B981"/>
            </a:solidFill>
            <a:prstDash val="solid"/>
          </a:ln>
        </p:spPr>
      </p:sp>
      <p:sp>
        <p:nvSpPr>
          <p:cNvPr id="22" name="Text 20"/>
          <p:cNvSpPr/>
          <p:nvPr/>
        </p:nvSpPr>
        <p:spPr>
          <a:xfrm>
            <a:off x="274320" y="3072384"/>
            <a:ext cx="50292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777240" y="3090672"/>
            <a:ext cx="214884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Traitement</a:t>
            </a:r>
            <a:endParaRPr lang="en-US" sz="1150" dirty="0"/>
          </a:p>
        </p:txBody>
      </p:sp>
      <p:sp>
        <p:nvSpPr>
          <p:cNvPr id="24" name="Text 22"/>
          <p:cNvSpPr/>
          <p:nvPr/>
        </p:nvSpPr>
        <p:spPr>
          <a:xfrm>
            <a:off x="384048" y="3593592"/>
            <a:ext cx="2542032" cy="117043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L'agent reçoit une notification, dispose des outils d'aide (résumé IA, suggestions, base de connaissance) et traite le ticket dans le délai imparti par le SLA.</a:t>
            </a:r>
            <a:endParaRPr lang="en-US" sz="900" dirty="0"/>
          </a:p>
        </p:txBody>
      </p:sp>
      <p:sp>
        <p:nvSpPr>
          <p:cNvPr id="25" name="Shape 23"/>
          <p:cNvSpPr/>
          <p:nvPr/>
        </p:nvSpPr>
        <p:spPr>
          <a:xfrm>
            <a:off x="3200400" y="2999232"/>
            <a:ext cx="2743200" cy="1828800"/>
          </a:xfrm>
          <a:prstGeom prst="rect">
            <a:avLst/>
          </a:prstGeom>
          <a:solidFill>
            <a:srgbClr val="FFFFFF"/>
          </a:solidFill>
          <a:ln w="12700">
            <a:solidFill>
              <a:srgbClr val="00000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3200400" y="2999232"/>
            <a:ext cx="2743200" cy="502920"/>
          </a:xfrm>
          <a:prstGeom prst="rect">
            <a:avLst/>
          </a:prstGeom>
          <a:solidFill>
            <a:srgbClr val="0F766E"/>
          </a:solidFill>
          <a:ln w="12700">
            <a:solidFill>
              <a:srgbClr val="0F766E"/>
            </a:solidFill>
            <a:prstDash val="solid"/>
          </a:ln>
        </p:spPr>
      </p:sp>
      <p:sp>
        <p:nvSpPr>
          <p:cNvPr id="27" name="Text 25"/>
          <p:cNvSpPr/>
          <p:nvPr/>
        </p:nvSpPr>
        <p:spPr>
          <a:xfrm>
            <a:off x="3200400" y="3072384"/>
            <a:ext cx="50292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3703320" y="3090672"/>
            <a:ext cx="214884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Résolution</a:t>
            </a:r>
            <a:endParaRPr lang="en-US" sz="1150" dirty="0"/>
          </a:p>
        </p:txBody>
      </p:sp>
      <p:sp>
        <p:nvSpPr>
          <p:cNvPr id="29" name="Text 27"/>
          <p:cNvSpPr/>
          <p:nvPr/>
        </p:nvSpPr>
        <p:spPr>
          <a:xfrm>
            <a:off x="3310128" y="3593592"/>
            <a:ext cx="2542032" cy="117043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La solution est documentée dans la base de connaissances. L'utilisateur reçoit une notification de résolution et peut soumettre une évaluation de satisfaction.</a:t>
            </a:r>
            <a:endParaRPr lang="en-US" sz="900" dirty="0"/>
          </a:p>
        </p:txBody>
      </p:sp>
      <p:sp>
        <p:nvSpPr>
          <p:cNvPr id="30" name="Shape 28"/>
          <p:cNvSpPr/>
          <p:nvPr/>
        </p:nvSpPr>
        <p:spPr>
          <a:xfrm>
            <a:off x="6126480" y="2999232"/>
            <a:ext cx="2743200" cy="1828800"/>
          </a:xfrm>
          <a:prstGeom prst="rect">
            <a:avLst/>
          </a:prstGeom>
          <a:solidFill>
            <a:srgbClr val="FFFFFF"/>
          </a:solidFill>
          <a:ln w="12700">
            <a:solidFill>
              <a:srgbClr val="00000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6126480" y="2999232"/>
            <a:ext cx="2743200" cy="502920"/>
          </a:xfrm>
          <a:prstGeom prst="rect">
            <a:avLst/>
          </a:prstGeom>
          <a:solidFill>
            <a:srgbClr val="2EC4F3"/>
          </a:solidFill>
          <a:ln w="12700">
            <a:solidFill>
              <a:srgbClr val="2EC4F3"/>
            </a:solidFill>
            <a:prstDash val="solid"/>
          </a:ln>
        </p:spPr>
      </p:sp>
      <p:sp>
        <p:nvSpPr>
          <p:cNvPr id="32" name="Text 30"/>
          <p:cNvSpPr/>
          <p:nvPr/>
        </p:nvSpPr>
        <p:spPr>
          <a:xfrm>
            <a:off x="6126480" y="3072384"/>
            <a:ext cx="50292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6629400" y="3090672"/>
            <a:ext cx="214884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Clôture &amp; Analyse</a:t>
            </a:r>
            <a:endParaRPr lang="en-US" sz="1150" dirty="0"/>
          </a:p>
        </p:txBody>
      </p:sp>
      <p:sp>
        <p:nvSpPr>
          <p:cNvPr id="34" name="Text 32"/>
          <p:cNvSpPr/>
          <p:nvPr/>
        </p:nvSpPr>
        <p:spPr>
          <a:xfrm>
            <a:off x="6236208" y="3593592"/>
            <a:ext cx="2542032" cy="1170432"/>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Le ticket est clôturé, archivé et intégré aux tableaux de bord analytiques. Les données alimentent le modèle IA pour améliorer les prédictions futures.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E2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C3AED"/>
          </a:solidFill>
          <a:ln w="12700">
            <a:solidFill>
              <a:srgbClr val="7C3AED"/>
            </a:solidFill>
            <a:prstDash val="solid"/>
          </a:ln>
        </p:spPr>
      </p:sp>
      <p:sp>
        <p:nvSpPr>
          <p:cNvPr id="3" name="Text 1"/>
          <p:cNvSpPr/>
          <p:nvPr/>
        </p:nvSpPr>
        <p:spPr>
          <a:xfrm>
            <a:off x="457200" y="164592"/>
            <a:ext cx="8229600" cy="457200"/>
          </a:xfrm>
          <a:prstGeom prst="rect">
            <a:avLst/>
          </a:prstGeom>
          <a:noFill/>
          <a:ln/>
        </p:spPr>
        <p:txBody>
          <a:bodyPr wrap="square" lIns="0" tIns="0" rIns="0" bIns="0" rtlCol="0" anchor="ctr"/>
          <a:lstStyle/>
          <a:p>
            <a:pPr indent="0" marL="0">
              <a:buNone/>
            </a:pPr>
            <a:r>
              <a:rPr lang="en-US" sz="2000" b="1" spc="200" kern="0" dirty="0">
                <a:solidFill>
                  <a:srgbClr val="FFFFFF"/>
                </a:solidFill>
                <a:latin typeface="Calibri" pitchFamily="34" charset="0"/>
                <a:ea typeface="Calibri" pitchFamily="34" charset="-122"/>
                <a:cs typeface="Calibri" pitchFamily="34" charset="-120"/>
              </a:rPr>
              <a:t>MODULES INTELLIGENCE ARTIFICIELLE</a:t>
            </a:r>
            <a:endParaRPr lang="en-US" sz="20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100" i="1" dirty="0">
                <a:solidFill>
                  <a:srgbClr val="A78BFA"/>
                </a:solidFill>
                <a:latin typeface="Calibri" pitchFamily="34" charset="0"/>
                <a:ea typeface="Calibri" pitchFamily="34" charset="-122"/>
                <a:cs typeface="Calibri" pitchFamily="34" charset="-120"/>
              </a:rPr>
              <a:t>Description technique des composants IA de la plateforme</a:t>
            </a:r>
            <a:endParaRPr lang="en-US" sz="1100" dirty="0"/>
          </a:p>
        </p:txBody>
      </p:sp>
      <p:sp>
        <p:nvSpPr>
          <p:cNvPr id="5" name="Shape 3"/>
          <p:cNvSpPr/>
          <p:nvPr/>
        </p:nvSpPr>
        <p:spPr>
          <a:xfrm>
            <a:off x="274320" y="1005840"/>
            <a:ext cx="4160520" cy="1783080"/>
          </a:xfrm>
          <a:prstGeom prst="rect">
            <a:avLst/>
          </a:prstGeom>
          <a:solidFill>
            <a:srgbClr val="0A1628"/>
          </a:solidFill>
          <a:ln w="12700">
            <a:solidFill>
              <a:srgbClr val="000000"/>
            </a:solidFill>
            <a:prstDash val="solid"/>
          </a:ln>
        </p:spPr>
      </p:sp>
      <p:sp>
        <p:nvSpPr>
          <p:cNvPr id="6" name="Shape 4"/>
          <p:cNvSpPr/>
          <p:nvPr/>
        </p:nvSpPr>
        <p:spPr>
          <a:xfrm>
            <a:off x="274320" y="1005840"/>
            <a:ext cx="4160520" cy="54864"/>
          </a:xfrm>
          <a:prstGeom prst="rect">
            <a:avLst/>
          </a:prstGeom>
          <a:solidFill>
            <a:srgbClr val="4F46E5"/>
          </a:solidFill>
          <a:ln w="12700">
            <a:solidFill>
              <a:srgbClr val="4F46E5"/>
            </a:solidFill>
            <a:prstDash val="solid"/>
          </a:ln>
        </p:spPr>
      </p:sp>
      <p:sp>
        <p:nvSpPr>
          <p:cNvPr id="7" name="Text 5"/>
          <p:cNvSpPr/>
          <p:nvPr/>
        </p:nvSpPr>
        <p:spPr>
          <a:xfrm>
            <a:off x="411480" y="1115568"/>
            <a:ext cx="320040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Classification NLP</a:t>
            </a:r>
            <a:endParaRPr lang="en-US" sz="1200" dirty="0"/>
          </a:p>
        </p:txBody>
      </p:sp>
      <p:sp>
        <p:nvSpPr>
          <p:cNvPr id="8" name="Text 6"/>
          <p:cNvSpPr/>
          <p:nvPr/>
        </p:nvSpPr>
        <p:spPr>
          <a:xfrm>
            <a:off x="411480" y="1481328"/>
            <a:ext cx="3840480" cy="256032"/>
          </a:xfrm>
          <a:prstGeom prst="rect">
            <a:avLst/>
          </a:prstGeom>
          <a:noFill/>
          <a:ln/>
        </p:spPr>
        <p:txBody>
          <a:bodyPr wrap="square" lIns="0" tIns="0" rIns="0" bIns="0" rtlCol="0" anchor="ctr"/>
          <a:lstStyle/>
          <a:p>
            <a:pPr indent="0" marL="0">
              <a:buNone/>
            </a:pPr>
            <a:r>
              <a:rPr lang="en-US" sz="850" i="1" dirty="0">
                <a:solidFill>
                  <a:srgbClr val="4F46E5"/>
                </a:solidFill>
                <a:latin typeface="Calibri" pitchFamily="34" charset="0"/>
                <a:ea typeface="Calibri" pitchFamily="34" charset="-122"/>
                <a:cs typeface="Calibri" pitchFamily="34" charset="-120"/>
              </a:rPr>
              <a:t>Python · spaCy · scikit-learn</a:t>
            </a:r>
            <a:endParaRPr lang="en-US" sz="850" dirty="0"/>
          </a:p>
        </p:txBody>
      </p:sp>
      <p:sp>
        <p:nvSpPr>
          <p:cNvPr id="9" name="Text 7"/>
          <p:cNvSpPr/>
          <p:nvPr/>
        </p:nvSpPr>
        <p:spPr>
          <a:xfrm>
            <a:off x="411480" y="1755648"/>
            <a:ext cx="3886200" cy="932688"/>
          </a:xfrm>
          <a:prstGeom prst="rect">
            <a:avLst/>
          </a:prstGeom>
          <a:noFill/>
          <a:ln/>
        </p:spPr>
        <p:txBody>
          <a:bodyPr wrap="square" lIns="0" tIns="0" rIns="0" bIns="0" rtlCol="0" anchor="t"/>
          <a:lstStyle/>
          <a:p>
            <a:pPr indent="0" marL="0">
              <a:buNone/>
            </a:pPr>
            <a:r>
              <a:rPr lang="en-US" sz="880" dirty="0">
                <a:solidFill>
                  <a:srgbClr val="90B4CC"/>
                </a:solidFill>
                <a:latin typeface="Calibri" pitchFamily="34" charset="0"/>
                <a:ea typeface="Calibri" pitchFamily="34" charset="-122"/>
                <a:cs typeface="Calibri" pitchFamily="34" charset="-120"/>
              </a:rPr>
              <a:t>Le moteur NLP analyse le texte libre des tickets entrants en appliquant des techniques de traitement du langage naturel : tokenisation, vectorisation TF-IDF, classification multi-label. Il détermine automatiquement la catégorie (réseau, matériel, logiciel, sécurité…) et le niveau de priorité.</a:t>
            </a:r>
            <a:endParaRPr lang="en-US" sz="880" dirty="0"/>
          </a:p>
        </p:txBody>
      </p:sp>
      <p:sp>
        <p:nvSpPr>
          <p:cNvPr id="10" name="Shape 8"/>
          <p:cNvSpPr/>
          <p:nvPr/>
        </p:nvSpPr>
        <p:spPr>
          <a:xfrm>
            <a:off x="4709160" y="1005840"/>
            <a:ext cx="4160520" cy="1783080"/>
          </a:xfrm>
          <a:prstGeom prst="rect">
            <a:avLst/>
          </a:prstGeom>
          <a:solidFill>
            <a:srgbClr val="0A1628"/>
          </a:solidFill>
          <a:ln w="12700">
            <a:solidFill>
              <a:srgbClr val="000000"/>
            </a:solidFill>
            <a:prstDash val="solid"/>
          </a:ln>
        </p:spPr>
      </p:sp>
      <p:sp>
        <p:nvSpPr>
          <p:cNvPr id="11" name="Shape 9"/>
          <p:cNvSpPr/>
          <p:nvPr/>
        </p:nvSpPr>
        <p:spPr>
          <a:xfrm>
            <a:off x="4709160" y="1005840"/>
            <a:ext cx="4160520" cy="54864"/>
          </a:xfrm>
          <a:prstGeom prst="rect">
            <a:avLst/>
          </a:prstGeom>
          <a:solidFill>
            <a:srgbClr val="0891B2"/>
          </a:solidFill>
          <a:ln w="12700">
            <a:solidFill>
              <a:srgbClr val="0891B2"/>
            </a:solidFill>
            <a:prstDash val="solid"/>
          </a:ln>
        </p:spPr>
      </p:sp>
      <p:sp>
        <p:nvSpPr>
          <p:cNvPr id="12" name="Text 10"/>
          <p:cNvSpPr/>
          <p:nvPr/>
        </p:nvSpPr>
        <p:spPr>
          <a:xfrm>
            <a:off x="4846320" y="1115568"/>
            <a:ext cx="320040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Chatbot IA 24/7</a:t>
            </a:r>
            <a:endParaRPr lang="en-US" sz="1200" dirty="0"/>
          </a:p>
        </p:txBody>
      </p:sp>
      <p:sp>
        <p:nvSpPr>
          <p:cNvPr id="13" name="Text 11"/>
          <p:cNvSpPr/>
          <p:nvPr/>
        </p:nvSpPr>
        <p:spPr>
          <a:xfrm>
            <a:off x="4846320" y="1481328"/>
            <a:ext cx="3840480" cy="256032"/>
          </a:xfrm>
          <a:prstGeom prst="rect">
            <a:avLst/>
          </a:prstGeom>
          <a:noFill/>
          <a:ln/>
        </p:spPr>
        <p:txBody>
          <a:bodyPr wrap="square" lIns="0" tIns="0" rIns="0" bIns="0" rtlCol="0" anchor="ctr"/>
          <a:lstStyle/>
          <a:p>
            <a:pPr indent="0" marL="0">
              <a:buNone/>
            </a:pPr>
            <a:r>
              <a:rPr lang="en-US" sz="850" i="1" dirty="0">
                <a:solidFill>
                  <a:srgbClr val="0891B2"/>
                </a:solidFill>
                <a:latin typeface="Calibri" pitchFamily="34" charset="0"/>
                <a:ea typeface="Calibri" pitchFamily="34" charset="-122"/>
                <a:cs typeface="Calibri" pitchFamily="34" charset="-120"/>
              </a:rPr>
              <a:t>Rasa / Dialogflow · NLU Pipeline</a:t>
            </a:r>
            <a:endParaRPr lang="en-US" sz="850" dirty="0"/>
          </a:p>
        </p:txBody>
      </p:sp>
      <p:sp>
        <p:nvSpPr>
          <p:cNvPr id="14" name="Text 12"/>
          <p:cNvSpPr/>
          <p:nvPr/>
        </p:nvSpPr>
        <p:spPr>
          <a:xfrm>
            <a:off x="4846320" y="1755648"/>
            <a:ext cx="3886200" cy="932688"/>
          </a:xfrm>
          <a:prstGeom prst="rect">
            <a:avLst/>
          </a:prstGeom>
          <a:noFill/>
          <a:ln/>
        </p:spPr>
        <p:txBody>
          <a:bodyPr wrap="square" lIns="0" tIns="0" rIns="0" bIns="0" rtlCol="0" anchor="t"/>
          <a:lstStyle/>
          <a:p>
            <a:pPr indent="0" marL="0">
              <a:buNone/>
            </a:pPr>
            <a:r>
              <a:rPr lang="en-US" sz="880" dirty="0">
                <a:solidFill>
                  <a:srgbClr val="90B4CC"/>
                </a:solidFill>
                <a:latin typeface="Calibri" pitchFamily="34" charset="0"/>
                <a:ea typeface="Calibri" pitchFamily="34" charset="-122"/>
                <a:cs typeface="Calibri" pitchFamily="34" charset="-120"/>
              </a:rPr>
              <a:t>Le chatbot repose sur un pipeline NLU (Natural Language Understanding) entraîné sur les historiques de tickets GEISER. Il gère les intentions, les entités et le dialogue multi-tours pour répondre automatiquement aux demandes courantes et escalader les cas complexes.</a:t>
            </a:r>
            <a:endParaRPr lang="en-US" sz="880" dirty="0"/>
          </a:p>
        </p:txBody>
      </p:sp>
      <p:sp>
        <p:nvSpPr>
          <p:cNvPr id="15" name="Shape 13"/>
          <p:cNvSpPr/>
          <p:nvPr/>
        </p:nvSpPr>
        <p:spPr>
          <a:xfrm>
            <a:off x="274320" y="2926080"/>
            <a:ext cx="4160520" cy="1783080"/>
          </a:xfrm>
          <a:prstGeom prst="rect">
            <a:avLst/>
          </a:prstGeom>
          <a:solidFill>
            <a:srgbClr val="0A1628"/>
          </a:solidFill>
          <a:ln w="12700">
            <a:solidFill>
              <a:srgbClr val="000000"/>
            </a:solidFill>
            <a:prstDash val="solid"/>
          </a:ln>
        </p:spPr>
      </p:sp>
      <p:sp>
        <p:nvSpPr>
          <p:cNvPr id="16" name="Shape 14"/>
          <p:cNvSpPr/>
          <p:nvPr/>
        </p:nvSpPr>
        <p:spPr>
          <a:xfrm>
            <a:off x="274320" y="2926080"/>
            <a:ext cx="4160520" cy="54864"/>
          </a:xfrm>
          <a:prstGeom prst="rect">
            <a:avLst/>
          </a:prstGeom>
          <a:solidFill>
            <a:srgbClr val="059669"/>
          </a:solidFill>
          <a:ln w="12700">
            <a:solidFill>
              <a:srgbClr val="059669"/>
            </a:solidFill>
            <a:prstDash val="solid"/>
          </a:ln>
        </p:spPr>
      </p:sp>
      <p:sp>
        <p:nvSpPr>
          <p:cNvPr id="17" name="Text 15"/>
          <p:cNvSpPr/>
          <p:nvPr/>
        </p:nvSpPr>
        <p:spPr>
          <a:xfrm>
            <a:off x="411480" y="3035808"/>
            <a:ext cx="320040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Routage Intelligent</a:t>
            </a:r>
            <a:endParaRPr lang="en-US" sz="1200" dirty="0"/>
          </a:p>
        </p:txBody>
      </p:sp>
      <p:sp>
        <p:nvSpPr>
          <p:cNvPr id="18" name="Text 16"/>
          <p:cNvSpPr/>
          <p:nvPr/>
        </p:nvSpPr>
        <p:spPr>
          <a:xfrm>
            <a:off x="411480" y="3401568"/>
            <a:ext cx="3840480" cy="256032"/>
          </a:xfrm>
          <a:prstGeom prst="rect">
            <a:avLst/>
          </a:prstGeom>
          <a:noFill/>
          <a:ln/>
        </p:spPr>
        <p:txBody>
          <a:bodyPr wrap="square" lIns="0" tIns="0" rIns="0" bIns="0" rtlCol="0" anchor="ctr"/>
          <a:lstStyle/>
          <a:p>
            <a:pPr indent="0" marL="0">
              <a:buNone/>
            </a:pPr>
            <a:r>
              <a:rPr lang="en-US" sz="850" i="1" dirty="0">
                <a:solidFill>
                  <a:srgbClr val="059669"/>
                </a:solidFill>
                <a:latin typeface="Calibri" pitchFamily="34" charset="0"/>
                <a:ea typeface="Calibri" pitchFamily="34" charset="-122"/>
                <a:cs typeface="Calibri" pitchFamily="34" charset="-120"/>
              </a:rPr>
              <a:t>ML · Scoring Engine · Feedback Loop</a:t>
            </a:r>
            <a:endParaRPr lang="en-US" sz="850" dirty="0"/>
          </a:p>
        </p:txBody>
      </p:sp>
      <p:sp>
        <p:nvSpPr>
          <p:cNvPr id="19" name="Text 17"/>
          <p:cNvSpPr/>
          <p:nvPr/>
        </p:nvSpPr>
        <p:spPr>
          <a:xfrm>
            <a:off x="411480" y="3675888"/>
            <a:ext cx="3886200" cy="932688"/>
          </a:xfrm>
          <a:prstGeom prst="rect">
            <a:avLst/>
          </a:prstGeom>
          <a:noFill/>
          <a:ln/>
        </p:spPr>
        <p:txBody>
          <a:bodyPr wrap="square" lIns="0" tIns="0" rIns="0" bIns="0" rtlCol="0" anchor="t"/>
          <a:lstStyle/>
          <a:p>
            <a:pPr indent="0" marL="0">
              <a:buNone/>
            </a:pPr>
            <a:r>
              <a:rPr lang="en-US" sz="880" dirty="0">
                <a:solidFill>
                  <a:srgbClr val="90B4CC"/>
                </a:solidFill>
                <a:latin typeface="Calibri" pitchFamily="34" charset="0"/>
                <a:ea typeface="Calibri" pitchFamily="34" charset="-122"/>
                <a:cs typeface="Calibri" pitchFamily="34" charset="-120"/>
              </a:rPr>
              <a:t>Un modèle d'apprentissage supervisé évalue en temps réel la charge de travail des agents, leurs compétences déclarées et leur historique de résolution pour calculer un score d'affectation optimal. Le modèle s'améliore via un mécanisme de feedback loop sur les tickets clôturés.</a:t>
            </a:r>
            <a:endParaRPr lang="en-US" sz="880" dirty="0"/>
          </a:p>
        </p:txBody>
      </p:sp>
      <p:sp>
        <p:nvSpPr>
          <p:cNvPr id="20" name="Shape 18"/>
          <p:cNvSpPr/>
          <p:nvPr/>
        </p:nvSpPr>
        <p:spPr>
          <a:xfrm>
            <a:off x="4709160" y="2926080"/>
            <a:ext cx="4160520" cy="1783080"/>
          </a:xfrm>
          <a:prstGeom prst="rect">
            <a:avLst/>
          </a:prstGeom>
          <a:solidFill>
            <a:srgbClr val="0A1628"/>
          </a:solidFill>
          <a:ln w="12700">
            <a:solidFill>
              <a:srgbClr val="000000"/>
            </a:solidFill>
            <a:prstDash val="solid"/>
          </a:ln>
        </p:spPr>
      </p:sp>
      <p:sp>
        <p:nvSpPr>
          <p:cNvPr id="21" name="Shape 19"/>
          <p:cNvSpPr/>
          <p:nvPr/>
        </p:nvSpPr>
        <p:spPr>
          <a:xfrm>
            <a:off x="4709160" y="2926080"/>
            <a:ext cx="4160520" cy="54864"/>
          </a:xfrm>
          <a:prstGeom prst="rect">
            <a:avLst/>
          </a:prstGeom>
          <a:solidFill>
            <a:srgbClr val="D97706"/>
          </a:solidFill>
          <a:ln w="12700">
            <a:solidFill>
              <a:srgbClr val="D97706"/>
            </a:solidFill>
            <a:prstDash val="solid"/>
          </a:ln>
        </p:spPr>
      </p:sp>
      <p:sp>
        <p:nvSpPr>
          <p:cNvPr id="22" name="Text 20"/>
          <p:cNvSpPr/>
          <p:nvPr/>
        </p:nvSpPr>
        <p:spPr>
          <a:xfrm>
            <a:off x="4846320" y="3035808"/>
            <a:ext cx="320040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Analyse Prédictive</a:t>
            </a:r>
            <a:endParaRPr lang="en-US" sz="1200" dirty="0"/>
          </a:p>
        </p:txBody>
      </p:sp>
      <p:sp>
        <p:nvSpPr>
          <p:cNvPr id="23" name="Text 21"/>
          <p:cNvSpPr/>
          <p:nvPr/>
        </p:nvSpPr>
        <p:spPr>
          <a:xfrm>
            <a:off x="4846320" y="3401568"/>
            <a:ext cx="3840480" cy="256032"/>
          </a:xfrm>
          <a:prstGeom prst="rect">
            <a:avLst/>
          </a:prstGeom>
          <a:noFill/>
          <a:ln/>
        </p:spPr>
        <p:txBody>
          <a:bodyPr wrap="square" lIns="0" tIns="0" rIns="0" bIns="0" rtlCol="0" anchor="ctr"/>
          <a:lstStyle/>
          <a:p>
            <a:pPr indent="0" marL="0">
              <a:buNone/>
            </a:pPr>
            <a:r>
              <a:rPr lang="en-US" sz="850" i="1" dirty="0">
                <a:solidFill>
                  <a:srgbClr val="D97706"/>
                </a:solidFill>
                <a:latin typeface="Calibri" pitchFamily="34" charset="0"/>
                <a:ea typeface="Calibri" pitchFamily="34" charset="-122"/>
                <a:cs typeface="Calibri" pitchFamily="34" charset="-120"/>
              </a:rPr>
              <a:t>Time Series · Anomaly Detection</a:t>
            </a:r>
            <a:endParaRPr lang="en-US" sz="850" dirty="0"/>
          </a:p>
        </p:txBody>
      </p:sp>
      <p:sp>
        <p:nvSpPr>
          <p:cNvPr id="24" name="Text 22"/>
          <p:cNvSpPr/>
          <p:nvPr/>
        </p:nvSpPr>
        <p:spPr>
          <a:xfrm>
            <a:off x="4846320" y="3675888"/>
            <a:ext cx="3886200" cy="932688"/>
          </a:xfrm>
          <a:prstGeom prst="rect">
            <a:avLst/>
          </a:prstGeom>
          <a:noFill/>
          <a:ln/>
        </p:spPr>
        <p:txBody>
          <a:bodyPr wrap="square" lIns="0" tIns="0" rIns="0" bIns="0" rtlCol="0" anchor="t"/>
          <a:lstStyle/>
          <a:p>
            <a:pPr indent="0" marL="0">
              <a:buNone/>
            </a:pPr>
            <a:r>
              <a:rPr lang="en-US" sz="880" dirty="0">
                <a:solidFill>
                  <a:srgbClr val="90B4CC"/>
                </a:solidFill>
                <a:latin typeface="Calibri" pitchFamily="34" charset="0"/>
                <a:ea typeface="Calibri" pitchFamily="34" charset="-122"/>
                <a:cs typeface="Calibri" pitchFamily="34" charset="-120"/>
              </a:rPr>
              <a:t>Les données historiques des tickets alimentent des modèles d'analyse temporelle permettant de détecter les pics de charge, d'identifier les anomalies récurrentes et de prédire les risques de dépassement de SLA avant qu'ils ne surviennent, en alertant proactivement les managers.</a:t>
            </a:r>
            <a:endParaRPr lang="en-US" sz="8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OUTILS &amp; TECHNOLOGIES UTILISÉS</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Stack technique de la plateforme Helpdesk IA</a:t>
            </a:r>
            <a:endParaRPr lang="en-US" sz="1100" dirty="0"/>
          </a:p>
        </p:txBody>
      </p:sp>
      <p:sp>
        <p:nvSpPr>
          <p:cNvPr id="5" name="Shape 3"/>
          <p:cNvSpPr/>
          <p:nvPr/>
        </p:nvSpPr>
        <p:spPr>
          <a:xfrm>
            <a:off x="274320" y="987552"/>
            <a:ext cx="2788920" cy="178308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987552"/>
            <a:ext cx="2788920" cy="502920"/>
          </a:xfrm>
          <a:prstGeom prst="rect">
            <a:avLst/>
          </a:prstGeom>
          <a:solidFill>
            <a:srgbClr val="1A3A8F"/>
          </a:solidFill>
          <a:ln w="12700">
            <a:solidFill>
              <a:srgbClr val="1A3A8F"/>
            </a:solidFill>
            <a:prstDash val="solid"/>
          </a:ln>
        </p:spPr>
      </p:sp>
      <p:sp>
        <p:nvSpPr>
          <p:cNvPr id="7" name="Text 5"/>
          <p:cNvSpPr/>
          <p:nvPr/>
        </p:nvSpPr>
        <p:spPr>
          <a:xfrm>
            <a:off x="365760" y="1078992"/>
            <a:ext cx="260604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Frontend</a:t>
            </a:r>
            <a:endParaRPr lang="en-US" sz="1000" dirty="0"/>
          </a:p>
        </p:txBody>
      </p:sp>
      <p:sp>
        <p:nvSpPr>
          <p:cNvPr id="8" name="Text 6"/>
          <p:cNvSpPr/>
          <p:nvPr/>
        </p:nvSpPr>
        <p:spPr>
          <a:xfrm>
            <a:off x="411480" y="1581912"/>
            <a:ext cx="2578608" cy="228600"/>
          </a:xfrm>
          <a:prstGeom prst="rect">
            <a:avLst/>
          </a:prstGeom>
          <a:noFill/>
          <a:ln/>
        </p:spPr>
        <p:txBody>
          <a:bodyPr wrap="square" lIns="0" tIns="0" rIns="0" bIns="0" rtlCol="0" anchor="ctr"/>
          <a:lstStyle/>
          <a:p>
            <a:pPr indent="0" marL="0">
              <a:buNone/>
            </a:pPr>
            <a:r>
              <a:rPr lang="en-US" sz="950" b="1" dirty="0">
                <a:solidFill>
                  <a:srgbClr val="1A3A8F"/>
                </a:solidFill>
                <a:latin typeface="Calibri" pitchFamily="34" charset="0"/>
                <a:ea typeface="Calibri" pitchFamily="34" charset="-122"/>
                <a:cs typeface="Calibri" pitchFamily="34" charset="-120"/>
              </a:rPr>
              <a:t>Angular / React</a:t>
            </a:r>
            <a:endParaRPr lang="en-US" sz="950" dirty="0"/>
          </a:p>
        </p:txBody>
      </p:sp>
      <p:sp>
        <p:nvSpPr>
          <p:cNvPr id="9" name="Text 7"/>
          <p:cNvSpPr/>
          <p:nvPr/>
        </p:nvSpPr>
        <p:spPr>
          <a:xfrm>
            <a:off x="411480" y="1810512"/>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Framework SPA – Interface utilisateur responsive et reactive</a:t>
            </a:r>
            <a:endParaRPr lang="en-US" sz="820" dirty="0"/>
          </a:p>
        </p:txBody>
      </p:sp>
      <p:sp>
        <p:nvSpPr>
          <p:cNvPr id="10" name="Text 8"/>
          <p:cNvSpPr/>
          <p:nvPr/>
        </p:nvSpPr>
        <p:spPr>
          <a:xfrm>
            <a:off x="411480" y="2148840"/>
            <a:ext cx="2578608" cy="228600"/>
          </a:xfrm>
          <a:prstGeom prst="rect">
            <a:avLst/>
          </a:prstGeom>
          <a:noFill/>
          <a:ln/>
        </p:spPr>
        <p:txBody>
          <a:bodyPr wrap="square" lIns="0" tIns="0" rIns="0" bIns="0" rtlCol="0" anchor="ctr"/>
          <a:lstStyle/>
          <a:p>
            <a:pPr indent="0" marL="0">
              <a:buNone/>
            </a:pPr>
            <a:r>
              <a:rPr lang="en-US" sz="950" b="1" dirty="0">
                <a:solidFill>
                  <a:srgbClr val="1A3A8F"/>
                </a:solidFill>
                <a:latin typeface="Calibri" pitchFamily="34" charset="0"/>
                <a:ea typeface="Calibri" pitchFamily="34" charset="-122"/>
                <a:cs typeface="Calibri" pitchFamily="34" charset="-120"/>
              </a:rPr>
              <a:t>TypeScript</a:t>
            </a:r>
            <a:endParaRPr lang="en-US" sz="950" dirty="0"/>
          </a:p>
        </p:txBody>
      </p:sp>
      <p:sp>
        <p:nvSpPr>
          <p:cNvPr id="11" name="Text 9"/>
          <p:cNvSpPr/>
          <p:nvPr/>
        </p:nvSpPr>
        <p:spPr>
          <a:xfrm>
            <a:off x="411480" y="2377440"/>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Typage statique – Fiabilité et maintenabilité du code frontend</a:t>
            </a:r>
            <a:endParaRPr lang="en-US" sz="820" dirty="0"/>
          </a:p>
        </p:txBody>
      </p:sp>
      <p:sp>
        <p:nvSpPr>
          <p:cNvPr id="12" name="Shape 10"/>
          <p:cNvSpPr/>
          <p:nvPr/>
        </p:nvSpPr>
        <p:spPr>
          <a:xfrm>
            <a:off x="3200400" y="987552"/>
            <a:ext cx="2788920" cy="178308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200400" y="987552"/>
            <a:ext cx="2788920" cy="502920"/>
          </a:xfrm>
          <a:prstGeom prst="rect">
            <a:avLst/>
          </a:prstGeom>
          <a:solidFill>
            <a:srgbClr val="10B981"/>
          </a:solidFill>
          <a:ln w="12700">
            <a:solidFill>
              <a:srgbClr val="10B981"/>
            </a:solidFill>
            <a:prstDash val="solid"/>
          </a:ln>
        </p:spPr>
      </p:sp>
      <p:sp>
        <p:nvSpPr>
          <p:cNvPr id="14" name="Text 12"/>
          <p:cNvSpPr/>
          <p:nvPr/>
        </p:nvSpPr>
        <p:spPr>
          <a:xfrm>
            <a:off x="3291840" y="1078992"/>
            <a:ext cx="260604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Backend</a:t>
            </a:r>
            <a:endParaRPr lang="en-US" sz="1000" dirty="0"/>
          </a:p>
        </p:txBody>
      </p:sp>
      <p:sp>
        <p:nvSpPr>
          <p:cNvPr id="15" name="Text 13"/>
          <p:cNvSpPr/>
          <p:nvPr/>
        </p:nvSpPr>
        <p:spPr>
          <a:xfrm>
            <a:off x="3337560" y="1581912"/>
            <a:ext cx="2578608" cy="228600"/>
          </a:xfrm>
          <a:prstGeom prst="rect">
            <a:avLst/>
          </a:prstGeom>
          <a:noFill/>
          <a:ln/>
        </p:spPr>
        <p:txBody>
          <a:bodyPr wrap="square" lIns="0" tIns="0" rIns="0" bIns="0" rtlCol="0" anchor="ctr"/>
          <a:lstStyle/>
          <a:p>
            <a:pPr indent="0" marL="0">
              <a:buNone/>
            </a:pPr>
            <a:r>
              <a:rPr lang="en-US" sz="950" b="1" dirty="0">
                <a:solidFill>
                  <a:srgbClr val="10B981"/>
                </a:solidFill>
                <a:latin typeface="Calibri" pitchFamily="34" charset="0"/>
                <a:ea typeface="Calibri" pitchFamily="34" charset="-122"/>
                <a:cs typeface="Calibri" pitchFamily="34" charset="-120"/>
              </a:rPr>
              <a:t>Node.js / Spring Boot</a:t>
            </a:r>
            <a:endParaRPr lang="en-US" sz="950" dirty="0"/>
          </a:p>
        </p:txBody>
      </p:sp>
      <p:sp>
        <p:nvSpPr>
          <p:cNvPr id="16" name="Text 14"/>
          <p:cNvSpPr/>
          <p:nvPr/>
        </p:nvSpPr>
        <p:spPr>
          <a:xfrm>
            <a:off x="3337560" y="1810512"/>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Serveur REST API – Logique métier et gestion des services</a:t>
            </a:r>
            <a:endParaRPr lang="en-US" sz="820" dirty="0"/>
          </a:p>
        </p:txBody>
      </p:sp>
      <p:sp>
        <p:nvSpPr>
          <p:cNvPr id="17" name="Text 15"/>
          <p:cNvSpPr/>
          <p:nvPr/>
        </p:nvSpPr>
        <p:spPr>
          <a:xfrm>
            <a:off x="3337560" y="2148840"/>
            <a:ext cx="2578608" cy="228600"/>
          </a:xfrm>
          <a:prstGeom prst="rect">
            <a:avLst/>
          </a:prstGeom>
          <a:noFill/>
          <a:ln/>
        </p:spPr>
        <p:txBody>
          <a:bodyPr wrap="square" lIns="0" tIns="0" rIns="0" bIns="0" rtlCol="0" anchor="ctr"/>
          <a:lstStyle/>
          <a:p>
            <a:pPr indent="0" marL="0">
              <a:buNone/>
            </a:pPr>
            <a:r>
              <a:rPr lang="en-US" sz="950" b="1" dirty="0">
                <a:solidFill>
                  <a:srgbClr val="10B981"/>
                </a:solidFill>
                <a:latin typeface="Calibri" pitchFamily="34" charset="0"/>
                <a:ea typeface="Calibri" pitchFamily="34" charset="-122"/>
                <a:cs typeface="Calibri" pitchFamily="34" charset="-120"/>
              </a:rPr>
              <a:t>JWT / OAuth2</a:t>
            </a:r>
            <a:endParaRPr lang="en-US" sz="950" dirty="0"/>
          </a:p>
        </p:txBody>
      </p:sp>
      <p:sp>
        <p:nvSpPr>
          <p:cNvPr id="18" name="Text 16"/>
          <p:cNvSpPr/>
          <p:nvPr/>
        </p:nvSpPr>
        <p:spPr>
          <a:xfrm>
            <a:off x="3337560" y="2377440"/>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Authentification sécurisée et gestion des sessions</a:t>
            </a:r>
            <a:endParaRPr lang="en-US" sz="820" dirty="0"/>
          </a:p>
        </p:txBody>
      </p:sp>
      <p:sp>
        <p:nvSpPr>
          <p:cNvPr id="19" name="Shape 17"/>
          <p:cNvSpPr/>
          <p:nvPr/>
        </p:nvSpPr>
        <p:spPr>
          <a:xfrm>
            <a:off x="6126480" y="987552"/>
            <a:ext cx="2788920" cy="178308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6126480" y="987552"/>
            <a:ext cx="2788920" cy="502920"/>
          </a:xfrm>
          <a:prstGeom prst="rect">
            <a:avLst/>
          </a:prstGeom>
          <a:solidFill>
            <a:srgbClr val="7C3AED"/>
          </a:solidFill>
          <a:ln w="12700">
            <a:solidFill>
              <a:srgbClr val="7C3AED"/>
            </a:solidFill>
            <a:prstDash val="solid"/>
          </a:ln>
        </p:spPr>
      </p:sp>
      <p:sp>
        <p:nvSpPr>
          <p:cNvPr id="21" name="Text 19"/>
          <p:cNvSpPr/>
          <p:nvPr/>
        </p:nvSpPr>
        <p:spPr>
          <a:xfrm>
            <a:off x="6217920" y="1078992"/>
            <a:ext cx="260604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Intelligence Artificielle</a:t>
            </a:r>
            <a:endParaRPr lang="en-US" sz="1000" dirty="0"/>
          </a:p>
        </p:txBody>
      </p:sp>
      <p:sp>
        <p:nvSpPr>
          <p:cNvPr id="22" name="Text 20"/>
          <p:cNvSpPr/>
          <p:nvPr/>
        </p:nvSpPr>
        <p:spPr>
          <a:xfrm>
            <a:off x="6263640" y="1581912"/>
            <a:ext cx="2578608" cy="228600"/>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Python · spaCy · scikit-learn</a:t>
            </a:r>
            <a:endParaRPr lang="en-US" sz="950" dirty="0"/>
          </a:p>
        </p:txBody>
      </p:sp>
      <p:sp>
        <p:nvSpPr>
          <p:cNvPr id="23" name="Text 21"/>
          <p:cNvSpPr/>
          <p:nvPr/>
        </p:nvSpPr>
        <p:spPr>
          <a:xfrm>
            <a:off x="6263640" y="1810512"/>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NLP, classification automatique et modèles prédictifs</a:t>
            </a:r>
            <a:endParaRPr lang="en-US" sz="820" dirty="0"/>
          </a:p>
        </p:txBody>
      </p:sp>
      <p:sp>
        <p:nvSpPr>
          <p:cNvPr id="24" name="Text 22"/>
          <p:cNvSpPr/>
          <p:nvPr/>
        </p:nvSpPr>
        <p:spPr>
          <a:xfrm>
            <a:off x="6263640" y="2148840"/>
            <a:ext cx="2578608" cy="228600"/>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Rasa / Dialogflow</a:t>
            </a:r>
            <a:endParaRPr lang="en-US" sz="950" dirty="0"/>
          </a:p>
        </p:txBody>
      </p:sp>
      <p:sp>
        <p:nvSpPr>
          <p:cNvPr id="25" name="Text 23"/>
          <p:cNvSpPr/>
          <p:nvPr/>
        </p:nvSpPr>
        <p:spPr>
          <a:xfrm>
            <a:off x="6263640" y="2377440"/>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Framework chatbot – Compréhension du langage naturel</a:t>
            </a:r>
            <a:endParaRPr lang="en-US" sz="820" dirty="0"/>
          </a:p>
        </p:txBody>
      </p:sp>
      <p:sp>
        <p:nvSpPr>
          <p:cNvPr id="26" name="Shape 24"/>
          <p:cNvSpPr/>
          <p:nvPr/>
        </p:nvSpPr>
        <p:spPr>
          <a:xfrm>
            <a:off x="274320" y="2907792"/>
            <a:ext cx="2788920" cy="178308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274320" y="2907792"/>
            <a:ext cx="2788920" cy="502920"/>
          </a:xfrm>
          <a:prstGeom prst="rect">
            <a:avLst/>
          </a:prstGeom>
          <a:solidFill>
            <a:srgbClr val="F59E0B"/>
          </a:solidFill>
          <a:ln w="12700">
            <a:solidFill>
              <a:srgbClr val="F59E0B"/>
            </a:solidFill>
            <a:prstDash val="solid"/>
          </a:ln>
        </p:spPr>
      </p:sp>
      <p:sp>
        <p:nvSpPr>
          <p:cNvPr id="28" name="Text 26"/>
          <p:cNvSpPr/>
          <p:nvPr/>
        </p:nvSpPr>
        <p:spPr>
          <a:xfrm>
            <a:off x="365760" y="2999232"/>
            <a:ext cx="260604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Base de données</a:t>
            </a:r>
            <a:endParaRPr lang="en-US" sz="1000" dirty="0"/>
          </a:p>
        </p:txBody>
      </p:sp>
      <p:sp>
        <p:nvSpPr>
          <p:cNvPr id="29" name="Text 27"/>
          <p:cNvSpPr/>
          <p:nvPr/>
        </p:nvSpPr>
        <p:spPr>
          <a:xfrm>
            <a:off x="411480" y="3502152"/>
            <a:ext cx="2578608" cy="228600"/>
          </a:xfrm>
          <a:prstGeom prst="rect">
            <a:avLst/>
          </a:prstGeom>
          <a:noFill/>
          <a:ln/>
        </p:spPr>
        <p:txBody>
          <a:bodyPr wrap="square" lIns="0" tIns="0" rIns="0" bIns="0" rtlCol="0" anchor="ctr"/>
          <a:lstStyle/>
          <a:p>
            <a:pPr indent="0" marL="0">
              <a:buNone/>
            </a:pPr>
            <a:r>
              <a:rPr lang="en-US" sz="950" b="1" dirty="0">
                <a:solidFill>
                  <a:srgbClr val="F59E0B"/>
                </a:solidFill>
                <a:latin typeface="Calibri" pitchFamily="34" charset="0"/>
                <a:ea typeface="Calibri" pitchFamily="34" charset="-122"/>
                <a:cs typeface="Calibri" pitchFamily="34" charset="-120"/>
              </a:rPr>
              <a:t>MySQL</a:t>
            </a:r>
            <a:endParaRPr lang="en-US" sz="950" dirty="0"/>
          </a:p>
        </p:txBody>
      </p:sp>
      <p:sp>
        <p:nvSpPr>
          <p:cNvPr id="30" name="Text 28"/>
          <p:cNvSpPr/>
          <p:nvPr/>
        </p:nvSpPr>
        <p:spPr>
          <a:xfrm>
            <a:off x="411480" y="3730752"/>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Données structurées – Tickets, utilisateurs, SLA, rôles</a:t>
            </a:r>
            <a:endParaRPr lang="en-US" sz="820" dirty="0"/>
          </a:p>
        </p:txBody>
      </p:sp>
      <p:sp>
        <p:nvSpPr>
          <p:cNvPr id="31" name="Text 29"/>
          <p:cNvSpPr/>
          <p:nvPr/>
        </p:nvSpPr>
        <p:spPr>
          <a:xfrm>
            <a:off x="411480" y="4069080"/>
            <a:ext cx="2578608" cy="228600"/>
          </a:xfrm>
          <a:prstGeom prst="rect">
            <a:avLst/>
          </a:prstGeom>
          <a:noFill/>
          <a:ln/>
        </p:spPr>
        <p:txBody>
          <a:bodyPr wrap="square" lIns="0" tIns="0" rIns="0" bIns="0" rtlCol="0" anchor="ctr"/>
          <a:lstStyle/>
          <a:p>
            <a:pPr indent="0" marL="0">
              <a:buNone/>
            </a:pPr>
            <a:r>
              <a:rPr lang="en-US" sz="950" b="1" dirty="0">
                <a:solidFill>
                  <a:srgbClr val="F59E0B"/>
                </a:solidFill>
                <a:latin typeface="Calibri" pitchFamily="34" charset="0"/>
                <a:ea typeface="Calibri" pitchFamily="34" charset="-122"/>
                <a:cs typeface="Calibri" pitchFamily="34" charset="-120"/>
              </a:rPr>
              <a:t>MongoDB</a:t>
            </a:r>
            <a:endParaRPr lang="en-US" sz="950" dirty="0"/>
          </a:p>
        </p:txBody>
      </p:sp>
      <p:sp>
        <p:nvSpPr>
          <p:cNvPr id="32" name="Text 30"/>
          <p:cNvSpPr/>
          <p:nvPr/>
        </p:nvSpPr>
        <p:spPr>
          <a:xfrm>
            <a:off x="411480" y="4297680"/>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Stockage NoSQL – Logs, historique, base de connaissances</a:t>
            </a:r>
            <a:endParaRPr lang="en-US" sz="820" dirty="0"/>
          </a:p>
        </p:txBody>
      </p:sp>
      <p:sp>
        <p:nvSpPr>
          <p:cNvPr id="33" name="Shape 31"/>
          <p:cNvSpPr/>
          <p:nvPr/>
        </p:nvSpPr>
        <p:spPr>
          <a:xfrm>
            <a:off x="3200400" y="2907792"/>
            <a:ext cx="2788920" cy="178308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3200400" y="2907792"/>
            <a:ext cx="2788920" cy="502920"/>
          </a:xfrm>
          <a:prstGeom prst="rect">
            <a:avLst/>
          </a:prstGeom>
          <a:solidFill>
            <a:srgbClr val="0F766E"/>
          </a:solidFill>
          <a:ln w="12700">
            <a:solidFill>
              <a:srgbClr val="0F766E"/>
            </a:solidFill>
            <a:prstDash val="solid"/>
          </a:ln>
        </p:spPr>
      </p:sp>
      <p:sp>
        <p:nvSpPr>
          <p:cNvPr id="35" name="Text 33"/>
          <p:cNvSpPr/>
          <p:nvPr/>
        </p:nvSpPr>
        <p:spPr>
          <a:xfrm>
            <a:off x="3291840" y="2999232"/>
            <a:ext cx="260604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DevOps &amp; Infrastructure</a:t>
            </a:r>
            <a:endParaRPr lang="en-US" sz="1000" dirty="0"/>
          </a:p>
        </p:txBody>
      </p:sp>
      <p:sp>
        <p:nvSpPr>
          <p:cNvPr id="36" name="Text 34"/>
          <p:cNvSpPr/>
          <p:nvPr/>
        </p:nvSpPr>
        <p:spPr>
          <a:xfrm>
            <a:off x="3337560" y="3502152"/>
            <a:ext cx="2578608" cy="228600"/>
          </a:xfrm>
          <a:prstGeom prst="rect">
            <a:avLst/>
          </a:prstGeom>
          <a:noFill/>
          <a:ln/>
        </p:spPr>
        <p:txBody>
          <a:bodyPr wrap="square" lIns="0" tIns="0" rIns="0" bIns="0" rtlCol="0" anchor="ctr"/>
          <a:lstStyle/>
          <a:p>
            <a:pPr indent="0" marL="0">
              <a:buNone/>
            </a:pPr>
            <a:r>
              <a:rPr lang="en-US" sz="950" b="1" dirty="0">
                <a:solidFill>
                  <a:srgbClr val="0F766E"/>
                </a:solidFill>
                <a:latin typeface="Calibri" pitchFamily="34" charset="0"/>
                <a:ea typeface="Calibri" pitchFamily="34" charset="-122"/>
                <a:cs typeface="Calibri" pitchFamily="34" charset="-120"/>
              </a:rPr>
              <a:t>Docker / Kubernetes</a:t>
            </a:r>
            <a:endParaRPr lang="en-US" sz="950" dirty="0"/>
          </a:p>
        </p:txBody>
      </p:sp>
      <p:sp>
        <p:nvSpPr>
          <p:cNvPr id="37" name="Text 35"/>
          <p:cNvSpPr/>
          <p:nvPr/>
        </p:nvSpPr>
        <p:spPr>
          <a:xfrm>
            <a:off x="3337560" y="3730752"/>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Containerisation et orchestration des microservices</a:t>
            </a:r>
            <a:endParaRPr lang="en-US" sz="820" dirty="0"/>
          </a:p>
        </p:txBody>
      </p:sp>
      <p:sp>
        <p:nvSpPr>
          <p:cNvPr id="38" name="Text 36"/>
          <p:cNvSpPr/>
          <p:nvPr/>
        </p:nvSpPr>
        <p:spPr>
          <a:xfrm>
            <a:off x="3337560" y="4069080"/>
            <a:ext cx="2578608" cy="228600"/>
          </a:xfrm>
          <a:prstGeom prst="rect">
            <a:avLst/>
          </a:prstGeom>
          <a:noFill/>
          <a:ln/>
        </p:spPr>
        <p:txBody>
          <a:bodyPr wrap="square" lIns="0" tIns="0" rIns="0" bIns="0" rtlCol="0" anchor="ctr"/>
          <a:lstStyle/>
          <a:p>
            <a:pPr indent="0" marL="0">
              <a:buNone/>
            </a:pPr>
            <a:r>
              <a:rPr lang="en-US" sz="950" b="1" dirty="0">
                <a:solidFill>
                  <a:srgbClr val="0F766E"/>
                </a:solidFill>
                <a:latin typeface="Calibri" pitchFamily="34" charset="0"/>
                <a:ea typeface="Calibri" pitchFamily="34" charset="-122"/>
                <a:cs typeface="Calibri" pitchFamily="34" charset="-120"/>
              </a:rPr>
              <a:t>Git / GitHub Actions</a:t>
            </a:r>
            <a:endParaRPr lang="en-US" sz="950" dirty="0"/>
          </a:p>
        </p:txBody>
      </p:sp>
      <p:sp>
        <p:nvSpPr>
          <p:cNvPr id="39" name="Text 37"/>
          <p:cNvSpPr/>
          <p:nvPr/>
        </p:nvSpPr>
        <p:spPr>
          <a:xfrm>
            <a:off x="3337560" y="4297680"/>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Contrôle de version et pipeline CI/CD automatisé</a:t>
            </a:r>
            <a:endParaRPr lang="en-US" sz="820" dirty="0"/>
          </a:p>
        </p:txBody>
      </p:sp>
      <p:sp>
        <p:nvSpPr>
          <p:cNvPr id="40" name="Shape 38"/>
          <p:cNvSpPr/>
          <p:nvPr/>
        </p:nvSpPr>
        <p:spPr>
          <a:xfrm>
            <a:off x="6126480" y="2907792"/>
            <a:ext cx="2788920" cy="178308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6126480" y="2907792"/>
            <a:ext cx="2788920" cy="502920"/>
          </a:xfrm>
          <a:prstGeom prst="rect">
            <a:avLst/>
          </a:prstGeom>
          <a:solidFill>
            <a:srgbClr val="2EC4F3"/>
          </a:solidFill>
          <a:ln w="12700">
            <a:solidFill>
              <a:srgbClr val="2EC4F3"/>
            </a:solidFill>
            <a:prstDash val="solid"/>
          </a:ln>
        </p:spPr>
      </p:sp>
      <p:sp>
        <p:nvSpPr>
          <p:cNvPr id="42" name="Text 40"/>
          <p:cNvSpPr/>
          <p:nvPr/>
        </p:nvSpPr>
        <p:spPr>
          <a:xfrm>
            <a:off x="6217920" y="2999232"/>
            <a:ext cx="260604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Intégrations</a:t>
            </a:r>
            <a:endParaRPr lang="en-US" sz="1000" dirty="0"/>
          </a:p>
        </p:txBody>
      </p:sp>
      <p:sp>
        <p:nvSpPr>
          <p:cNvPr id="43" name="Text 41"/>
          <p:cNvSpPr/>
          <p:nvPr/>
        </p:nvSpPr>
        <p:spPr>
          <a:xfrm>
            <a:off x="6263640" y="3502152"/>
            <a:ext cx="2578608" cy="228600"/>
          </a:xfrm>
          <a:prstGeom prst="rect">
            <a:avLst/>
          </a:prstGeom>
          <a:noFill/>
          <a:ln/>
        </p:spPr>
        <p:txBody>
          <a:bodyPr wrap="square" lIns="0" tIns="0" rIns="0" bIns="0" rtlCol="0" anchor="ctr"/>
          <a:lstStyle/>
          <a:p>
            <a:pPr indent="0" marL="0">
              <a:buNone/>
            </a:pPr>
            <a:r>
              <a:rPr lang="en-US" sz="950" b="1" dirty="0">
                <a:solidFill>
                  <a:srgbClr val="2EC4F3"/>
                </a:solidFill>
                <a:latin typeface="Calibri" pitchFamily="34" charset="0"/>
                <a:ea typeface="Calibri" pitchFamily="34" charset="-122"/>
                <a:cs typeface="Calibri" pitchFamily="34" charset="-120"/>
              </a:rPr>
              <a:t>LDAP / Active Directory</a:t>
            </a:r>
            <a:endParaRPr lang="en-US" sz="950" dirty="0"/>
          </a:p>
        </p:txBody>
      </p:sp>
      <p:sp>
        <p:nvSpPr>
          <p:cNvPr id="44" name="Text 42"/>
          <p:cNvSpPr/>
          <p:nvPr/>
        </p:nvSpPr>
        <p:spPr>
          <a:xfrm>
            <a:off x="6263640" y="3730752"/>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Annuaire d'entreprise pour l'authentification centralisée</a:t>
            </a:r>
            <a:endParaRPr lang="en-US" sz="820" dirty="0"/>
          </a:p>
        </p:txBody>
      </p:sp>
      <p:sp>
        <p:nvSpPr>
          <p:cNvPr id="45" name="Text 43"/>
          <p:cNvSpPr/>
          <p:nvPr/>
        </p:nvSpPr>
        <p:spPr>
          <a:xfrm>
            <a:off x="6263640" y="4069080"/>
            <a:ext cx="2578608" cy="228600"/>
          </a:xfrm>
          <a:prstGeom prst="rect">
            <a:avLst/>
          </a:prstGeom>
          <a:noFill/>
          <a:ln/>
        </p:spPr>
        <p:txBody>
          <a:bodyPr wrap="square" lIns="0" tIns="0" rIns="0" bIns="0" rtlCol="0" anchor="ctr"/>
          <a:lstStyle/>
          <a:p>
            <a:pPr indent="0" marL="0">
              <a:buNone/>
            </a:pPr>
            <a:r>
              <a:rPr lang="en-US" sz="950" b="1" dirty="0">
                <a:solidFill>
                  <a:srgbClr val="2EC4F3"/>
                </a:solidFill>
                <a:latin typeface="Calibri" pitchFamily="34" charset="0"/>
                <a:ea typeface="Calibri" pitchFamily="34" charset="-122"/>
                <a:cs typeface="Calibri" pitchFamily="34" charset="-120"/>
              </a:rPr>
              <a:t>SMTP / WebSocket</a:t>
            </a:r>
            <a:endParaRPr lang="en-US" sz="950" dirty="0"/>
          </a:p>
        </p:txBody>
      </p:sp>
      <p:sp>
        <p:nvSpPr>
          <p:cNvPr id="46" name="Text 44"/>
          <p:cNvSpPr/>
          <p:nvPr/>
        </p:nvSpPr>
        <p:spPr>
          <a:xfrm>
            <a:off x="6263640" y="4297680"/>
            <a:ext cx="2578608" cy="256032"/>
          </a:xfrm>
          <a:prstGeom prst="rect">
            <a:avLst/>
          </a:prstGeom>
          <a:noFill/>
          <a:ln/>
        </p:spPr>
        <p:txBody>
          <a:bodyPr wrap="square" lIns="0" tIns="0" rIns="0" bIns="0" rtlCol="0" anchor="ctr"/>
          <a:lstStyle/>
          <a:p>
            <a:pPr indent="0" marL="0">
              <a:buNone/>
            </a:pPr>
            <a:r>
              <a:rPr lang="en-US" sz="820" dirty="0">
                <a:solidFill>
                  <a:srgbClr val="64748B"/>
                </a:solidFill>
                <a:latin typeface="Calibri" pitchFamily="34" charset="0"/>
                <a:ea typeface="Calibri" pitchFamily="34" charset="-122"/>
                <a:cs typeface="Calibri" pitchFamily="34" charset="-120"/>
              </a:rPr>
              <a:t>Notifications email en temps réel et communication live</a:t>
            </a:r>
            <a:endParaRPr lang="en-US" sz="8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MÉTHODOLOGIE DE DÉVELOPPEMENT</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Approche Agile / Scrum appliquée au projet Helpdesk IA</a:t>
            </a:r>
            <a:endParaRPr lang="en-US" sz="1100" dirty="0"/>
          </a:p>
        </p:txBody>
      </p:sp>
      <p:sp>
        <p:nvSpPr>
          <p:cNvPr id="5" name="Text 3"/>
          <p:cNvSpPr/>
          <p:nvPr/>
        </p:nvSpPr>
        <p:spPr>
          <a:xfrm>
            <a:off x="320040" y="914400"/>
            <a:ext cx="8503920" cy="5486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La méthodologie Agile Scrum a été adoptée pour sa flexibilité et son adéquation avec les projets à périmètre évolutif. Le développement est organisé en sprints bimensuels permettant des livraisons incrémentales et des ajustements continus basés sur les retours des parties prenantes GEISER.</a:t>
            </a:r>
            <a:endParaRPr lang="en-US" sz="1000" dirty="0"/>
          </a:p>
        </p:txBody>
      </p:sp>
      <p:sp>
        <p:nvSpPr>
          <p:cNvPr id="6" name="Shape 4"/>
          <p:cNvSpPr/>
          <p:nvPr/>
        </p:nvSpPr>
        <p:spPr>
          <a:xfrm>
            <a:off x="274320" y="1572768"/>
            <a:ext cx="1572768" cy="3383280"/>
          </a:xfrm>
          <a:prstGeom prst="rect">
            <a:avLst/>
          </a:prstGeom>
          <a:solidFill>
            <a:srgbClr val="000000"/>
          </a:solidFill>
          <a:ln w="10160">
            <a:solidFill>
              <a:srgbClr val="000000"/>
            </a:solidFill>
            <a:prstDash val="solid"/>
          </a:ln>
        </p:spPr>
      </p:sp>
      <p:sp>
        <p:nvSpPr>
          <p:cNvPr id="7" name="Shape 5"/>
          <p:cNvSpPr/>
          <p:nvPr/>
        </p:nvSpPr>
        <p:spPr>
          <a:xfrm>
            <a:off x="274320" y="1572768"/>
            <a:ext cx="1572768" cy="594360"/>
          </a:xfrm>
          <a:prstGeom prst="rect">
            <a:avLst/>
          </a:prstGeom>
          <a:solidFill>
            <a:srgbClr val="1A3A8F"/>
          </a:solidFill>
          <a:ln w="12700">
            <a:solidFill>
              <a:srgbClr val="1A3A8F"/>
            </a:solidFill>
            <a:prstDash val="solid"/>
          </a:ln>
        </p:spPr>
      </p:sp>
      <p:sp>
        <p:nvSpPr>
          <p:cNvPr id="8" name="Text 6"/>
          <p:cNvSpPr/>
          <p:nvPr/>
        </p:nvSpPr>
        <p:spPr>
          <a:xfrm>
            <a:off x="274320" y="1627632"/>
            <a:ext cx="384048"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658368" y="1627632"/>
            <a:ext cx="1115568" cy="34747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Analyse des Besoins</a:t>
            </a:r>
            <a:endParaRPr lang="en-US" sz="850" dirty="0"/>
          </a:p>
        </p:txBody>
      </p:sp>
      <p:sp>
        <p:nvSpPr>
          <p:cNvPr id="10" name="Text 8"/>
          <p:cNvSpPr/>
          <p:nvPr/>
        </p:nvSpPr>
        <p:spPr>
          <a:xfrm>
            <a:off x="274320" y="2212848"/>
            <a:ext cx="1572768" cy="274320"/>
          </a:xfrm>
          <a:prstGeom prst="rect">
            <a:avLst/>
          </a:prstGeom>
          <a:noFill/>
          <a:ln/>
        </p:spPr>
        <p:txBody>
          <a:bodyPr wrap="square" lIns="0" tIns="0" rIns="0" bIns="0" rtlCol="0" anchor="ctr"/>
          <a:lstStyle/>
          <a:p>
            <a:pPr algn="ctr" indent="0" marL="0">
              <a:buNone/>
            </a:pPr>
            <a:r>
              <a:rPr lang="en-US" sz="750" i="1" dirty="0">
                <a:solidFill>
                  <a:srgbClr val="1A3A8F"/>
                </a:solidFill>
                <a:latin typeface="Calibri" pitchFamily="34" charset="0"/>
                <a:ea typeface="Calibri" pitchFamily="34" charset="-122"/>
                <a:cs typeface="Calibri" pitchFamily="34" charset="-120"/>
              </a:rPr>
              <a:t>Mars 2026 – 3 sem.</a:t>
            </a:r>
            <a:endParaRPr lang="en-US" sz="750" dirty="0"/>
          </a:p>
        </p:txBody>
      </p:sp>
      <p:sp>
        <p:nvSpPr>
          <p:cNvPr id="11" name="Text 9"/>
          <p:cNvSpPr/>
          <p:nvPr/>
        </p:nvSpPr>
        <p:spPr>
          <a:xfrm>
            <a:off x="347472" y="2514600"/>
            <a:ext cx="1444752" cy="2331720"/>
          </a:xfrm>
          <a:prstGeom prst="rect">
            <a:avLst/>
          </a:prstGeom>
          <a:noFill/>
          <a:ln/>
        </p:spPr>
        <p:txBody>
          <a:bodyPr wrap="square" rtlCol="0" anchor="t"/>
          <a:lstStyle/>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Réunions avec les équipes GEISER</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Rédaction des spécifications fonctionnelles</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Modélisation des cas d'usage (UML)</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Validation du périmètre fonctionnel</a:t>
            </a:r>
            <a:endParaRPr lang="en-US" sz="800" dirty="0"/>
          </a:p>
        </p:txBody>
      </p:sp>
      <p:sp>
        <p:nvSpPr>
          <p:cNvPr id="12" name="Shape 10"/>
          <p:cNvSpPr/>
          <p:nvPr/>
        </p:nvSpPr>
        <p:spPr>
          <a:xfrm>
            <a:off x="1993392" y="1572768"/>
            <a:ext cx="1572768" cy="3383280"/>
          </a:xfrm>
          <a:prstGeom prst="rect">
            <a:avLst/>
          </a:prstGeom>
          <a:solidFill>
            <a:srgbClr val="000000"/>
          </a:solidFill>
          <a:ln w="10160">
            <a:solidFill>
              <a:srgbClr val="000000"/>
            </a:solidFill>
            <a:prstDash val="solid"/>
          </a:ln>
        </p:spPr>
      </p:sp>
      <p:sp>
        <p:nvSpPr>
          <p:cNvPr id="13" name="Shape 11"/>
          <p:cNvSpPr/>
          <p:nvPr/>
        </p:nvSpPr>
        <p:spPr>
          <a:xfrm>
            <a:off x="1993392" y="1572768"/>
            <a:ext cx="1572768" cy="594360"/>
          </a:xfrm>
          <a:prstGeom prst="rect">
            <a:avLst/>
          </a:prstGeom>
          <a:solidFill>
            <a:srgbClr val="7C3AED"/>
          </a:solidFill>
          <a:ln w="12700">
            <a:solidFill>
              <a:srgbClr val="7C3AED"/>
            </a:solidFill>
            <a:prstDash val="solid"/>
          </a:ln>
        </p:spPr>
      </p:sp>
      <p:sp>
        <p:nvSpPr>
          <p:cNvPr id="14" name="Text 12"/>
          <p:cNvSpPr/>
          <p:nvPr/>
        </p:nvSpPr>
        <p:spPr>
          <a:xfrm>
            <a:off x="1993392" y="1627632"/>
            <a:ext cx="384048"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2377440" y="1627632"/>
            <a:ext cx="1115568" cy="34747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Conception</a:t>
            </a:r>
            <a:endParaRPr lang="en-US" sz="850" dirty="0"/>
          </a:p>
        </p:txBody>
      </p:sp>
      <p:sp>
        <p:nvSpPr>
          <p:cNvPr id="16" name="Text 14"/>
          <p:cNvSpPr/>
          <p:nvPr/>
        </p:nvSpPr>
        <p:spPr>
          <a:xfrm>
            <a:off x="1993392" y="2212848"/>
            <a:ext cx="1572768" cy="274320"/>
          </a:xfrm>
          <a:prstGeom prst="rect">
            <a:avLst/>
          </a:prstGeom>
          <a:noFill/>
          <a:ln/>
        </p:spPr>
        <p:txBody>
          <a:bodyPr wrap="square" lIns="0" tIns="0" rIns="0" bIns="0" rtlCol="0" anchor="ctr"/>
          <a:lstStyle/>
          <a:p>
            <a:pPr algn="ctr" indent="0" marL="0">
              <a:buNone/>
            </a:pPr>
            <a:r>
              <a:rPr lang="en-US" sz="750" i="1" dirty="0">
                <a:solidFill>
                  <a:srgbClr val="7C3AED"/>
                </a:solidFill>
                <a:latin typeface="Calibri" pitchFamily="34" charset="0"/>
                <a:ea typeface="Calibri" pitchFamily="34" charset="-122"/>
                <a:cs typeface="Calibri" pitchFamily="34" charset="-120"/>
              </a:rPr>
              <a:t>Avr. 2026 – 2 sem.</a:t>
            </a:r>
            <a:endParaRPr lang="en-US" sz="750" dirty="0"/>
          </a:p>
        </p:txBody>
      </p:sp>
      <p:sp>
        <p:nvSpPr>
          <p:cNvPr id="17" name="Text 15"/>
          <p:cNvSpPr/>
          <p:nvPr/>
        </p:nvSpPr>
        <p:spPr>
          <a:xfrm>
            <a:off x="2066544" y="2514600"/>
            <a:ext cx="1444752" cy="2331720"/>
          </a:xfrm>
          <a:prstGeom prst="rect">
            <a:avLst/>
          </a:prstGeom>
          <a:noFill/>
          <a:ln/>
        </p:spPr>
        <p:txBody>
          <a:bodyPr wrap="square" rtlCol="0" anchor="t"/>
          <a:lstStyle/>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Architecture technique du système</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Modélisation BDD (MCD, MLD)</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Maquettes UX/UI (wireframes)</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Choix des technologies</a:t>
            </a:r>
            <a:endParaRPr lang="en-US" sz="800" dirty="0"/>
          </a:p>
        </p:txBody>
      </p:sp>
      <p:sp>
        <p:nvSpPr>
          <p:cNvPr id="18" name="Shape 16"/>
          <p:cNvSpPr/>
          <p:nvPr/>
        </p:nvSpPr>
        <p:spPr>
          <a:xfrm>
            <a:off x="3712464" y="1572768"/>
            <a:ext cx="1572768" cy="3383280"/>
          </a:xfrm>
          <a:prstGeom prst="rect">
            <a:avLst/>
          </a:prstGeom>
          <a:solidFill>
            <a:srgbClr val="000000"/>
          </a:solidFill>
          <a:ln w="10160">
            <a:solidFill>
              <a:srgbClr val="000000"/>
            </a:solidFill>
            <a:prstDash val="solid"/>
          </a:ln>
        </p:spPr>
      </p:sp>
      <p:sp>
        <p:nvSpPr>
          <p:cNvPr id="19" name="Shape 17"/>
          <p:cNvSpPr/>
          <p:nvPr/>
        </p:nvSpPr>
        <p:spPr>
          <a:xfrm>
            <a:off x="3712464" y="1572768"/>
            <a:ext cx="1572768" cy="594360"/>
          </a:xfrm>
          <a:prstGeom prst="rect">
            <a:avLst/>
          </a:prstGeom>
          <a:solidFill>
            <a:srgbClr val="10B981"/>
          </a:solidFill>
          <a:ln w="12700">
            <a:solidFill>
              <a:srgbClr val="10B981"/>
            </a:solidFill>
            <a:prstDash val="solid"/>
          </a:ln>
        </p:spPr>
      </p:sp>
      <p:sp>
        <p:nvSpPr>
          <p:cNvPr id="20" name="Text 18"/>
          <p:cNvSpPr/>
          <p:nvPr/>
        </p:nvSpPr>
        <p:spPr>
          <a:xfrm>
            <a:off x="3712464" y="1627632"/>
            <a:ext cx="384048"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4096512" y="1627632"/>
            <a:ext cx="1115568" cy="34747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Développement</a:t>
            </a:r>
            <a:endParaRPr lang="en-US" sz="850" dirty="0"/>
          </a:p>
        </p:txBody>
      </p:sp>
      <p:sp>
        <p:nvSpPr>
          <p:cNvPr id="22" name="Text 20"/>
          <p:cNvSpPr/>
          <p:nvPr/>
        </p:nvSpPr>
        <p:spPr>
          <a:xfrm>
            <a:off x="3712464" y="2212848"/>
            <a:ext cx="1572768" cy="274320"/>
          </a:xfrm>
          <a:prstGeom prst="rect">
            <a:avLst/>
          </a:prstGeom>
          <a:noFill/>
          <a:ln/>
        </p:spPr>
        <p:txBody>
          <a:bodyPr wrap="square" lIns="0" tIns="0" rIns="0" bIns="0" rtlCol="0" anchor="ctr"/>
          <a:lstStyle/>
          <a:p>
            <a:pPr algn="ctr" indent="0" marL="0">
              <a:buNone/>
            </a:pPr>
            <a:r>
              <a:rPr lang="en-US" sz="750" i="1" dirty="0">
                <a:solidFill>
                  <a:srgbClr val="10B981"/>
                </a:solidFill>
                <a:latin typeface="Calibri" pitchFamily="34" charset="0"/>
                <a:ea typeface="Calibri" pitchFamily="34" charset="-122"/>
                <a:cs typeface="Calibri" pitchFamily="34" charset="-120"/>
              </a:rPr>
              <a:t>Avr.–Juin 2026 – 8 sem.</a:t>
            </a:r>
            <a:endParaRPr lang="en-US" sz="750" dirty="0"/>
          </a:p>
        </p:txBody>
      </p:sp>
      <p:sp>
        <p:nvSpPr>
          <p:cNvPr id="23" name="Text 21"/>
          <p:cNvSpPr/>
          <p:nvPr/>
        </p:nvSpPr>
        <p:spPr>
          <a:xfrm>
            <a:off x="3785616" y="2514600"/>
            <a:ext cx="1444752" cy="2331720"/>
          </a:xfrm>
          <a:prstGeom prst="rect">
            <a:avLst/>
          </a:prstGeom>
          <a:noFill/>
          <a:ln/>
        </p:spPr>
        <p:txBody>
          <a:bodyPr wrap="square" rtlCol="0" anchor="t"/>
          <a:lstStyle/>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Sprints backend (API REST, microservices)</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Sprints frontend (Angular/React)</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Développement modules IA (NLP, Chatbot)</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Intégrations LDAP, mail, WebSocket</a:t>
            </a:r>
            <a:endParaRPr lang="en-US" sz="800" dirty="0"/>
          </a:p>
        </p:txBody>
      </p:sp>
      <p:sp>
        <p:nvSpPr>
          <p:cNvPr id="24" name="Shape 22"/>
          <p:cNvSpPr/>
          <p:nvPr/>
        </p:nvSpPr>
        <p:spPr>
          <a:xfrm>
            <a:off x="5431536" y="1572768"/>
            <a:ext cx="1572768" cy="3383280"/>
          </a:xfrm>
          <a:prstGeom prst="rect">
            <a:avLst/>
          </a:prstGeom>
          <a:solidFill>
            <a:srgbClr val="000000"/>
          </a:solidFill>
          <a:ln w="10160">
            <a:solidFill>
              <a:srgbClr val="000000"/>
            </a:solidFill>
            <a:prstDash val="solid"/>
          </a:ln>
        </p:spPr>
      </p:sp>
      <p:sp>
        <p:nvSpPr>
          <p:cNvPr id="25" name="Shape 23"/>
          <p:cNvSpPr/>
          <p:nvPr/>
        </p:nvSpPr>
        <p:spPr>
          <a:xfrm>
            <a:off x="5431536" y="1572768"/>
            <a:ext cx="1572768" cy="594360"/>
          </a:xfrm>
          <a:prstGeom prst="rect">
            <a:avLst/>
          </a:prstGeom>
          <a:solidFill>
            <a:srgbClr val="F59E0B"/>
          </a:solidFill>
          <a:ln w="12700">
            <a:solidFill>
              <a:srgbClr val="F59E0B"/>
            </a:solidFill>
            <a:prstDash val="solid"/>
          </a:ln>
        </p:spPr>
      </p:sp>
      <p:sp>
        <p:nvSpPr>
          <p:cNvPr id="26" name="Text 24"/>
          <p:cNvSpPr/>
          <p:nvPr/>
        </p:nvSpPr>
        <p:spPr>
          <a:xfrm>
            <a:off x="5431536" y="1627632"/>
            <a:ext cx="384048"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5815584" y="1627632"/>
            <a:ext cx="1115568" cy="34747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Tests &amp; Validation</a:t>
            </a:r>
            <a:endParaRPr lang="en-US" sz="850" dirty="0"/>
          </a:p>
        </p:txBody>
      </p:sp>
      <p:sp>
        <p:nvSpPr>
          <p:cNvPr id="28" name="Text 26"/>
          <p:cNvSpPr/>
          <p:nvPr/>
        </p:nvSpPr>
        <p:spPr>
          <a:xfrm>
            <a:off x="5431536" y="2212848"/>
            <a:ext cx="1572768" cy="274320"/>
          </a:xfrm>
          <a:prstGeom prst="rect">
            <a:avLst/>
          </a:prstGeom>
          <a:noFill/>
          <a:ln/>
        </p:spPr>
        <p:txBody>
          <a:bodyPr wrap="square" lIns="0" tIns="0" rIns="0" bIns="0" rtlCol="0" anchor="ctr"/>
          <a:lstStyle/>
          <a:p>
            <a:pPr algn="ctr" indent="0" marL="0">
              <a:buNone/>
            </a:pPr>
            <a:r>
              <a:rPr lang="en-US" sz="750" i="1" dirty="0">
                <a:solidFill>
                  <a:srgbClr val="F59E0B"/>
                </a:solidFill>
                <a:latin typeface="Calibri" pitchFamily="34" charset="0"/>
                <a:ea typeface="Calibri" pitchFamily="34" charset="-122"/>
                <a:cs typeface="Calibri" pitchFamily="34" charset="-120"/>
              </a:rPr>
              <a:t>Juil. 2026 – 3 sem.</a:t>
            </a:r>
            <a:endParaRPr lang="en-US" sz="750" dirty="0"/>
          </a:p>
        </p:txBody>
      </p:sp>
      <p:sp>
        <p:nvSpPr>
          <p:cNvPr id="29" name="Text 27"/>
          <p:cNvSpPr/>
          <p:nvPr/>
        </p:nvSpPr>
        <p:spPr>
          <a:xfrm>
            <a:off x="5504688" y="2514600"/>
            <a:ext cx="1444752" cy="2331720"/>
          </a:xfrm>
          <a:prstGeom prst="rect">
            <a:avLst/>
          </a:prstGeom>
          <a:noFill/>
          <a:ln/>
        </p:spPr>
        <p:txBody>
          <a:bodyPr wrap="square" rtlCol="0" anchor="t"/>
          <a:lstStyle/>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Tests unitaires et d'intégration</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Tests de charge et de performance</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Tests d'acceptation utilisateur (UAT)</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Correction des anomalies</a:t>
            </a:r>
            <a:endParaRPr lang="en-US" sz="800" dirty="0"/>
          </a:p>
        </p:txBody>
      </p:sp>
      <p:sp>
        <p:nvSpPr>
          <p:cNvPr id="30" name="Shape 28"/>
          <p:cNvSpPr/>
          <p:nvPr/>
        </p:nvSpPr>
        <p:spPr>
          <a:xfrm>
            <a:off x="7150608" y="1572768"/>
            <a:ext cx="1572768" cy="3383280"/>
          </a:xfrm>
          <a:prstGeom prst="rect">
            <a:avLst/>
          </a:prstGeom>
          <a:solidFill>
            <a:srgbClr val="000000"/>
          </a:solidFill>
          <a:ln w="10160">
            <a:solidFill>
              <a:srgbClr val="000000"/>
            </a:solidFill>
            <a:prstDash val="solid"/>
          </a:ln>
        </p:spPr>
      </p:sp>
      <p:sp>
        <p:nvSpPr>
          <p:cNvPr id="31" name="Shape 29"/>
          <p:cNvSpPr/>
          <p:nvPr/>
        </p:nvSpPr>
        <p:spPr>
          <a:xfrm>
            <a:off x="7150608" y="1572768"/>
            <a:ext cx="1572768" cy="594360"/>
          </a:xfrm>
          <a:prstGeom prst="rect">
            <a:avLst/>
          </a:prstGeom>
          <a:solidFill>
            <a:srgbClr val="0F766E"/>
          </a:solidFill>
          <a:ln w="12700">
            <a:solidFill>
              <a:srgbClr val="0F766E"/>
            </a:solidFill>
            <a:prstDash val="solid"/>
          </a:ln>
        </p:spPr>
      </p:sp>
      <p:sp>
        <p:nvSpPr>
          <p:cNvPr id="32" name="Text 30"/>
          <p:cNvSpPr/>
          <p:nvPr/>
        </p:nvSpPr>
        <p:spPr>
          <a:xfrm>
            <a:off x="7150608" y="1627632"/>
            <a:ext cx="384048"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7534656" y="1627632"/>
            <a:ext cx="1115568" cy="34747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Déploiement &amp; Doc.</a:t>
            </a:r>
            <a:endParaRPr lang="en-US" sz="850" dirty="0"/>
          </a:p>
        </p:txBody>
      </p:sp>
      <p:sp>
        <p:nvSpPr>
          <p:cNvPr id="34" name="Text 32"/>
          <p:cNvSpPr/>
          <p:nvPr/>
        </p:nvSpPr>
        <p:spPr>
          <a:xfrm>
            <a:off x="7150608" y="2212848"/>
            <a:ext cx="1572768" cy="274320"/>
          </a:xfrm>
          <a:prstGeom prst="rect">
            <a:avLst/>
          </a:prstGeom>
          <a:noFill/>
          <a:ln/>
        </p:spPr>
        <p:txBody>
          <a:bodyPr wrap="square" lIns="0" tIns="0" rIns="0" bIns="0" rtlCol="0" anchor="ctr"/>
          <a:lstStyle/>
          <a:p>
            <a:pPr algn="ctr" indent="0" marL="0">
              <a:buNone/>
            </a:pPr>
            <a:r>
              <a:rPr lang="en-US" sz="750" i="1" dirty="0">
                <a:solidFill>
                  <a:srgbClr val="0F766E"/>
                </a:solidFill>
                <a:latin typeface="Calibri" pitchFamily="34" charset="0"/>
                <a:ea typeface="Calibri" pitchFamily="34" charset="-122"/>
                <a:cs typeface="Calibri" pitchFamily="34" charset="-120"/>
              </a:rPr>
              <a:t>Août 2026 – 2 sem.</a:t>
            </a:r>
            <a:endParaRPr lang="en-US" sz="750" dirty="0"/>
          </a:p>
        </p:txBody>
      </p:sp>
      <p:sp>
        <p:nvSpPr>
          <p:cNvPr id="35" name="Text 33"/>
          <p:cNvSpPr/>
          <p:nvPr/>
        </p:nvSpPr>
        <p:spPr>
          <a:xfrm>
            <a:off x="7223760" y="2514600"/>
            <a:ext cx="1444752" cy="2331720"/>
          </a:xfrm>
          <a:prstGeom prst="rect">
            <a:avLst/>
          </a:prstGeom>
          <a:noFill/>
          <a:ln/>
        </p:spPr>
        <p:txBody>
          <a:bodyPr wrap="square" rtlCol="0" anchor="t"/>
          <a:lstStyle/>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Déploiement Docker / production</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Rédaction de la documentation technique</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Formation des utilisateurs GEISER</a:t>
            </a:r>
            <a:endParaRPr lang="en-US" sz="800" dirty="0"/>
          </a:p>
          <a:p>
            <a:pPr marL="342900" indent="-342900">
              <a:spcAft>
                <a:spcPts val="500"/>
              </a:spcAft>
              <a:buSzPct val="100000"/>
              <a:buChar char="•"/>
            </a:pPr>
            <a:r>
              <a:rPr lang="en-US" sz="800" dirty="0">
                <a:solidFill>
                  <a:srgbClr val="1E293B"/>
                </a:solidFill>
                <a:latin typeface="Calibri" pitchFamily="34" charset="0"/>
                <a:ea typeface="Calibri" pitchFamily="34" charset="-122"/>
                <a:cs typeface="Calibri" pitchFamily="34" charset="-120"/>
              </a:rPr>
              <a:t>Livraison et recette finale</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ÉTUDE COMPARATIVE DES MÉTHODOLOGIES</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Waterfall vs Agile vs Scrum – Justification du choix</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914400"/>
        </p:xfrm>
        <a:graphic>
          <a:graphicData uri="http://schemas.openxmlformats.org/drawingml/2006/table">
            <a:tbl>
              <a:tblPr/>
              <a:tblGrid>
                <a:gridCol w="2560320"/>
                <a:gridCol w="1828800"/>
                <a:gridCol w="1828800"/>
                <a:gridCol w="2286000"/>
              </a:tblGrid>
              <a:tr h="40233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Critère</a:t>
                      </a:r>
                      <a:endParaRPr lang="en-US" sz="100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0D1B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Waterfall</a:t>
                      </a:r>
                      <a:endParaRPr lang="en-US" sz="100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0D1B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Agile</a:t>
                      </a:r>
                      <a:endParaRPr lang="en-US" sz="100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0D1B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Scrum ✓</a:t>
                      </a:r>
                      <a:endParaRPr lang="en-US" sz="100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10B981"/>
                    </a:solidFill>
                  </a:tcPr>
                </a:tc>
              </a:tr>
              <a:tr h="402336">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Flexibilité aux changements</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Faible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Élevée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Très élevée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r>
              <a:tr h="402336">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Livraisons incrémentales</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Non</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Oui</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Oui (sprints)</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r>
              <a:tr h="402336">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Implication client/sponsor</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Limitée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Continue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Sprint reviews</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r>
              <a:tr h="402336">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Gestion des risques</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Tardive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Précoce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Par itération</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r>
              <a:tr h="402336">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Adaptabilité périmètre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Rigide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Adaptable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Product Backlog</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r>
              <a:tr h="402336">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Documentation</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Très formelle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Légère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Équilibrée</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r>
              <a:tr h="402336">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Convient au projet IA</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Non</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Oui</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 Optimal</a:t>
                      </a:r>
                      <a:endParaRPr lang="en-US" sz="950" dirty="0">
                        <a:latin typeface="Calibri" charset="0"/>
                        <a:ea typeface="Calibri" charset="0"/>
                        <a:cs typeface="Calibri" charset="0"/>
                      </a:endParaRPr>
                    </a:p>
                  </a:txBody>
                  <a:tcPr marL="91440" marR="91440" marT="45720" marB="45720">
                    <a:lnL w="6350" cap="flat" cmpd="sng" algn="ctr">
                      <a:solidFill>
                        <a:srgbClr val="D1DCF0"/>
                      </a:solidFill>
                      <a:prstDash val="solid"/>
                      <a:round/>
                      <a:headEnd type="none" w="med" len="med"/>
                      <a:tailEnd type="none" w="med" len="med"/>
                    </a:lnL>
                    <a:lnR w="6350" cap="flat" cmpd="sng" algn="ctr">
                      <a:solidFill>
                        <a:srgbClr val="D1DCF0"/>
                      </a:solidFill>
                      <a:prstDash val="solid"/>
                      <a:round/>
                      <a:headEnd type="none" w="med" len="med"/>
                      <a:tailEnd type="none" w="med" len="med"/>
                    </a:lnR>
                    <a:lnT w="6350" cap="flat" cmpd="sng" algn="ctr">
                      <a:solidFill>
                        <a:srgbClr val="D1DCF0"/>
                      </a:solidFill>
                      <a:prstDash val="solid"/>
                      <a:round/>
                      <a:headEnd type="none" w="med" len="med"/>
                      <a:tailEnd type="none" w="med" len="med"/>
                    </a:lnT>
                    <a:lnB w="6350" cap="flat" cmpd="sng" algn="ctr">
                      <a:solidFill>
                        <a:srgbClr val="D1DCF0"/>
                      </a:solidFill>
                      <a:prstDash val="solid"/>
                      <a:round/>
                      <a:headEnd type="none" w="med" len="med"/>
                      <a:tailEnd type="none" w="med" len="med"/>
                    </a:lnB>
                    <a:solidFill>
                      <a:srgbClr val="F1F5FB"/>
                    </a:solidFill>
                  </a:tcPr>
                </a:tc>
              </a:tr>
            </a:tbl>
          </a:graphicData>
        </a:graphic>
      </p:graphicFrame>
      <p:sp>
        <p:nvSpPr>
          <p:cNvPr id="6" name="Shape 3"/>
          <p:cNvSpPr/>
          <p:nvPr/>
        </p:nvSpPr>
        <p:spPr>
          <a:xfrm>
            <a:off x="320040" y="4133088"/>
            <a:ext cx="8503920" cy="914400"/>
          </a:xfrm>
          <a:prstGeom prst="rect">
            <a:avLst/>
          </a:prstGeom>
          <a:solidFill>
            <a:srgbClr val="ECFDF5"/>
          </a:solidFill>
          <a:ln w="12700">
            <a:solidFill>
              <a:srgbClr val="10B981"/>
            </a:solidFill>
            <a:prstDash val="solid"/>
          </a:ln>
        </p:spPr>
      </p:sp>
      <p:sp>
        <p:nvSpPr>
          <p:cNvPr id="7" name="Text 4"/>
          <p:cNvSpPr/>
          <p:nvPr/>
        </p:nvSpPr>
        <p:spPr>
          <a:xfrm>
            <a:off x="502920" y="4206240"/>
            <a:ext cx="4572000" cy="292608"/>
          </a:xfrm>
          <a:prstGeom prst="rect">
            <a:avLst/>
          </a:prstGeom>
          <a:noFill/>
          <a:ln/>
        </p:spPr>
        <p:txBody>
          <a:bodyPr wrap="square" lIns="0" tIns="0" rIns="0" bIns="0" rtlCol="0" anchor="ctr"/>
          <a:lstStyle/>
          <a:p>
            <a:pPr indent="0" marL="0">
              <a:buNone/>
            </a:pPr>
            <a:r>
              <a:rPr lang="en-US" sz="1100" b="1" dirty="0">
                <a:solidFill>
                  <a:srgbClr val="065F46"/>
                </a:solidFill>
                <a:latin typeface="Calibri" pitchFamily="34" charset="0"/>
                <a:ea typeface="Calibri" pitchFamily="34" charset="-122"/>
                <a:cs typeface="Calibri" pitchFamily="34" charset="-120"/>
              </a:rPr>
              <a:t>✅  Pourquoi Scrum pour ce projet ?</a:t>
            </a:r>
            <a:endParaRPr lang="en-US" sz="1100" dirty="0"/>
          </a:p>
        </p:txBody>
      </p:sp>
      <p:sp>
        <p:nvSpPr>
          <p:cNvPr id="8" name="Text 5"/>
          <p:cNvSpPr/>
          <p:nvPr/>
        </p:nvSpPr>
        <p:spPr>
          <a:xfrm>
            <a:off x="502920" y="4517136"/>
            <a:ext cx="8229600" cy="457200"/>
          </a:xfrm>
          <a:prstGeom prst="rect">
            <a:avLst/>
          </a:prstGeom>
          <a:noFill/>
          <a:ln/>
        </p:spPr>
        <p:txBody>
          <a:bodyPr wrap="square" lIns="0" tIns="0" rIns="0" bIns="0" rtlCol="0" anchor="ctr"/>
          <a:lstStyle/>
          <a:p>
            <a:pPr indent="0" marL="0">
              <a:buNone/>
            </a:pPr>
            <a:r>
              <a:rPr lang="en-US" sz="920" dirty="0">
                <a:solidFill>
                  <a:srgbClr val="065F46"/>
                </a:solidFill>
                <a:latin typeface="Calibri" pitchFamily="34" charset="0"/>
                <a:ea typeface="Calibri" pitchFamily="34" charset="-122"/>
                <a:cs typeface="Calibri" pitchFamily="34" charset="-120"/>
              </a:rPr>
              <a:t>Scrum a été retenu car il permet de gérer l'incertitude inhérente aux projets IA (évolution des modèles NLP, ajustements des règles de routage), d'intégrer les retours continus des équipes GEISER via des sprint reviews régulières, et de livrer une valeur fonctionnelle tangible à chaque itération, conformément aux attentes du commanditaire.</a:t>
            </a:r>
            <a:endParaRPr lang="en-US" sz="9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8F"/>
          </a:solidFill>
          <a:ln w="12700">
            <a:solidFill>
              <a:srgbClr val="1A3A8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000" b="1" spc="200" kern="0" dirty="0">
                <a:solidFill>
                  <a:srgbClr val="1A3A8F"/>
                </a:solidFill>
                <a:latin typeface="Calibri" pitchFamily="34" charset="0"/>
                <a:ea typeface="Calibri" pitchFamily="34" charset="-122"/>
                <a:cs typeface="Calibri" pitchFamily="34" charset="-120"/>
              </a:rPr>
              <a:t>PLANNING DU PROJET – DIAGRAMME DE GANTT</a:t>
            </a:r>
            <a:endParaRPr lang="en-US" sz="20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Planification temporelle – Mars à Août 2026</a:t>
            </a:r>
            <a:endParaRPr lang="en-US" sz="1100" dirty="0"/>
          </a:p>
        </p:txBody>
      </p:sp>
      <p:sp>
        <p:nvSpPr>
          <p:cNvPr id="5" name="Shape 3"/>
          <p:cNvSpPr/>
          <p:nvPr/>
        </p:nvSpPr>
        <p:spPr>
          <a:xfrm>
            <a:off x="2468880" y="987552"/>
            <a:ext cx="1097280" cy="347472"/>
          </a:xfrm>
          <a:prstGeom prst="rect">
            <a:avLst/>
          </a:prstGeom>
          <a:solidFill>
            <a:srgbClr val="1A3A8F"/>
          </a:solidFill>
          <a:ln w="12700">
            <a:solidFill>
              <a:srgbClr val="1A3A8F"/>
            </a:solidFill>
            <a:prstDash val="solid"/>
          </a:ln>
        </p:spPr>
      </p:sp>
      <p:sp>
        <p:nvSpPr>
          <p:cNvPr id="6" name="Text 4"/>
          <p:cNvSpPr/>
          <p:nvPr/>
        </p:nvSpPr>
        <p:spPr>
          <a:xfrm>
            <a:off x="2468880" y="1005840"/>
            <a:ext cx="109728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Mars</a:t>
            </a:r>
            <a:endParaRPr lang="en-US" sz="900" dirty="0"/>
          </a:p>
        </p:txBody>
      </p:sp>
      <p:sp>
        <p:nvSpPr>
          <p:cNvPr id="7" name="Shape 5"/>
          <p:cNvSpPr/>
          <p:nvPr/>
        </p:nvSpPr>
        <p:spPr>
          <a:xfrm>
            <a:off x="3566160" y="987552"/>
            <a:ext cx="1097280" cy="347472"/>
          </a:xfrm>
          <a:prstGeom prst="rect">
            <a:avLst/>
          </a:prstGeom>
          <a:solidFill>
            <a:srgbClr val="1A3A8F"/>
          </a:solidFill>
          <a:ln w="12700">
            <a:solidFill>
              <a:srgbClr val="1A3A8F"/>
            </a:solidFill>
            <a:prstDash val="solid"/>
          </a:ln>
        </p:spPr>
      </p:sp>
      <p:sp>
        <p:nvSpPr>
          <p:cNvPr id="8" name="Text 6"/>
          <p:cNvSpPr/>
          <p:nvPr/>
        </p:nvSpPr>
        <p:spPr>
          <a:xfrm>
            <a:off x="3566160" y="1005840"/>
            <a:ext cx="109728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Avril</a:t>
            </a:r>
            <a:endParaRPr lang="en-US" sz="900" dirty="0"/>
          </a:p>
        </p:txBody>
      </p:sp>
      <p:sp>
        <p:nvSpPr>
          <p:cNvPr id="9" name="Shape 7"/>
          <p:cNvSpPr/>
          <p:nvPr/>
        </p:nvSpPr>
        <p:spPr>
          <a:xfrm>
            <a:off x="4663440" y="987552"/>
            <a:ext cx="1097280" cy="347472"/>
          </a:xfrm>
          <a:prstGeom prst="rect">
            <a:avLst/>
          </a:prstGeom>
          <a:solidFill>
            <a:srgbClr val="1A3A8F"/>
          </a:solidFill>
          <a:ln w="12700">
            <a:solidFill>
              <a:srgbClr val="1A3A8F"/>
            </a:solidFill>
            <a:prstDash val="solid"/>
          </a:ln>
        </p:spPr>
      </p:sp>
      <p:sp>
        <p:nvSpPr>
          <p:cNvPr id="10" name="Text 8"/>
          <p:cNvSpPr/>
          <p:nvPr/>
        </p:nvSpPr>
        <p:spPr>
          <a:xfrm>
            <a:off x="4663440" y="1005840"/>
            <a:ext cx="109728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a:t>
            </a:r>
            <a:endParaRPr lang="en-US" sz="900" dirty="0"/>
          </a:p>
        </p:txBody>
      </p:sp>
      <p:sp>
        <p:nvSpPr>
          <p:cNvPr id="11" name="Shape 9"/>
          <p:cNvSpPr/>
          <p:nvPr/>
        </p:nvSpPr>
        <p:spPr>
          <a:xfrm>
            <a:off x="5760720" y="987552"/>
            <a:ext cx="1097280" cy="347472"/>
          </a:xfrm>
          <a:prstGeom prst="rect">
            <a:avLst/>
          </a:prstGeom>
          <a:solidFill>
            <a:srgbClr val="1A3A8F"/>
          </a:solidFill>
          <a:ln w="12700">
            <a:solidFill>
              <a:srgbClr val="1A3A8F"/>
            </a:solidFill>
            <a:prstDash val="solid"/>
          </a:ln>
        </p:spPr>
      </p:sp>
      <p:sp>
        <p:nvSpPr>
          <p:cNvPr id="12" name="Text 10"/>
          <p:cNvSpPr/>
          <p:nvPr/>
        </p:nvSpPr>
        <p:spPr>
          <a:xfrm>
            <a:off x="5760720" y="1005840"/>
            <a:ext cx="109728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Juin</a:t>
            </a:r>
            <a:endParaRPr lang="en-US" sz="900" dirty="0"/>
          </a:p>
        </p:txBody>
      </p:sp>
      <p:sp>
        <p:nvSpPr>
          <p:cNvPr id="13" name="Shape 11"/>
          <p:cNvSpPr/>
          <p:nvPr/>
        </p:nvSpPr>
        <p:spPr>
          <a:xfrm>
            <a:off x="6858000" y="987552"/>
            <a:ext cx="1097280" cy="347472"/>
          </a:xfrm>
          <a:prstGeom prst="rect">
            <a:avLst/>
          </a:prstGeom>
          <a:solidFill>
            <a:srgbClr val="1A3A8F"/>
          </a:solidFill>
          <a:ln w="12700">
            <a:solidFill>
              <a:srgbClr val="1A3A8F"/>
            </a:solidFill>
            <a:prstDash val="solid"/>
          </a:ln>
        </p:spPr>
      </p:sp>
      <p:sp>
        <p:nvSpPr>
          <p:cNvPr id="14" name="Text 12"/>
          <p:cNvSpPr/>
          <p:nvPr/>
        </p:nvSpPr>
        <p:spPr>
          <a:xfrm>
            <a:off x="6858000" y="1005840"/>
            <a:ext cx="109728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Juillet</a:t>
            </a:r>
            <a:endParaRPr lang="en-US" sz="900" dirty="0"/>
          </a:p>
        </p:txBody>
      </p:sp>
      <p:sp>
        <p:nvSpPr>
          <p:cNvPr id="15" name="Shape 13"/>
          <p:cNvSpPr/>
          <p:nvPr/>
        </p:nvSpPr>
        <p:spPr>
          <a:xfrm>
            <a:off x="7955280" y="987552"/>
            <a:ext cx="1097280" cy="347472"/>
          </a:xfrm>
          <a:prstGeom prst="rect">
            <a:avLst/>
          </a:prstGeom>
          <a:solidFill>
            <a:srgbClr val="1A3A8F"/>
          </a:solidFill>
          <a:ln w="12700">
            <a:solidFill>
              <a:srgbClr val="1A3A8F"/>
            </a:solidFill>
            <a:prstDash val="solid"/>
          </a:ln>
        </p:spPr>
      </p:sp>
      <p:sp>
        <p:nvSpPr>
          <p:cNvPr id="16" name="Text 14"/>
          <p:cNvSpPr/>
          <p:nvPr/>
        </p:nvSpPr>
        <p:spPr>
          <a:xfrm>
            <a:off x="7955280" y="1005840"/>
            <a:ext cx="109728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Août</a:t>
            </a:r>
            <a:endParaRPr lang="en-US" sz="900" dirty="0"/>
          </a:p>
        </p:txBody>
      </p:sp>
      <p:sp>
        <p:nvSpPr>
          <p:cNvPr id="17" name="Shape 15"/>
          <p:cNvSpPr/>
          <p:nvPr/>
        </p:nvSpPr>
        <p:spPr>
          <a:xfrm>
            <a:off x="274320" y="1417320"/>
            <a:ext cx="2148840" cy="365760"/>
          </a:xfrm>
          <a:prstGeom prst="rect">
            <a:avLst/>
          </a:prstGeom>
          <a:solidFill>
            <a:srgbClr val="F1F5FB"/>
          </a:solidFill>
          <a:ln w="12700">
            <a:solidFill>
              <a:srgbClr val="D1DCF0"/>
            </a:solidFill>
            <a:prstDash val="solid"/>
          </a:ln>
        </p:spPr>
      </p:sp>
      <p:sp>
        <p:nvSpPr>
          <p:cNvPr id="18" name="Text 16"/>
          <p:cNvSpPr/>
          <p:nvPr/>
        </p:nvSpPr>
        <p:spPr>
          <a:xfrm>
            <a:off x="320040" y="1453896"/>
            <a:ext cx="2057400" cy="32004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1. Analyse des besoins</a:t>
            </a:r>
            <a:endParaRPr lang="en-US" sz="800" dirty="0"/>
          </a:p>
        </p:txBody>
      </p:sp>
      <p:sp>
        <p:nvSpPr>
          <p:cNvPr id="19" name="Shape 17"/>
          <p:cNvSpPr/>
          <p:nvPr/>
        </p:nvSpPr>
        <p:spPr>
          <a:xfrm>
            <a:off x="2468880" y="1417320"/>
            <a:ext cx="1097280" cy="365760"/>
          </a:xfrm>
          <a:prstGeom prst="rect">
            <a:avLst/>
          </a:prstGeom>
          <a:solidFill>
            <a:srgbClr val="F8FAFC"/>
          </a:solidFill>
          <a:ln w="3810">
            <a:solidFill>
              <a:srgbClr val="E2E8F0"/>
            </a:solidFill>
            <a:prstDash val="solid"/>
          </a:ln>
        </p:spPr>
      </p:sp>
      <p:sp>
        <p:nvSpPr>
          <p:cNvPr id="20" name="Shape 18"/>
          <p:cNvSpPr/>
          <p:nvPr/>
        </p:nvSpPr>
        <p:spPr>
          <a:xfrm>
            <a:off x="3566160" y="1417320"/>
            <a:ext cx="1097280" cy="365760"/>
          </a:xfrm>
          <a:prstGeom prst="rect">
            <a:avLst/>
          </a:prstGeom>
          <a:solidFill>
            <a:srgbClr val="FFFFFF"/>
          </a:solidFill>
          <a:ln w="3810">
            <a:solidFill>
              <a:srgbClr val="E2E8F0"/>
            </a:solidFill>
            <a:prstDash val="solid"/>
          </a:ln>
        </p:spPr>
      </p:sp>
      <p:sp>
        <p:nvSpPr>
          <p:cNvPr id="21" name="Shape 19"/>
          <p:cNvSpPr/>
          <p:nvPr/>
        </p:nvSpPr>
        <p:spPr>
          <a:xfrm>
            <a:off x="4663440" y="1417320"/>
            <a:ext cx="1097280" cy="365760"/>
          </a:xfrm>
          <a:prstGeom prst="rect">
            <a:avLst/>
          </a:prstGeom>
          <a:solidFill>
            <a:srgbClr val="F8FAFC"/>
          </a:solidFill>
          <a:ln w="3810">
            <a:solidFill>
              <a:srgbClr val="E2E8F0"/>
            </a:solidFill>
            <a:prstDash val="solid"/>
          </a:ln>
        </p:spPr>
      </p:sp>
      <p:sp>
        <p:nvSpPr>
          <p:cNvPr id="22" name="Shape 20"/>
          <p:cNvSpPr/>
          <p:nvPr/>
        </p:nvSpPr>
        <p:spPr>
          <a:xfrm>
            <a:off x="5760720" y="1417320"/>
            <a:ext cx="1097280" cy="365760"/>
          </a:xfrm>
          <a:prstGeom prst="rect">
            <a:avLst/>
          </a:prstGeom>
          <a:solidFill>
            <a:srgbClr val="FFFFFF"/>
          </a:solidFill>
          <a:ln w="3810">
            <a:solidFill>
              <a:srgbClr val="E2E8F0"/>
            </a:solidFill>
            <a:prstDash val="solid"/>
          </a:ln>
        </p:spPr>
      </p:sp>
      <p:sp>
        <p:nvSpPr>
          <p:cNvPr id="23" name="Shape 21"/>
          <p:cNvSpPr/>
          <p:nvPr/>
        </p:nvSpPr>
        <p:spPr>
          <a:xfrm>
            <a:off x="6858000" y="1417320"/>
            <a:ext cx="1097280" cy="365760"/>
          </a:xfrm>
          <a:prstGeom prst="rect">
            <a:avLst/>
          </a:prstGeom>
          <a:solidFill>
            <a:srgbClr val="F8FAFC"/>
          </a:solidFill>
          <a:ln w="3810">
            <a:solidFill>
              <a:srgbClr val="E2E8F0"/>
            </a:solidFill>
            <a:prstDash val="solid"/>
          </a:ln>
        </p:spPr>
      </p:sp>
      <p:sp>
        <p:nvSpPr>
          <p:cNvPr id="24" name="Shape 22"/>
          <p:cNvSpPr/>
          <p:nvPr/>
        </p:nvSpPr>
        <p:spPr>
          <a:xfrm>
            <a:off x="7955280" y="1417320"/>
            <a:ext cx="1097280" cy="365760"/>
          </a:xfrm>
          <a:prstGeom prst="rect">
            <a:avLst/>
          </a:prstGeom>
          <a:solidFill>
            <a:srgbClr val="FFFFFF"/>
          </a:solidFill>
          <a:ln w="3810">
            <a:solidFill>
              <a:srgbClr val="E2E8F0"/>
            </a:solidFill>
            <a:prstDash val="solid"/>
          </a:ln>
        </p:spPr>
      </p:sp>
      <p:sp>
        <p:nvSpPr>
          <p:cNvPr id="25" name="Shape 23"/>
          <p:cNvSpPr/>
          <p:nvPr/>
        </p:nvSpPr>
        <p:spPr>
          <a:xfrm>
            <a:off x="2505456" y="1481328"/>
            <a:ext cx="749808" cy="237744"/>
          </a:xfrm>
          <a:prstGeom prst="rect">
            <a:avLst/>
          </a:prstGeom>
          <a:solidFill>
            <a:srgbClr val="1A3A8F"/>
          </a:solidFill>
          <a:ln w="12700">
            <a:solidFill>
              <a:srgbClr val="1A3A8F"/>
            </a:solidFill>
            <a:prstDash val="solid"/>
          </a:ln>
        </p:spPr>
      </p:sp>
      <p:sp>
        <p:nvSpPr>
          <p:cNvPr id="26" name="Shape 24"/>
          <p:cNvSpPr/>
          <p:nvPr/>
        </p:nvSpPr>
        <p:spPr>
          <a:xfrm>
            <a:off x="274320" y="1847088"/>
            <a:ext cx="2148840" cy="365760"/>
          </a:xfrm>
          <a:prstGeom prst="rect">
            <a:avLst/>
          </a:prstGeom>
          <a:solidFill>
            <a:srgbClr val="F1F5FB"/>
          </a:solidFill>
          <a:ln w="12700">
            <a:solidFill>
              <a:srgbClr val="D1DCF0"/>
            </a:solidFill>
            <a:prstDash val="solid"/>
          </a:ln>
        </p:spPr>
      </p:sp>
      <p:sp>
        <p:nvSpPr>
          <p:cNvPr id="27" name="Text 25"/>
          <p:cNvSpPr/>
          <p:nvPr/>
        </p:nvSpPr>
        <p:spPr>
          <a:xfrm>
            <a:off x="320040" y="1883664"/>
            <a:ext cx="2057400" cy="32004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2. Conception &amp; Architecture</a:t>
            </a:r>
            <a:endParaRPr lang="en-US" sz="800" dirty="0"/>
          </a:p>
        </p:txBody>
      </p:sp>
      <p:sp>
        <p:nvSpPr>
          <p:cNvPr id="28" name="Shape 26"/>
          <p:cNvSpPr/>
          <p:nvPr/>
        </p:nvSpPr>
        <p:spPr>
          <a:xfrm>
            <a:off x="2468880" y="1847088"/>
            <a:ext cx="1097280" cy="365760"/>
          </a:xfrm>
          <a:prstGeom prst="rect">
            <a:avLst/>
          </a:prstGeom>
          <a:solidFill>
            <a:srgbClr val="F8FAFC"/>
          </a:solidFill>
          <a:ln w="3810">
            <a:solidFill>
              <a:srgbClr val="E2E8F0"/>
            </a:solidFill>
            <a:prstDash val="solid"/>
          </a:ln>
        </p:spPr>
      </p:sp>
      <p:sp>
        <p:nvSpPr>
          <p:cNvPr id="29" name="Shape 27"/>
          <p:cNvSpPr/>
          <p:nvPr/>
        </p:nvSpPr>
        <p:spPr>
          <a:xfrm>
            <a:off x="3566160" y="1847088"/>
            <a:ext cx="1097280" cy="365760"/>
          </a:xfrm>
          <a:prstGeom prst="rect">
            <a:avLst/>
          </a:prstGeom>
          <a:solidFill>
            <a:srgbClr val="FFFFFF"/>
          </a:solidFill>
          <a:ln w="3810">
            <a:solidFill>
              <a:srgbClr val="E2E8F0"/>
            </a:solidFill>
            <a:prstDash val="solid"/>
          </a:ln>
        </p:spPr>
      </p:sp>
      <p:sp>
        <p:nvSpPr>
          <p:cNvPr id="30" name="Shape 28"/>
          <p:cNvSpPr/>
          <p:nvPr/>
        </p:nvSpPr>
        <p:spPr>
          <a:xfrm>
            <a:off x="4663440" y="1847088"/>
            <a:ext cx="1097280" cy="365760"/>
          </a:xfrm>
          <a:prstGeom prst="rect">
            <a:avLst/>
          </a:prstGeom>
          <a:solidFill>
            <a:srgbClr val="F8FAFC"/>
          </a:solidFill>
          <a:ln w="3810">
            <a:solidFill>
              <a:srgbClr val="E2E8F0"/>
            </a:solidFill>
            <a:prstDash val="solid"/>
          </a:ln>
        </p:spPr>
      </p:sp>
      <p:sp>
        <p:nvSpPr>
          <p:cNvPr id="31" name="Shape 29"/>
          <p:cNvSpPr/>
          <p:nvPr/>
        </p:nvSpPr>
        <p:spPr>
          <a:xfrm>
            <a:off x="5760720" y="1847088"/>
            <a:ext cx="1097280" cy="365760"/>
          </a:xfrm>
          <a:prstGeom prst="rect">
            <a:avLst/>
          </a:prstGeom>
          <a:solidFill>
            <a:srgbClr val="FFFFFF"/>
          </a:solidFill>
          <a:ln w="3810">
            <a:solidFill>
              <a:srgbClr val="E2E8F0"/>
            </a:solidFill>
            <a:prstDash val="solid"/>
          </a:ln>
        </p:spPr>
      </p:sp>
      <p:sp>
        <p:nvSpPr>
          <p:cNvPr id="32" name="Shape 30"/>
          <p:cNvSpPr/>
          <p:nvPr/>
        </p:nvSpPr>
        <p:spPr>
          <a:xfrm>
            <a:off x="6858000" y="1847088"/>
            <a:ext cx="1097280" cy="365760"/>
          </a:xfrm>
          <a:prstGeom prst="rect">
            <a:avLst/>
          </a:prstGeom>
          <a:solidFill>
            <a:srgbClr val="F8FAFC"/>
          </a:solidFill>
          <a:ln w="3810">
            <a:solidFill>
              <a:srgbClr val="E2E8F0"/>
            </a:solidFill>
            <a:prstDash val="solid"/>
          </a:ln>
        </p:spPr>
      </p:sp>
      <p:sp>
        <p:nvSpPr>
          <p:cNvPr id="33" name="Shape 31"/>
          <p:cNvSpPr/>
          <p:nvPr/>
        </p:nvSpPr>
        <p:spPr>
          <a:xfrm>
            <a:off x="7955280" y="1847088"/>
            <a:ext cx="1097280" cy="365760"/>
          </a:xfrm>
          <a:prstGeom prst="rect">
            <a:avLst/>
          </a:prstGeom>
          <a:solidFill>
            <a:srgbClr val="FFFFFF"/>
          </a:solidFill>
          <a:ln w="3810">
            <a:solidFill>
              <a:srgbClr val="E2E8F0"/>
            </a:solidFill>
            <a:prstDash val="solid"/>
          </a:ln>
        </p:spPr>
      </p:sp>
      <p:sp>
        <p:nvSpPr>
          <p:cNvPr id="34" name="Shape 32"/>
          <p:cNvSpPr/>
          <p:nvPr/>
        </p:nvSpPr>
        <p:spPr>
          <a:xfrm>
            <a:off x="3328416" y="1911096"/>
            <a:ext cx="749808" cy="237744"/>
          </a:xfrm>
          <a:prstGeom prst="rect">
            <a:avLst/>
          </a:prstGeom>
          <a:solidFill>
            <a:srgbClr val="7C3AED"/>
          </a:solidFill>
          <a:ln w="12700">
            <a:solidFill>
              <a:srgbClr val="7C3AED"/>
            </a:solidFill>
            <a:prstDash val="solid"/>
          </a:ln>
        </p:spPr>
      </p:sp>
      <p:sp>
        <p:nvSpPr>
          <p:cNvPr id="35" name="Shape 33"/>
          <p:cNvSpPr/>
          <p:nvPr/>
        </p:nvSpPr>
        <p:spPr>
          <a:xfrm>
            <a:off x="274320" y="2276856"/>
            <a:ext cx="2148840" cy="365760"/>
          </a:xfrm>
          <a:prstGeom prst="rect">
            <a:avLst/>
          </a:prstGeom>
          <a:solidFill>
            <a:srgbClr val="F1F5FB"/>
          </a:solidFill>
          <a:ln w="12700">
            <a:solidFill>
              <a:srgbClr val="D1DCF0"/>
            </a:solidFill>
            <a:prstDash val="solid"/>
          </a:ln>
        </p:spPr>
      </p:sp>
      <p:sp>
        <p:nvSpPr>
          <p:cNvPr id="36" name="Text 34"/>
          <p:cNvSpPr/>
          <p:nvPr/>
        </p:nvSpPr>
        <p:spPr>
          <a:xfrm>
            <a:off x="320040" y="2313432"/>
            <a:ext cx="2057400" cy="32004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3. Dév. Backend (API REST)</a:t>
            </a:r>
            <a:endParaRPr lang="en-US" sz="800" dirty="0"/>
          </a:p>
        </p:txBody>
      </p:sp>
      <p:sp>
        <p:nvSpPr>
          <p:cNvPr id="37" name="Shape 35"/>
          <p:cNvSpPr/>
          <p:nvPr/>
        </p:nvSpPr>
        <p:spPr>
          <a:xfrm>
            <a:off x="2468880" y="2276856"/>
            <a:ext cx="1097280" cy="365760"/>
          </a:xfrm>
          <a:prstGeom prst="rect">
            <a:avLst/>
          </a:prstGeom>
          <a:solidFill>
            <a:srgbClr val="F8FAFC"/>
          </a:solidFill>
          <a:ln w="3810">
            <a:solidFill>
              <a:srgbClr val="E2E8F0"/>
            </a:solidFill>
            <a:prstDash val="solid"/>
          </a:ln>
        </p:spPr>
      </p:sp>
      <p:sp>
        <p:nvSpPr>
          <p:cNvPr id="38" name="Shape 36"/>
          <p:cNvSpPr/>
          <p:nvPr/>
        </p:nvSpPr>
        <p:spPr>
          <a:xfrm>
            <a:off x="3566160" y="2276856"/>
            <a:ext cx="1097280" cy="365760"/>
          </a:xfrm>
          <a:prstGeom prst="rect">
            <a:avLst/>
          </a:prstGeom>
          <a:solidFill>
            <a:srgbClr val="FFFFFF"/>
          </a:solidFill>
          <a:ln w="3810">
            <a:solidFill>
              <a:srgbClr val="E2E8F0"/>
            </a:solidFill>
            <a:prstDash val="solid"/>
          </a:ln>
        </p:spPr>
      </p:sp>
      <p:sp>
        <p:nvSpPr>
          <p:cNvPr id="39" name="Shape 37"/>
          <p:cNvSpPr/>
          <p:nvPr/>
        </p:nvSpPr>
        <p:spPr>
          <a:xfrm>
            <a:off x="4663440" y="2276856"/>
            <a:ext cx="1097280" cy="365760"/>
          </a:xfrm>
          <a:prstGeom prst="rect">
            <a:avLst/>
          </a:prstGeom>
          <a:solidFill>
            <a:srgbClr val="F8FAFC"/>
          </a:solidFill>
          <a:ln w="3810">
            <a:solidFill>
              <a:srgbClr val="E2E8F0"/>
            </a:solidFill>
            <a:prstDash val="solid"/>
          </a:ln>
        </p:spPr>
      </p:sp>
      <p:sp>
        <p:nvSpPr>
          <p:cNvPr id="40" name="Shape 38"/>
          <p:cNvSpPr/>
          <p:nvPr/>
        </p:nvSpPr>
        <p:spPr>
          <a:xfrm>
            <a:off x="5760720" y="2276856"/>
            <a:ext cx="1097280" cy="365760"/>
          </a:xfrm>
          <a:prstGeom prst="rect">
            <a:avLst/>
          </a:prstGeom>
          <a:solidFill>
            <a:srgbClr val="FFFFFF"/>
          </a:solidFill>
          <a:ln w="3810">
            <a:solidFill>
              <a:srgbClr val="E2E8F0"/>
            </a:solidFill>
            <a:prstDash val="solid"/>
          </a:ln>
        </p:spPr>
      </p:sp>
      <p:sp>
        <p:nvSpPr>
          <p:cNvPr id="41" name="Shape 39"/>
          <p:cNvSpPr/>
          <p:nvPr/>
        </p:nvSpPr>
        <p:spPr>
          <a:xfrm>
            <a:off x="6858000" y="2276856"/>
            <a:ext cx="1097280" cy="365760"/>
          </a:xfrm>
          <a:prstGeom prst="rect">
            <a:avLst/>
          </a:prstGeom>
          <a:solidFill>
            <a:srgbClr val="F8FAFC"/>
          </a:solidFill>
          <a:ln w="3810">
            <a:solidFill>
              <a:srgbClr val="E2E8F0"/>
            </a:solidFill>
            <a:prstDash val="solid"/>
          </a:ln>
        </p:spPr>
      </p:sp>
      <p:sp>
        <p:nvSpPr>
          <p:cNvPr id="42" name="Shape 40"/>
          <p:cNvSpPr/>
          <p:nvPr/>
        </p:nvSpPr>
        <p:spPr>
          <a:xfrm>
            <a:off x="7955280" y="2276856"/>
            <a:ext cx="1097280" cy="365760"/>
          </a:xfrm>
          <a:prstGeom prst="rect">
            <a:avLst/>
          </a:prstGeom>
          <a:solidFill>
            <a:srgbClr val="FFFFFF"/>
          </a:solidFill>
          <a:ln w="3810">
            <a:solidFill>
              <a:srgbClr val="E2E8F0"/>
            </a:solidFill>
            <a:prstDash val="solid"/>
          </a:ln>
        </p:spPr>
      </p:sp>
      <p:sp>
        <p:nvSpPr>
          <p:cNvPr id="43" name="Shape 41"/>
          <p:cNvSpPr/>
          <p:nvPr/>
        </p:nvSpPr>
        <p:spPr>
          <a:xfrm>
            <a:off x="4151376" y="2340864"/>
            <a:ext cx="1572768" cy="237744"/>
          </a:xfrm>
          <a:prstGeom prst="rect">
            <a:avLst/>
          </a:prstGeom>
          <a:solidFill>
            <a:srgbClr val="10B981"/>
          </a:solidFill>
          <a:ln w="12700">
            <a:solidFill>
              <a:srgbClr val="10B981"/>
            </a:solidFill>
            <a:prstDash val="solid"/>
          </a:ln>
        </p:spPr>
      </p:sp>
      <p:sp>
        <p:nvSpPr>
          <p:cNvPr id="44" name="Shape 42"/>
          <p:cNvSpPr/>
          <p:nvPr/>
        </p:nvSpPr>
        <p:spPr>
          <a:xfrm>
            <a:off x="274320" y="2706624"/>
            <a:ext cx="2148840" cy="365760"/>
          </a:xfrm>
          <a:prstGeom prst="rect">
            <a:avLst/>
          </a:prstGeom>
          <a:solidFill>
            <a:srgbClr val="F1F5FB"/>
          </a:solidFill>
          <a:ln w="12700">
            <a:solidFill>
              <a:srgbClr val="D1DCF0"/>
            </a:solidFill>
            <a:prstDash val="solid"/>
          </a:ln>
        </p:spPr>
      </p:sp>
      <p:sp>
        <p:nvSpPr>
          <p:cNvPr id="45" name="Text 43"/>
          <p:cNvSpPr/>
          <p:nvPr/>
        </p:nvSpPr>
        <p:spPr>
          <a:xfrm>
            <a:off x="320040" y="2743200"/>
            <a:ext cx="2057400" cy="32004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4. Dév. Frontend (UI/UX)</a:t>
            </a:r>
            <a:endParaRPr lang="en-US" sz="800" dirty="0"/>
          </a:p>
        </p:txBody>
      </p:sp>
      <p:sp>
        <p:nvSpPr>
          <p:cNvPr id="46" name="Shape 44"/>
          <p:cNvSpPr/>
          <p:nvPr/>
        </p:nvSpPr>
        <p:spPr>
          <a:xfrm>
            <a:off x="2468880" y="2706624"/>
            <a:ext cx="1097280" cy="365760"/>
          </a:xfrm>
          <a:prstGeom prst="rect">
            <a:avLst/>
          </a:prstGeom>
          <a:solidFill>
            <a:srgbClr val="F8FAFC"/>
          </a:solidFill>
          <a:ln w="3810">
            <a:solidFill>
              <a:srgbClr val="E2E8F0"/>
            </a:solidFill>
            <a:prstDash val="solid"/>
          </a:ln>
        </p:spPr>
      </p:sp>
      <p:sp>
        <p:nvSpPr>
          <p:cNvPr id="47" name="Shape 45"/>
          <p:cNvSpPr/>
          <p:nvPr/>
        </p:nvSpPr>
        <p:spPr>
          <a:xfrm>
            <a:off x="3566160" y="2706624"/>
            <a:ext cx="1097280" cy="365760"/>
          </a:xfrm>
          <a:prstGeom prst="rect">
            <a:avLst/>
          </a:prstGeom>
          <a:solidFill>
            <a:srgbClr val="FFFFFF"/>
          </a:solidFill>
          <a:ln w="3810">
            <a:solidFill>
              <a:srgbClr val="E2E8F0"/>
            </a:solidFill>
            <a:prstDash val="solid"/>
          </a:ln>
        </p:spPr>
      </p:sp>
      <p:sp>
        <p:nvSpPr>
          <p:cNvPr id="48" name="Shape 46"/>
          <p:cNvSpPr/>
          <p:nvPr/>
        </p:nvSpPr>
        <p:spPr>
          <a:xfrm>
            <a:off x="4663440" y="2706624"/>
            <a:ext cx="1097280" cy="365760"/>
          </a:xfrm>
          <a:prstGeom prst="rect">
            <a:avLst/>
          </a:prstGeom>
          <a:solidFill>
            <a:srgbClr val="F8FAFC"/>
          </a:solidFill>
          <a:ln w="3810">
            <a:solidFill>
              <a:srgbClr val="E2E8F0"/>
            </a:solidFill>
            <a:prstDash val="solid"/>
          </a:ln>
        </p:spPr>
      </p:sp>
      <p:sp>
        <p:nvSpPr>
          <p:cNvPr id="49" name="Shape 47"/>
          <p:cNvSpPr/>
          <p:nvPr/>
        </p:nvSpPr>
        <p:spPr>
          <a:xfrm>
            <a:off x="5760720" y="2706624"/>
            <a:ext cx="1097280" cy="365760"/>
          </a:xfrm>
          <a:prstGeom prst="rect">
            <a:avLst/>
          </a:prstGeom>
          <a:solidFill>
            <a:srgbClr val="FFFFFF"/>
          </a:solidFill>
          <a:ln w="3810">
            <a:solidFill>
              <a:srgbClr val="E2E8F0"/>
            </a:solidFill>
            <a:prstDash val="solid"/>
          </a:ln>
        </p:spPr>
      </p:sp>
      <p:sp>
        <p:nvSpPr>
          <p:cNvPr id="50" name="Shape 48"/>
          <p:cNvSpPr/>
          <p:nvPr/>
        </p:nvSpPr>
        <p:spPr>
          <a:xfrm>
            <a:off x="6858000" y="2706624"/>
            <a:ext cx="1097280" cy="365760"/>
          </a:xfrm>
          <a:prstGeom prst="rect">
            <a:avLst/>
          </a:prstGeom>
          <a:solidFill>
            <a:srgbClr val="F8FAFC"/>
          </a:solidFill>
          <a:ln w="3810">
            <a:solidFill>
              <a:srgbClr val="E2E8F0"/>
            </a:solidFill>
            <a:prstDash val="solid"/>
          </a:ln>
        </p:spPr>
      </p:sp>
      <p:sp>
        <p:nvSpPr>
          <p:cNvPr id="51" name="Shape 49"/>
          <p:cNvSpPr/>
          <p:nvPr/>
        </p:nvSpPr>
        <p:spPr>
          <a:xfrm>
            <a:off x="7955280" y="2706624"/>
            <a:ext cx="1097280" cy="365760"/>
          </a:xfrm>
          <a:prstGeom prst="rect">
            <a:avLst/>
          </a:prstGeom>
          <a:solidFill>
            <a:srgbClr val="FFFFFF"/>
          </a:solidFill>
          <a:ln w="3810">
            <a:solidFill>
              <a:srgbClr val="E2E8F0"/>
            </a:solidFill>
            <a:prstDash val="solid"/>
          </a:ln>
        </p:spPr>
      </p:sp>
      <p:sp>
        <p:nvSpPr>
          <p:cNvPr id="52" name="Shape 50"/>
          <p:cNvSpPr/>
          <p:nvPr/>
        </p:nvSpPr>
        <p:spPr>
          <a:xfrm>
            <a:off x="4700016" y="2770632"/>
            <a:ext cx="1572768" cy="237744"/>
          </a:xfrm>
          <a:prstGeom prst="rect">
            <a:avLst/>
          </a:prstGeom>
          <a:solidFill>
            <a:srgbClr val="0891B2"/>
          </a:solidFill>
          <a:ln w="12700">
            <a:solidFill>
              <a:srgbClr val="0891B2"/>
            </a:solidFill>
            <a:prstDash val="solid"/>
          </a:ln>
        </p:spPr>
      </p:sp>
      <p:sp>
        <p:nvSpPr>
          <p:cNvPr id="53" name="Shape 51"/>
          <p:cNvSpPr/>
          <p:nvPr/>
        </p:nvSpPr>
        <p:spPr>
          <a:xfrm>
            <a:off x="274320" y="3136392"/>
            <a:ext cx="2148840" cy="365760"/>
          </a:xfrm>
          <a:prstGeom prst="rect">
            <a:avLst/>
          </a:prstGeom>
          <a:solidFill>
            <a:srgbClr val="F1F5FB"/>
          </a:solidFill>
          <a:ln w="12700">
            <a:solidFill>
              <a:srgbClr val="D1DCF0"/>
            </a:solidFill>
            <a:prstDash val="solid"/>
          </a:ln>
        </p:spPr>
      </p:sp>
      <p:sp>
        <p:nvSpPr>
          <p:cNvPr id="54" name="Text 52"/>
          <p:cNvSpPr/>
          <p:nvPr/>
        </p:nvSpPr>
        <p:spPr>
          <a:xfrm>
            <a:off x="320040" y="3172968"/>
            <a:ext cx="2057400" cy="32004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5. Modules IA (NLP, Chatbot)</a:t>
            </a:r>
            <a:endParaRPr lang="en-US" sz="800" dirty="0"/>
          </a:p>
        </p:txBody>
      </p:sp>
      <p:sp>
        <p:nvSpPr>
          <p:cNvPr id="55" name="Shape 53"/>
          <p:cNvSpPr/>
          <p:nvPr/>
        </p:nvSpPr>
        <p:spPr>
          <a:xfrm>
            <a:off x="2468880" y="3136392"/>
            <a:ext cx="1097280" cy="365760"/>
          </a:xfrm>
          <a:prstGeom prst="rect">
            <a:avLst/>
          </a:prstGeom>
          <a:solidFill>
            <a:srgbClr val="F8FAFC"/>
          </a:solidFill>
          <a:ln w="3810">
            <a:solidFill>
              <a:srgbClr val="E2E8F0"/>
            </a:solidFill>
            <a:prstDash val="solid"/>
          </a:ln>
        </p:spPr>
      </p:sp>
      <p:sp>
        <p:nvSpPr>
          <p:cNvPr id="56" name="Shape 54"/>
          <p:cNvSpPr/>
          <p:nvPr/>
        </p:nvSpPr>
        <p:spPr>
          <a:xfrm>
            <a:off x="3566160" y="3136392"/>
            <a:ext cx="1097280" cy="365760"/>
          </a:xfrm>
          <a:prstGeom prst="rect">
            <a:avLst/>
          </a:prstGeom>
          <a:solidFill>
            <a:srgbClr val="FFFFFF"/>
          </a:solidFill>
          <a:ln w="3810">
            <a:solidFill>
              <a:srgbClr val="E2E8F0"/>
            </a:solidFill>
            <a:prstDash val="solid"/>
          </a:ln>
        </p:spPr>
      </p:sp>
      <p:sp>
        <p:nvSpPr>
          <p:cNvPr id="57" name="Shape 55"/>
          <p:cNvSpPr/>
          <p:nvPr/>
        </p:nvSpPr>
        <p:spPr>
          <a:xfrm>
            <a:off x="4663440" y="3136392"/>
            <a:ext cx="1097280" cy="365760"/>
          </a:xfrm>
          <a:prstGeom prst="rect">
            <a:avLst/>
          </a:prstGeom>
          <a:solidFill>
            <a:srgbClr val="F8FAFC"/>
          </a:solidFill>
          <a:ln w="3810">
            <a:solidFill>
              <a:srgbClr val="E2E8F0"/>
            </a:solidFill>
            <a:prstDash val="solid"/>
          </a:ln>
        </p:spPr>
      </p:sp>
      <p:sp>
        <p:nvSpPr>
          <p:cNvPr id="58" name="Shape 56"/>
          <p:cNvSpPr/>
          <p:nvPr/>
        </p:nvSpPr>
        <p:spPr>
          <a:xfrm>
            <a:off x="5760720" y="3136392"/>
            <a:ext cx="1097280" cy="365760"/>
          </a:xfrm>
          <a:prstGeom prst="rect">
            <a:avLst/>
          </a:prstGeom>
          <a:solidFill>
            <a:srgbClr val="FFFFFF"/>
          </a:solidFill>
          <a:ln w="3810">
            <a:solidFill>
              <a:srgbClr val="E2E8F0"/>
            </a:solidFill>
            <a:prstDash val="solid"/>
          </a:ln>
        </p:spPr>
      </p:sp>
      <p:sp>
        <p:nvSpPr>
          <p:cNvPr id="59" name="Shape 57"/>
          <p:cNvSpPr/>
          <p:nvPr/>
        </p:nvSpPr>
        <p:spPr>
          <a:xfrm>
            <a:off x="6858000" y="3136392"/>
            <a:ext cx="1097280" cy="365760"/>
          </a:xfrm>
          <a:prstGeom prst="rect">
            <a:avLst/>
          </a:prstGeom>
          <a:solidFill>
            <a:srgbClr val="F8FAFC"/>
          </a:solidFill>
          <a:ln w="3810">
            <a:solidFill>
              <a:srgbClr val="E2E8F0"/>
            </a:solidFill>
            <a:prstDash val="solid"/>
          </a:ln>
        </p:spPr>
      </p:sp>
      <p:sp>
        <p:nvSpPr>
          <p:cNvPr id="60" name="Shape 58"/>
          <p:cNvSpPr/>
          <p:nvPr/>
        </p:nvSpPr>
        <p:spPr>
          <a:xfrm>
            <a:off x="7955280" y="3136392"/>
            <a:ext cx="1097280" cy="365760"/>
          </a:xfrm>
          <a:prstGeom prst="rect">
            <a:avLst/>
          </a:prstGeom>
          <a:solidFill>
            <a:srgbClr val="FFFFFF"/>
          </a:solidFill>
          <a:ln w="3810">
            <a:solidFill>
              <a:srgbClr val="E2E8F0"/>
            </a:solidFill>
            <a:prstDash val="solid"/>
          </a:ln>
        </p:spPr>
      </p:sp>
      <p:sp>
        <p:nvSpPr>
          <p:cNvPr id="61" name="Shape 59"/>
          <p:cNvSpPr/>
          <p:nvPr/>
        </p:nvSpPr>
        <p:spPr>
          <a:xfrm>
            <a:off x="4151376" y="3200400"/>
            <a:ext cx="2121408" cy="237744"/>
          </a:xfrm>
          <a:prstGeom prst="rect">
            <a:avLst/>
          </a:prstGeom>
          <a:solidFill>
            <a:srgbClr val="F59E0B"/>
          </a:solidFill>
          <a:ln w="12700">
            <a:solidFill>
              <a:srgbClr val="F59E0B"/>
            </a:solidFill>
            <a:prstDash val="solid"/>
          </a:ln>
        </p:spPr>
      </p:sp>
      <p:sp>
        <p:nvSpPr>
          <p:cNvPr id="62" name="Shape 60"/>
          <p:cNvSpPr/>
          <p:nvPr/>
        </p:nvSpPr>
        <p:spPr>
          <a:xfrm>
            <a:off x="274320" y="3566160"/>
            <a:ext cx="2148840" cy="365760"/>
          </a:xfrm>
          <a:prstGeom prst="rect">
            <a:avLst/>
          </a:prstGeom>
          <a:solidFill>
            <a:srgbClr val="F1F5FB"/>
          </a:solidFill>
          <a:ln w="12700">
            <a:solidFill>
              <a:srgbClr val="D1DCF0"/>
            </a:solidFill>
            <a:prstDash val="solid"/>
          </a:ln>
        </p:spPr>
      </p:sp>
      <p:sp>
        <p:nvSpPr>
          <p:cNvPr id="63" name="Text 61"/>
          <p:cNvSpPr/>
          <p:nvPr/>
        </p:nvSpPr>
        <p:spPr>
          <a:xfrm>
            <a:off x="320040" y="3602736"/>
            <a:ext cx="2057400" cy="32004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6. Intégrations (LDAP, mail…)</a:t>
            </a:r>
            <a:endParaRPr lang="en-US" sz="800" dirty="0"/>
          </a:p>
        </p:txBody>
      </p:sp>
      <p:sp>
        <p:nvSpPr>
          <p:cNvPr id="64" name="Shape 62"/>
          <p:cNvSpPr/>
          <p:nvPr/>
        </p:nvSpPr>
        <p:spPr>
          <a:xfrm>
            <a:off x="2468880" y="3566160"/>
            <a:ext cx="1097280" cy="365760"/>
          </a:xfrm>
          <a:prstGeom prst="rect">
            <a:avLst/>
          </a:prstGeom>
          <a:solidFill>
            <a:srgbClr val="F8FAFC"/>
          </a:solidFill>
          <a:ln w="3810">
            <a:solidFill>
              <a:srgbClr val="E2E8F0"/>
            </a:solidFill>
            <a:prstDash val="solid"/>
          </a:ln>
        </p:spPr>
      </p:sp>
      <p:sp>
        <p:nvSpPr>
          <p:cNvPr id="65" name="Shape 63"/>
          <p:cNvSpPr/>
          <p:nvPr/>
        </p:nvSpPr>
        <p:spPr>
          <a:xfrm>
            <a:off x="3566160" y="3566160"/>
            <a:ext cx="1097280" cy="365760"/>
          </a:xfrm>
          <a:prstGeom prst="rect">
            <a:avLst/>
          </a:prstGeom>
          <a:solidFill>
            <a:srgbClr val="FFFFFF"/>
          </a:solidFill>
          <a:ln w="3810">
            <a:solidFill>
              <a:srgbClr val="E2E8F0"/>
            </a:solidFill>
            <a:prstDash val="solid"/>
          </a:ln>
        </p:spPr>
      </p:sp>
      <p:sp>
        <p:nvSpPr>
          <p:cNvPr id="66" name="Shape 64"/>
          <p:cNvSpPr/>
          <p:nvPr/>
        </p:nvSpPr>
        <p:spPr>
          <a:xfrm>
            <a:off x="4663440" y="3566160"/>
            <a:ext cx="1097280" cy="365760"/>
          </a:xfrm>
          <a:prstGeom prst="rect">
            <a:avLst/>
          </a:prstGeom>
          <a:solidFill>
            <a:srgbClr val="F8FAFC"/>
          </a:solidFill>
          <a:ln w="3810">
            <a:solidFill>
              <a:srgbClr val="E2E8F0"/>
            </a:solidFill>
            <a:prstDash val="solid"/>
          </a:ln>
        </p:spPr>
      </p:sp>
      <p:sp>
        <p:nvSpPr>
          <p:cNvPr id="67" name="Shape 65"/>
          <p:cNvSpPr/>
          <p:nvPr/>
        </p:nvSpPr>
        <p:spPr>
          <a:xfrm>
            <a:off x="5760720" y="3566160"/>
            <a:ext cx="1097280" cy="365760"/>
          </a:xfrm>
          <a:prstGeom prst="rect">
            <a:avLst/>
          </a:prstGeom>
          <a:solidFill>
            <a:srgbClr val="FFFFFF"/>
          </a:solidFill>
          <a:ln w="3810">
            <a:solidFill>
              <a:srgbClr val="E2E8F0"/>
            </a:solidFill>
            <a:prstDash val="solid"/>
          </a:ln>
        </p:spPr>
      </p:sp>
      <p:sp>
        <p:nvSpPr>
          <p:cNvPr id="68" name="Shape 66"/>
          <p:cNvSpPr/>
          <p:nvPr/>
        </p:nvSpPr>
        <p:spPr>
          <a:xfrm>
            <a:off x="6858000" y="3566160"/>
            <a:ext cx="1097280" cy="365760"/>
          </a:xfrm>
          <a:prstGeom prst="rect">
            <a:avLst/>
          </a:prstGeom>
          <a:solidFill>
            <a:srgbClr val="F8FAFC"/>
          </a:solidFill>
          <a:ln w="3810">
            <a:solidFill>
              <a:srgbClr val="E2E8F0"/>
            </a:solidFill>
            <a:prstDash val="solid"/>
          </a:ln>
        </p:spPr>
      </p:sp>
      <p:sp>
        <p:nvSpPr>
          <p:cNvPr id="69" name="Shape 67"/>
          <p:cNvSpPr/>
          <p:nvPr/>
        </p:nvSpPr>
        <p:spPr>
          <a:xfrm>
            <a:off x="7955280" y="3566160"/>
            <a:ext cx="1097280" cy="365760"/>
          </a:xfrm>
          <a:prstGeom prst="rect">
            <a:avLst/>
          </a:prstGeom>
          <a:solidFill>
            <a:srgbClr val="FFFFFF"/>
          </a:solidFill>
          <a:ln w="3810">
            <a:solidFill>
              <a:srgbClr val="E2E8F0"/>
            </a:solidFill>
            <a:prstDash val="solid"/>
          </a:ln>
        </p:spPr>
      </p:sp>
      <p:sp>
        <p:nvSpPr>
          <p:cNvPr id="70" name="Shape 68"/>
          <p:cNvSpPr/>
          <p:nvPr/>
        </p:nvSpPr>
        <p:spPr>
          <a:xfrm>
            <a:off x="6071616" y="3630168"/>
            <a:ext cx="749808" cy="237744"/>
          </a:xfrm>
          <a:prstGeom prst="rect">
            <a:avLst/>
          </a:prstGeom>
          <a:solidFill>
            <a:srgbClr val="0F766E"/>
          </a:solidFill>
          <a:ln w="12700">
            <a:solidFill>
              <a:srgbClr val="0F766E"/>
            </a:solidFill>
            <a:prstDash val="solid"/>
          </a:ln>
        </p:spPr>
      </p:sp>
      <p:sp>
        <p:nvSpPr>
          <p:cNvPr id="71" name="Shape 69"/>
          <p:cNvSpPr/>
          <p:nvPr/>
        </p:nvSpPr>
        <p:spPr>
          <a:xfrm>
            <a:off x="274320" y="3995928"/>
            <a:ext cx="2148840" cy="365760"/>
          </a:xfrm>
          <a:prstGeom prst="rect">
            <a:avLst/>
          </a:prstGeom>
          <a:solidFill>
            <a:srgbClr val="F1F5FB"/>
          </a:solidFill>
          <a:ln w="12700">
            <a:solidFill>
              <a:srgbClr val="D1DCF0"/>
            </a:solidFill>
            <a:prstDash val="solid"/>
          </a:ln>
        </p:spPr>
      </p:sp>
      <p:sp>
        <p:nvSpPr>
          <p:cNvPr id="72" name="Text 70"/>
          <p:cNvSpPr/>
          <p:nvPr/>
        </p:nvSpPr>
        <p:spPr>
          <a:xfrm>
            <a:off x="320040" y="4032504"/>
            <a:ext cx="2057400" cy="32004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7. Tests &amp; Validation (UAT)</a:t>
            </a:r>
            <a:endParaRPr lang="en-US" sz="800" dirty="0"/>
          </a:p>
        </p:txBody>
      </p:sp>
      <p:sp>
        <p:nvSpPr>
          <p:cNvPr id="73" name="Shape 71"/>
          <p:cNvSpPr/>
          <p:nvPr/>
        </p:nvSpPr>
        <p:spPr>
          <a:xfrm>
            <a:off x="2468880" y="3995928"/>
            <a:ext cx="1097280" cy="365760"/>
          </a:xfrm>
          <a:prstGeom prst="rect">
            <a:avLst/>
          </a:prstGeom>
          <a:solidFill>
            <a:srgbClr val="F8FAFC"/>
          </a:solidFill>
          <a:ln w="3810">
            <a:solidFill>
              <a:srgbClr val="E2E8F0"/>
            </a:solidFill>
            <a:prstDash val="solid"/>
          </a:ln>
        </p:spPr>
      </p:sp>
      <p:sp>
        <p:nvSpPr>
          <p:cNvPr id="74" name="Shape 72"/>
          <p:cNvSpPr/>
          <p:nvPr/>
        </p:nvSpPr>
        <p:spPr>
          <a:xfrm>
            <a:off x="3566160" y="3995928"/>
            <a:ext cx="1097280" cy="365760"/>
          </a:xfrm>
          <a:prstGeom prst="rect">
            <a:avLst/>
          </a:prstGeom>
          <a:solidFill>
            <a:srgbClr val="FFFFFF"/>
          </a:solidFill>
          <a:ln w="3810">
            <a:solidFill>
              <a:srgbClr val="E2E8F0"/>
            </a:solidFill>
            <a:prstDash val="solid"/>
          </a:ln>
        </p:spPr>
      </p:sp>
      <p:sp>
        <p:nvSpPr>
          <p:cNvPr id="75" name="Shape 73"/>
          <p:cNvSpPr/>
          <p:nvPr/>
        </p:nvSpPr>
        <p:spPr>
          <a:xfrm>
            <a:off x="4663440" y="3995928"/>
            <a:ext cx="1097280" cy="365760"/>
          </a:xfrm>
          <a:prstGeom prst="rect">
            <a:avLst/>
          </a:prstGeom>
          <a:solidFill>
            <a:srgbClr val="F8FAFC"/>
          </a:solidFill>
          <a:ln w="3810">
            <a:solidFill>
              <a:srgbClr val="E2E8F0"/>
            </a:solidFill>
            <a:prstDash val="solid"/>
          </a:ln>
        </p:spPr>
      </p:sp>
      <p:sp>
        <p:nvSpPr>
          <p:cNvPr id="76" name="Shape 74"/>
          <p:cNvSpPr/>
          <p:nvPr/>
        </p:nvSpPr>
        <p:spPr>
          <a:xfrm>
            <a:off x="5760720" y="3995928"/>
            <a:ext cx="1097280" cy="365760"/>
          </a:xfrm>
          <a:prstGeom prst="rect">
            <a:avLst/>
          </a:prstGeom>
          <a:solidFill>
            <a:srgbClr val="FFFFFF"/>
          </a:solidFill>
          <a:ln w="3810">
            <a:solidFill>
              <a:srgbClr val="E2E8F0"/>
            </a:solidFill>
            <a:prstDash val="solid"/>
          </a:ln>
        </p:spPr>
      </p:sp>
      <p:sp>
        <p:nvSpPr>
          <p:cNvPr id="77" name="Shape 75"/>
          <p:cNvSpPr/>
          <p:nvPr/>
        </p:nvSpPr>
        <p:spPr>
          <a:xfrm>
            <a:off x="6858000" y="3995928"/>
            <a:ext cx="1097280" cy="365760"/>
          </a:xfrm>
          <a:prstGeom prst="rect">
            <a:avLst/>
          </a:prstGeom>
          <a:solidFill>
            <a:srgbClr val="F8FAFC"/>
          </a:solidFill>
          <a:ln w="3810">
            <a:solidFill>
              <a:srgbClr val="E2E8F0"/>
            </a:solidFill>
            <a:prstDash val="solid"/>
          </a:ln>
        </p:spPr>
      </p:sp>
      <p:sp>
        <p:nvSpPr>
          <p:cNvPr id="78" name="Shape 76"/>
          <p:cNvSpPr/>
          <p:nvPr/>
        </p:nvSpPr>
        <p:spPr>
          <a:xfrm>
            <a:off x="7955280" y="3995928"/>
            <a:ext cx="1097280" cy="365760"/>
          </a:xfrm>
          <a:prstGeom prst="rect">
            <a:avLst/>
          </a:prstGeom>
          <a:solidFill>
            <a:srgbClr val="FFFFFF"/>
          </a:solidFill>
          <a:ln w="3810">
            <a:solidFill>
              <a:srgbClr val="E2E8F0"/>
            </a:solidFill>
            <a:prstDash val="solid"/>
          </a:ln>
        </p:spPr>
      </p:sp>
      <p:sp>
        <p:nvSpPr>
          <p:cNvPr id="79" name="Shape 77"/>
          <p:cNvSpPr/>
          <p:nvPr/>
        </p:nvSpPr>
        <p:spPr>
          <a:xfrm>
            <a:off x="6894576" y="4059936"/>
            <a:ext cx="749808" cy="237744"/>
          </a:xfrm>
          <a:prstGeom prst="rect">
            <a:avLst/>
          </a:prstGeom>
          <a:solidFill>
            <a:srgbClr val="EF4444"/>
          </a:solidFill>
          <a:ln w="12700">
            <a:solidFill>
              <a:srgbClr val="EF4444"/>
            </a:solidFill>
            <a:prstDash val="solid"/>
          </a:ln>
        </p:spPr>
      </p:sp>
      <p:sp>
        <p:nvSpPr>
          <p:cNvPr id="80" name="Shape 78"/>
          <p:cNvSpPr/>
          <p:nvPr/>
        </p:nvSpPr>
        <p:spPr>
          <a:xfrm>
            <a:off x="274320" y="4425696"/>
            <a:ext cx="2148840" cy="365760"/>
          </a:xfrm>
          <a:prstGeom prst="rect">
            <a:avLst/>
          </a:prstGeom>
          <a:solidFill>
            <a:srgbClr val="F1F5FB"/>
          </a:solidFill>
          <a:ln w="12700">
            <a:solidFill>
              <a:srgbClr val="D1DCF0"/>
            </a:solidFill>
            <a:prstDash val="solid"/>
          </a:ln>
        </p:spPr>
      </p:sp>
      <p:sp>
        <p:nvSpPr>
          <p:cNvPr id="81" name="Text 79"/>
          <p:cNvSpPr/>
          <p:nvPr/>
        </p:nvSpPr>
        <p:spPr>
          <a:xfrm>
            <a:off x="320040" y="4462272"/>
            <a:ext cx="2057400" cy="32004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8. Déploiement &amp; Documentation</a:t>
            </a:r>
            <a:endParaRPr lang="en-US" sz="800" dirty="0"/>
          </a:p>
        </p:txBody>
      </p:sp>
      <p:sp>
        <p:nvSpPr>
          <p:cNvPr id="82" name="Shape 80"/>
          <p:cNvSpPr/>
          <p:nvPr/>
        </p:nvSpPr>
        <p:spPr>
          <a:xfrm>
            <a:off x="2468880" y="4425696"/>
            <a:ext cx="1097280" cy="365760"/>
          </a:xfrm>
          <a:prstGeom prst="rect">
            <a:avLst/>
          </a:prstGeom>
          <a:solidFill>
            <a:srgbClr val="F8FAFC"/>
          </a:solidFill>
          <a:ln w="3810">
            <a:solidFill>
              <a:srgbClr val="E2E8F0"/>
            </a:solidFill>
            <a:prstDash val="solid"/>
          </a:ln>
        </p:spPr>
      </p:sp>
      <p:sp>
        <p:nvSpPr>
          <p:cNvPr id="83" name="Shape 81"/>
          <p:cNvSpPr/>
          <p:nvPr/>
        </p:nvSpPr>
        <p:spPr>
          <a:xfrm>
            <a:off x="3566160" y="4425696"/>
            <a:ext cx="1097280" cy="365760"/>
          </a:xfrm>
          <a:prstGeom prst="rect">
            <a:avLst/>
          </a:prstGeom>
          <a:solidFill>
            <a:srgbClr val="FFFFFF"/>
          </a:solidFill>
          <a:ln w="3810">
            <a:solidFill>
              <a:srgbClr val="E2E8F0"/>
            </a:solidFill>
            <a:prstDash val="solid"/>
          </a:ln>
        </p:spPr>
      </p:sp>
      <p:sp>
        <p:nvSpPr>
          <p:cNvPr id="84" name="Shape 82"/>
          <p:cNvSpPr/>
          <p:nvPr/>
        </p:nvSpPr>
        <p:spPr>
          <a:xfrm>
            <a:off x="4663440" y="4425696"/>
            <a:ext cx="1097280" cy="365760"/>
          </a:xfrm>
          <a:prstGeom prst="rect">
            <a:avLst/>
          </a:prstGeom>
          <a:solidFill>
            <a:srgbClr val="F8FAFC"/>
          </a:solidFill>
          <a:ln w="3810">
            <a:solidFill>
              <a:srgbClr val="E2E8F0"/>
            </a:solidFill>
            <a:prstDash val="solid"/>
          </a:ln>
        </p:spPr>
      </p:sp>
      <p:sp>
        <p:nvSpPr>
          <p:cNvPr id="85" name="Shape 83"/>
          <p:cNvSpPr/>
          <p:nvPr/>
        </p:nvSpPr>
        <p:spPr>
          <a:xfrm>
            <a:off x="5760720" y="4425696"/>
            <a:ext cx="1097280" cy="365760"/>
          </a:xfrm>
          <a:prstGeom prst="rect">
            <a:avLst/>
          </a:prstGeom>
          <a:solidFill>
            <a:srgbClr val="FFFFFF"/>
          </a:solidFill>
          <a:ln w="3810">
            <a:solidFill>
              <a:srgbClr val="E2E8F0"/>
            </a:solidFill>
            <a:prstDash val="solid"/>
          </a:ln>
        </p:spPr>
      </p:sp>
      <p:sp>
        <p:nvSpPr>
          <p:cNvPr id="86" name="Shape 84"/>
          <p:cNvSpPr/>
          <p:nvPr/>
        </p:nvSpPr>
        <p:spPr>
          <a:xfrm>
            <a:off x="6858000" y="4425696"/>
            <a:ext cx="1097280" cy="365760"/>
          </a:xfrm>
          <a:prstGeom prst="rect">
            <a:avLst/>
          </a:prstGeom>
          <a:solidFill>
            <a:srgbClr val="F8FAFC"/>
          </a:solidFill>
          <a:ln w="3810">
            <a:solidFill>
              <a:srgbClr val="E2E8F0"/>
            </a:solidFill>
            <a:prstDash val="solid"/>
          </a:ln>
        </p:spPr>
      </p:sp>
      <p:sp>
        <p:nvSpPr>
          <p:cNvPr id="87" name="Shape 85"/>
          <p:cNvSpPr/>
          <p:nvPr/>
        </p:nvSpPr>
        <p:spPr>
          <a:xfrm>
            <a:off x="7955280" y="4425696"/>
            <a:ext cx="1097280" cy="365760"/>
          </a:xfrm>
          <a:prstGeom prst="rect">
            <a:avLst/>
          </a:prstGeom>
          <a:solidFill>
            <a:srgbClr val="FFFFFF"/>
          </a:solidFill>
          <a:ln w="3810">
            <a:solidFill>
              <a:srgbClr val="E2E8F0"/>
            </a:solidFill>
            <a:prstDash val="solid"/>
          </a:ln>
        </p:spPr>
      </p:sp>
      <p:sp>
        <p:nvSpPr>
          <p:cNvPr id="88" name="Shape 86"/>
          <p:cNvSpPr/>
          <p:nvPr/>
        </p:nvSpPr>
        <p:spPr>
          <a:xfrm>
            <a:off x="7717536" y="4489704"/>
            <a:ext cx="1298448" cy="237744"/>
          </a:xfrm>
          <a:prstGeom prst="rect">
            <a:avLst/>
          </a:prstGeom>
          <a:solidFill>
            <a:srgbClr val="64748B"/>
          </a:solidFill>
          <a:ln w="12700">
            <a:solidFill>
              <a:srgbClr val="64748B"/>
            </a:solidFill>
            <a:prstDash val="solid"/>
          </a:ln>
        </p:spPr>
      </p:sp>
      <p:sp>
        <p:nvSpPr>
          <p:cNvPr id="89" name="Text 87"/>
          <p:cNvSpPr/>
          <p:nvPr/>
        </p:nvSpPr>
        <p:spPr>
          <a:xfrm>
            <a:off x="320040" y="4919472"/>
            <a:ext cx="850392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Durée totale du projet : 6 mois  |  Mars 2026 → Août 2026  |  Méthodologie Agile/Scrum – Sprints bimensuels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4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4F3"/>
          </a:solidFill>
          <a:ln w="12700">
            <a:solidFill>
              <a:srgbClr val="2EC4F3"/>
            </a:solidFill>
            <a:prstDash val="solid"/>
          </a:ln>
        </p:spPr>
      </p:sp>
      <p:sp>
        <p:nvSpPr>
          <p:cNvPr id="3" name="Text 1"/>
          <p:cNvSpPr/>
          <p:nvPr/>
        </p:nvSpPr>
        <p:spPr>
          <a:xfrm>
            <a:off x="457200" y="201168"/>
            <a:ext cx="8229600" cy="457200"/>
          </a:xfrm>
          <a:prstGeom prst="rect">
            <a:avLst/>
          </a:prstGeom>
          <a:noFill/>
          <a:ln/>
        </p:spPr>
        <p:txBody>
          <a:bodyPr wrap="square" lIns="0" tIns="0" rIns="0" bIns="0" rtlCol="0" anchor="ctr"/>
          <a:lstStyle/>
          <a:p>
            <a:pPr indent="0" marL="0">
              <a:buNone/>
            </a:pPr>
            <a:r>
              <a:rPr lang="en-US" sz="2000" b="1" spc="400" kern="0" dirty="0">
                <a:solidFill>
                  <a:srgbClr val="FFFFFF"/>
                </a:solidFill>
                <a:latin typeface="Calibri" pitchFamily="34" charset="0"/>
                <a:ea typeface="Calibri" pitchFamily="34" charset="-122"/>
                <a:cs typeface="Calibri" pitchFamily="34" charset="-120"/>
              </a:rPr>
              <a:t>CONCLUSION</a:t>
            </a:r>
            <a:endParaRPr lang="en-US" sz="2000" dirty="0"/>
          </a:p>
        </p:txBody>
      </p:sp>
      <p:sp>
        <p:nvSpPr>
          <p:cNvPr id="4" name="Shape 2"/>
          <p:cNvSpPr/>
          <p:nvPr/>
        </p:nvSpPr>
        <p:spPr>
          <a:xfrm>
            <a:off x="320040" y="822960"/>
            <a:ext cx="4069080" cy="4114800"/>
          </a:xfrm>
          <a:prstGeom prst="rect">
            <a:avLst/>
          </a:prstGeom>
          <a:solidFill>
            <a:srgbClr val="0A1C40"/>
          </a:solidFill>
          <a:ln w="12700">
            <a:solidFill>
              <a:srgbClr val="1E3A6A"/>
            </a:solidFill>
            <a:prstDash val="solid"/>
          </a:ln>
        </p:spPr>
      </p:sp>
      <p:sp>
        <p:nvSpPr>
          <p:cNvPr id="5" name="Text 3"/>
          <p:cNvSpPr/>
          <p:nvPr/>
        </p:nvSpPr>
        <p:spPr>
          <a:xfrm>
            <a:off x="502920" y="914400"/>
            <a:ext cx="3749040" cy="347472"/>
          </a:xfrm>
          <a:prstGeom prst="rect">
            <a:avLst/>
          </a:prstGeom>
          <a:noFill/>
          <a:ln/>
        </p:spPr>
        <p:txBody>
          <a:bodyPr wrap="square" lIns="0" tIns="0" rIns="0" bIns="0" rtlCol="0" anchor="ctr"/>
          <a:lstStyle/>
          <a:p>
            <a:pPr indent="0" marL="0">
              <a:buNone/>
            </a:pPr>
            <a:r>
              <a:rPr lang="en-US" sz="1200" b="1" dirty="0">
                <a:solidFill>
                  <a:srgbClr val="2EC4F3"/>
                </a:solidFill>
                <a:latin typeface="Calibri" pitchFamily="34" charset="0"/>
                <a:ea typeface="Calibri" pitchFamily="34" charset="-122"/>
                <a:cs typeface="Calibri" pitchFamily="34" charset="-120"/>
              </a:rPr>
              <a:t>📋  Résumé du Projet</a:t>
            </a:r>
            <a:endParaRPr lang="en-US" sz="1200" dirty="0"/>
          </a:p>
        </p:txBody>
      </p:sp>
      <p:sp>
        <p:nvSpPr>
          <p:cNvPr id="6" name="Text 4"/>
          <p:cNvSpPr/>
          <p:nvPr/>
        </p:nvSpPr>
        <p:spPr>
          <a:xfrm>
            <a:off x="502920" y="1325880"/>
            <a:ext cx="3749040" cy="1097280"/>
          </a:xfrm>
          <a:prstGeom prst="rect">
            <a:avLst/>
          </a:prstGeom>
          <a:noFill/>
          <a:ln/>
        </p:spPr>
        <p:txBody>
          <a:bodyPr wrap="square" lIns="0" tIns="0" rIns="0" bIns="0" rtlCol="0" anchor="ctr"/>
          <a:lstStyle/>
          <a:p>
            <a:pPr indent="0" marL="0">
              <a:buNone/>
            </a:pPr>
            <a:r>
              <a:rPr lang="en-US" sz="950" dirty="0">
                <a:solidFill>
                  <a:srgbClr val="A0BFD8"/>
                </a:solidFill>
                <a:latin typeface="Calibri" pitchFamily="34" charset="0"/>
                <a:ea typeface="Calibri" pitchFamily="34" charset="-122"/>
                <a:cs typeface="Calibri" pitchFamily="34" charset="-120"/>
              </a:rPr>
              <a:t>Ce projet de fin d'études a abouti au développement d'une plateforme Helpdesk IA complète pour GEISER, couvrant l'ensemble du cycle de vie des tickets de support : création multicanale, classification automatique par NLP, routage intelligent, chatbot 24/7, suivi SLA et tableaux de bord analytiques.</a:t>
            </a:r>
            <a:endParaRPr lang="en-US" sz="950" dirty="0"/>
          </a:p>
        </p:txBody>
      </p:sp>
      <p:sp>
        <p:nvSpPr>
          <p:cNvPr id="7" name="Text 5"/>
          <p:cNvSpPr/>
          <p:nvPr/>
        </p:nvSpPr>
        <p:spPr>
          <a:xfrm>
            <a:off x="502920" y="2514600"/>
            <a:ext cx="3749040" cy="320040"/>
          </a:xfrm>
          <a:prstGeom prst="rect">
            <a:avLst/>
          </a:prstGeom>
          <a:noFill/>
          <a:ln/>
        </p:spPr>
        <p:txBody>
          <a:bodyPr wrap="square" lIns="0" tIns="0" rIns="0" bIns="0" rtlCol="0" anchor="ctr"/>
          <a:lstStyle/>
          <a:p>
            <a:pPr indent="0" marL="0">
              <a:buNone/>
            </a:pPr>
            <a:r>
              <a:rPr lang="en-US" sz="1200" b="1" dirty="0">
                <a:solidFill>
                  <a:srgbClr val="2EC4F3"/>
                </a:solidFill>
                <a:latin typeface="Calibri" pitchFamily="34" charset="0"/>
                <a:ea typeface="Calibri" pitchFamily="34" charset="-122"/>
                <a:cs typeface="Calibri" pitchFamily="34" charset="-120"/>
              </a:rPr>
              <a:t>🎓  Apports du projet</a:t>
            </a:r>
            <a:endParaRPr lang="en-US" sz="1200" dirty="0"/>
          </a:p>
        </p:txBody>
      </p:sp>
      <p:sp>
        <p:nvSpPr>
          <p:cNvPr id="8" name="Text 6"/>
          <p:cNvSpPr/>
          <p:nvPr/>
        </p:nvSpPr>
        <p:spPr>
          <a:xfrm>
            <a:off x="502920" y="2852928"/>
            <a:ext cx="3749040" cy="1737360"/>
          </a:xfrm>
          <a:prstGeom prst="rect">
            <a:avLst/>
          </a:prstGeom>
          <a:noFill/>
          <a:ln/>
        </p:spPr>
        <p:txBody>
          <a:bodyPr wrap="square" rtlCol="0" anchor="t"/>
          <a:lstStyle/>
          <a:p>
            <a:pPr marL="342900" indent="-342900">
              <a:spcAft>
                <a:spcPts val="400"/>
              </a:spcAft>
              <a:buSzPct val="100000"/>
              <a:buChar char="•"/>
            </a:pPr>
            <a:r>
              <a:rPr lang="en-US" sz="1150" dirty="0">
                <a:solidFill>
                  <a:srgbClr val="90B4CC"/>
                </a:solidFill>
                <a:latin typeface="Calibri" pitchFamily="34" charset="0"/>
                <a:ea typeface="Calibri" pitchFamily="34" charset="-122"/>
                <a:cs typeface="Calibri" pitchFamily="34" charset="-120"/>
              </a:rPr>
              <a:t>Maîtrise de l'architecture microservices et des API REST</a:t>
            </a:r>
            <a:endParaRPr lang="en-US" sz="1150" dirty="0"/>
          </a:p>
          <a:p>
            <a:pPr marL="342900" indent="-342900">
              <a:spcAft>
                <a:spcPts val="400"/>
              </a:spcAft>
              <a:buSzPct val="100000"/>
              <a:buChar char="•"/>
            </a:pPr>
            <a:r>
              <a:rPr lang="en-US" sz="1150" dirty="0">
                <a:solidFill>
                  <a:srgbClr val="90B4CC"/>
                </a:solidFill>
                <a:latin typeface="Calibri" pitchFamily="34" charset="0"/>
                <a:ea typeface="Calibri" pitchFamily="34" charset="-122"/>
                <a:cs typeface="Calibri" pitchFamily="34" charset="-120"/>
              </a:rPr>
              <a:t>Compétences en NLP, Machine Learning et déploiement IA</a:t>
            </a:r>
            <a:endParaRPr lang="en-US" sz="1150" dirty="0"/>
          </a:p>
          <a:p>
            <a:pPr marL="342900" indent="-342900">
              <a:spcAft>
                <a:spcPts val="400"/>
              </a:spcAft>
              <a:buSzPct val="100000"/>
              <a:buChar char="•"/>
            </a:pPr>
            <a:r>
              <a:rPr lang="en-US" sz="1150" dirty="0">
                <a:solidFill>
                  <a:srgbClr val="90B4CC"/>
                </a:solidFill>
                <a:latin typeface="Calibri" pitchFamily="34" charset="0"/>
                <a:ea typeface="Calibri" pitchFamily="34" charset="-122"/>
                <a:cs typeface="Calibri" pitchFamily="34" charset="-120"/>
              </a:rPr>
              <a:t>Expérience concrète en gestion de projet Agile/Scrum</a:t>
            </a:r>
            <a:endParaRPr lang="en-US" sz="1150" dirty="0"/>
          </a:p>
          <a:p>
            <a:pPr marL="342900" indent="-342900">
              <a:spcAft>
                <a:spcPts val="400"/>
              </a:spcAft>
              <a:buSzPct val="100000"/>
              <a:buChar char="•"/>
            </a:pPr>
            <a:r>
              <a:rPr lang="en-US" sz="1150" dirty="0">
                <a:solidFill>
                  <a:srgbClr val="90B4CC"/>
                </a:solidFill>
                <a:latin typeface="Calibri" pitchFamily="34" charset="0"/>
                <a:ea typeface="Calibri" pitchFamily="34" charset="-122"/>
                <a:cs typeface="Calibri" pitchFamily="34" charset="-120"/>
              </a:rPr>
              <a:t>Connaissance approfondie des normes de sécurité ISO 27001</a:t>
            </a:r>
            <a:endParaRPr lang="en-US" sz="1150" dirty="0"/>
          </a:p>
        </p:txBody>
      </p:sp>
      <p:sp>
        <p:nvSpPr>
          <p:cNvPr id="9" name="Text 7"/>
          <p:cNvSpPr/>
          <p:nvPr/>
        </p:nvSpPr>
        <p:spPr>
          <a:xfrm>
            <a:off x="4754880" y="868680"/>
            <a:ext cx="4114800" cy="347472"/>
          </a:xfrm>
          <a:prstGeom prst="rect">
            <a:avLst/>
          </a:prstGeom>
          <a:noFill/>
          <a:ln/>
        </p:spPr>
        <p:txBody>
          <a:bodyPr wrap="square" lIns="0" tIns="0" rIns="0" bIns="0" rtlCol="0" anchor="ctr"/>
          <a:lstStyle/>
          <a:p>
            <a:pPr indent="0" marL="0">
              <a:buNone/>
            </a:pPr>
            <a:r>
              <a:rPr lang="en-US" sz="1200" b="1" dirty="0">
                <a:solidFill>
                  <a:srgbClr val="2EC4F3"/>
                </a:solidFill>
                <a:latin typeface="Calibri" pitchFamily="34" charset="0"/>
                <a:ea typeface="Calibri" pitchFamily="34" charset="-122"/>
                <a:cs typeface="Calibri" pitchFamily="34" charset="-120"/>
              </a:rPr>
              <a:t>📈  Impact Attendu</a:t>
            </a:r>
            <a:endParaRPr lang="en-US" sz="1200" dirty="0"/>
          </a:p>
        </p:txBody>
      </p:sp>
      <p:sp>
        <p:nvSpPr>
          <p:cNvPr id="10" name="Shape 8"/>
          <p:cNvSpPr/>
          <p:nvPr/>
        </p:nvSpPr>
        <p:spPr>
          <a:xfrm>
            <a:off x="4754880" y="1298448"/>
            <a:ext cx="1920240" cy="1481328"/>
          </a:xfrm>
          <a:prstGeom prst="rect">
            <a:avLst/>
          </a:prstGeom>
          <a:solidFill>
            <a:srgbClr val="0D2150"/>
          </a:solidFill>
          <a:ln w="12700">
            <a:solidFill>
              <a:srgbClr val="1E3A6A"/>
            </a:solidFill>
            <a:prstDash val="solid"/>
          </a:ln>
        </p:spPr>
      </p:sp>
      <p:sp>
        <p:nvSpPr>
          <p:cNvPr id="11" name="Text 9"/>
          <p:cNvSpPr/>
          <p:nvPr/>
        </p:nvSpPr>
        <p:spPr>
          <a:xfrm>
            <a:off x="4754880" y="1463040"/>
            <a:ext cx="19202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4754880" y="1920240"/>
            <a:ext cx="1920240" cy="457200"/>
          </a:xfrm>
          <a:prstGeom prst="rect">
            <a:avLst/>
          </a:prstGeom>
          <a:noFill/>
          <a:ln/>
        </p:spPr>
        <p:txBody>
          <a:bodyPr wrap="square" lIns="0" tIns="0" rIns="0" bIns="0" rtlCol="0" anchor="ctr"/>
          <a:lstStyle/>
          <a:p>
            <a:pPr algn="ctr" indent="0" marL="0">
              <a:buNone/>
            </a:pPr>
            <a:r>
              <a:rPr lang="en-US" sz="2400" b="1" dirty="0">
                <a:solidFill>
                  <a:srgbClr val="2EC4F3"/>
                </a:solidFill>
                <a:latin typeface="Calibri" pitchFamily="34" charset="0"/>
                <a:ea typeface="Calibri" pitchFamily="34" charset="-122"/>
                <a:cs typeface="Calibri" pitchFamily="34" charset="-120"/>
              </a:rPr>
              <a:t>–60%</a:t>
            </a:r>
            <a:endParaRPr lang="en-US" sz="2400" dirty="0"/>
          </a:p>
        </p:txBody>
      </p:sp>
      <p:sp>
        <p:nvSpPr>
          <p:cNvPr id="13" name="Text 11"/>
          <p:cNvSpPr/>
          <p:nvPr/>
        </p:nvSpPr>
        <p:spPr>
          <a:xfrm>
            <a:off x="4754880" y="2377440"/>
            <a:ext cx="1920240" cy="292608"/>
          </a:xfrm>
          <a:prstGeom prst="rect">
            <a:avLst/>
          </a:prstGeom>
          <a:noFill/>
          <a:ln/>
        </p:spPr>
        <p:txBody>
          <a:bodyPr wrap="square" lIns="0" tIns="0" rIns="0" bIns="0" rtlCol="0" anchor="ctr"/>
          <a:lstStyle/>
          <a:p>
            <a:pPr algn="ctr" indent="0" marL="0">
              <a:buNone/>
            </a:pPr>
            <a:r>
              <a:rPr lang="en-US" sz="850" dirty="0">
                <a:solidFill>
                  <a:srgbClr val="90B4CC"/>
                </a:solidFill>
                <a:latin typeface="Calibri" pitchFamily="34" charset="0"/>
                <a:ea typeface="Calibri" pitchFamily="34" charset="-122"/>
                <a:cs typeface="Calibri" pitchFamily="34" charset="-120"/>
              </a:rPr>
              <a:t>Temps de traitement</a:t>
            </a:r>
            <a:endParaRPr lang="en-US" sz="850" dirty="0"/>
          </a:p>
        </p:txBody>
      </p:sp>
      <p:sp>
        <p:nvSpPr>
          <p:cNvPr id="14" name="Shape 12"/>
          <p:cNvSpPr/>
          <p:nvPr/>
        </p:nvSpPr>
        <p:spPr>
          <a:xfrm>
            <a:off x="6858000" y="1298448"/>
            <a:ext cx="1920240" cy="1481328"/>
          </a:xfrm>
          <a:prstGeom prst="rect">
            <a:avLst/>
          </a:prstGeom>
          <a:solidFill>
            <a:srgbClr val="0D2150"/>
          </a:solidFill>
          <a:ln w="12700">
            <a:solidFill>
              <a:srgbClr val="1E3A6A"/>
            </a:solidFill>
            <a:prstDash val="solid"/>
          </a:ln>
        </p:spPr>
      </p:sp>
      <p:sp>
        <p:nvSpPr>
          <p:cNvPr id="15" name="Text 13"/>
          <p:cNvSpPr/>
          <p:nvPr/>
        </p:nvSpPr>
        <p:spPr>
          <a:xfrm>
            <a:off x="6858000" y="1463040"/>
            <a:ext cx="19202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6858000" y="1920240"/>
            <a:ext cx="1920240" cy="457200"/>
          </a:xfrm>
          <a:prstGeom prst="rect">
            <a:avLst/>
          </a:prstGeom>
          <a:noFill/>
          <a:ln/>
        </p:spPr>
        <p:txBody>
          <a:bodyPr wrap="square" lIns="0" tIns="0" rIns="0" bIns="0" rtlCol="0" anchor="ctr"/>
          <a:lstStyle/>
          <a:p>
            <a:pPr algn="ctr" indent="0" marL="0">
              <a:buNone/>
            </a:pPr>
            <a:r>
              <a:rPr lang="en-US" sz="2400" b="1" dirty="0">
                <a:solidFill>
                  <a:srgbClr val="2EC4F3"/>
                </a:solidFill>
                <a:latin typeface="Calibri" pitchFamily="34" charset="0"/>
                <a:ea typeface="Calibri" pitchFamily="34" charset="-122"/>
                <a:cs typeface="Calibri" pitchFamily="34" charset="-120"/>
              </a:rPr>
              <a:t>+40%</a:t>
            </a:r>
            <a:endParaRPr lang="en-US" sz="2400" dirty="0"/>
          </a:p>
        </p:txBody>
      </p:sp>
      <p:sp>
        <p:nvSpPr>
          <p:cNvPr id="17" name="Text 15"/>
          <p:cNvSpPr/>
          <p:nvPr/>
        </p:nvSpPr>
        <p:spPr>
          <a:xfrm>
            <a:off x="6858000" y="2377440"/>
            <a:ext cx="1920240" cy="292608"/>
          </a:xfrm>
          <a:prstGeom prst="rect">
            <a:avLst/>
          </a:prstGeom>
          <a:noFill/>
          <a:ln/>
        </p:spPr>
        <p:txBody>
          <a:bodyPr wrap="square" lIns="0" tIns="0" rIns="0" bIns="0" rtlCol="0" anchor="ctr"/>
          <a:lstStyle/>
          <a:p>
            <a:pPr algn="ctr" indent="0" marL="0">
              <a:buNone/>
            </a:pPr>
            <a:r>
              <a:rPr lang="en-US" sz="850" dirty="0">
                <a:solidFill>
                  <a:srgbClr val="90B4CC"/>
                </a:solidFill>
                <a:latin typeface="Calibri" pitchFamily="34" charset="0"/>
                <a:ea typeface="Calibri" pitchFamily="34" charset="-122"/>
                <a:cs typeface="Calibri" pitchFamily="34" charset="-120"/>
              </a:rPr>
              <a:t>Productivité agents</a:t>
            </a:r>
            <a:endParaRPr lang="en-US" sz="850" dirty="0"/>
          </a:p>
        </p:txBody>
      </p:sp>
      <p:sp>
        <p:nvSpPr>
          <p:cNvPr id="18" name="Shape 16"/>
          <p:cNvSpPr/>
          <p:nvPr/>
        </p:nvSpPr>
        <p:spPr>
          <a:xfrm>
            <a:off x="4754880" y="2990088"/>
            <a:ext cx="1920240" cy="1481328"/>
          </a:xfrm>
          <a:prstGeom prst="rect">
            <a:avLst/>
          </a:prstGeom>
          <a:solidFill>
            <a:srgbClr val="0D2150"/>
          </a:solidFill>
          <a:ln w="12700">
            <a:solidFill>
              <a:srgbClr val="1E3A6A"/>
            </a:solidFill>
            <a:prstDash val="solid"/>
          </a:ln>
        </p:spPr>
      </p:sp>
      <p:sp>
        <p:nvSpPr>
          <p:cNvPr id="19" name="Text 17"/>
          <p:cNvSpPr/>
          <p:nvPr/>
        </p:nvSpPr>
        <p:spPr>
          <a:xfrm>
            <a:off x="4754880" y="3154680"/>
            <a:ext cx="19202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4754880" y="3611880"/>
            <a:ext cx="1920240" cy="457200"/>
          </a:xfrm>
          <a:prstGeom prst="rect">
            <a:avLst/>
          </a:prstGeom>
          <a:noFill/>
          <a:ln/>
        </p:spPr>
        <p:txBody>
          <a:bodyPr wrap="square" lIns="0" tIns="0" rIns="0" bIns="0" rtlCol="0" anchor="ctr"/>
          <a:lstStyle/>
          <a:p>
            <a:pPr algn="ctr" indent="0" marL="0">
              <a:buNone/>
            </a:pPr>
            <a:r>
              <a:rPr lang="en-US" sz="2400" b="1" dirty="0">
                <a:solidFill>
                  <a:srgbClr val="2EC4F3"/>
                </a:solidFill>
                <a:latin typeface="Calibri" pitchFamily="34" charset="0"/>
                <a:ea typeface="Calibri" pitchFamily="34" charset="-122"/>
                <a:cs typeface="Calibri" pitchFamily="34" charset="-120"/>
              </a:rPr>
              <a:t>&gt;90%</a:t>
            </a:r>
            <a:endParaRPr lang="en-US" sz="2400" dirty="0"/>
          </a:p>
        </p:txBody>
      </p:sp>
      <p:sp>
        <p:nvSpPr>
          <p:cNvPr id="21" name="Text 19"/>
          <p:cNvSpPr/>
          <p:nvPr/>
        </p:nvSpPr>
        <p:spPr>
          <a:xfrm>
            <a:off x="4754880" y="4069080"/>
            <a:ext cx="1920240" cy="292608"/>
          </a:xfrm>
          <a:prstGeom prst="rect">
            <a:avLst/>
          </a:prstGeom>
          <a:noFill/>
          <a:ln/>
        </p:spPr>
        <p:txBody>
          <a:bodyPr wrap="square" lIns="0" tIns="0" rIns="0" bIns="0" rtlCol="0" anchor="ctr"/>
          <a:lstStyle/>
          <a:p>
            <a:pPr algn="ctr" indent="0" marL="0">
              <a:buNone/>
            </a:pPr>
            <a:r>
              <a:rPr lang="en-US" sz="850" dirty="0">
                <a:solidFill>
                  <a:srgbClr val="90B4CC"/>
                </a:solidFill>
                <a:latin typeface="Calibri" pitchFamily="34" charset="0"/>
                <a:ea typeface="Calibri" pitchFamily="34" charset="-122"/>
                <a:cs typeface="Calibri" pitchFamily="34" charset="-120"/>
              </a:rPr>
              <a:t>Satisfaction client</a:t>
            </a:r>
            <a:endParaRPr lang="en-US" sz="850" dirty="0"/>
          </a:p>
        </p:txBody>
      </p:sp>
      <p:sp>
        <p:nvSpPr>
          <p:cNvPr id="22" name="Shape 20"/>
          <p:cNvSpPr/>
          <p:nvPr/>
        </p:nvSpPr>
        <p:spPr>
          <a:xfrm>
            <a:off x="6858000" y="2990088"/>
            <a:ext cx="1920240" cy="1481328"/>
          </a:xfrm>
          <a:prstGeom prst="rect">
            <a:avLst/>
          </a:prstGeom>
          <a:solidFill>
            <a:srgbClr val="0D2150"/>
          </a:solidFill>
          <a:ln w="12700">
            <a:solidFill>
              <a:srgbClr val="1E3A6A"/>
            </a:solidFill>
            <a:prstDash val="solid"/>
          </a:ln>
        </p:spPr>
      </p:sp>
      <p:sp>
        <p:nvSpPr>
          <p:cNvPr id="23" name="Text 21"/>
          <p:cNvSpPr/>
          <p:nvPr/>
        </p:nvSpPr>
        <p:spPr>
          <a:xfrm>
            <a:off x="6858000" y="3154680"/>
            <a:ext cx="19202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Text 22"/>
          <p:cNvSpPr/>
          <p:nvPr/>
        </p:nvSpPr>
        <p:spPr>
          <a:xfrm>
            <a:off x="6858000" y="3611880"/>
            <a:ext cx="1920240" cy="457200"/>
          </a:xfrm>
          <a:prstGeom prst="rect">
            <a:avLst/>
          </a:prstGeom>
          <a:noFill/>
          <a:ln/>
        </p:spPr>
        <p:txBody>
          <a:bodyPr wrap="square" lIns="0" tIns="0" rIns="0" bIns="0" rtlCol="0" anchor="ctr"/>
          <a:lstStyle/>
          <a:p>
            <a:pPr algn="ctr" indent="0" marL="0">
              <a:buNone/>
            </a:pPr>
            <a:r>
              <a:rPr lang="en-US" sz="2400" b="1" dirty="0">
                <a:solidFill>
                  <a:srgbClr val="2EC4F3"/>
                </a:solidFill>
                <a:latin typeface="Calibri" pitchFamily="34" charset="0"/>
                <a:ea typeface="Calibri" pitchFamily="34" charset="-122"/>
                <a:cs typeface="Calibri" pitchFamily="34" charset="-120"/>
              </a:rPr>
              <a:t>&gt;95%</a:t>
            </a:r>
            <a:endParaRPr lang="en-US" sz="2400" dirty="0"/>
          </a:p>
        </p:txBody>
      </p:sp>
      <p:sp>
        <p:nvSpPr>
          <p:cNvPr id="25" name="Text 23"/>
          <p:cNvSpPr/>
          <p:nvPr/>
        </p:nvSpPr>
        <p:spPr>
          <a:xfrm>
            <a:off x="6858000" y="4069080"/>
            <a:ext cx="1920240" cy="292608"/>
          </a:xfrm>
          <a:prstGeom prst="rect">
            <a:avLst/>
          </a:prstGeom>
          <a:noFill/>
          <a:ln/>
        </p:spPr>
        <p:txBody>
          <a:bodyPr wrap="square" lIns="0" tIns="0" rIns="0" bIns="0" rtlCol="0" anchor="ctr"/>
          <a:lstStyle/>
          <a:p>
            <a:pPr algn="ctr" indent="0" marL="0">
              <a:buNone/>
            </a:pPr>
            <a:r>
              <a:rPr lang="en-US" sz="850" dirty="0">
                <a:solidFill>
                  <a:srgbClr val="90B4CC"/>
                </a:solidFill>
                <a:latin typeface="Calibri" pitchFamily="34" charset="0"/>
                <a:ea typeface="Calibri" pitchFamily="34" charset="-122"/>
                <a:cs typeface="Calibri" pitchFamily="34" charset="-120"/>
              </a:rPr>
              <a:t>Respect des SLA</a:t>
            </a:r>
            <a:endParaRPr lang="en-US" sz="850" dirty="0"/>
          </a:p>
        </p:txBody>
      </p:sp>
      <p:sp>
        <p:nvSpPr>
          <p:cNvPr id="26" name="Text 24"/>
          <p:cNvSpPr/>
          <p:nvPr/>
        </p:nvSpPr>
        <p:spPr>
          <a:xfrm>
            <a:off x="4754880" y="4681728"/>
            <a:ext cx="4114800" cy="384048"/>
          </a:xfrm>
          <a:prstGeom prst="rect">
            <a:avLst/>
          </a:prstGeom>
          <a:noFill/>
          <a:ln/>
        </p:spPr>
        <p:txBody>
          <a:bodyPr wrap="square" lIns="0" tIns="0" rIns="0" bIns="0" rtlCol="0" anchor="ctr"/>
          <a:lstStyle/>
          <a:p>
            <a:pPr indent="0" marL="0">
              <a:buNone/>
            </a:pPr>
            <a:r>
              <a:rPr lang="en-US" sz="900" i="1" dirty="0">
                <a:solidFill>
                  <a:srgbClr val="7AADD0"/>
                </a:solidFill>
                <a:latin typeface="Calibri" pitchFamily="34" charset="0"/>
                <a:ea typeface="Calibri" pitchFamily="34" charset="-122"/>
                <a:cs typeface="Calibri" pitchFamily="34" charset="-120"/>
              </a:rPr>
              <a:t>La plateforme Helpdesk IA constitue une réponse technique, stratégique et opérationnelle aux défis de GEISER en matière de gestion des tickets et de qualité de service IT.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4F3"/>
          </a:solidFill>
          <a:ln w="12700">
            <a:solidFill>
              <a:srgbClr val="2EC4F3"/>
            </a:solidFill>
            <a:prstDash val="solid"/>
          </a:ln>
        </p:spPr>
      </p:sp>
      <p:sp>
        <p:nvSpPr>
          <p:cNvPr id="3" name="Text 1"/>
          <p:cNvSpPr/>
          <p:nvPr/>
        </p:nvSpPr>
        <p:spPr>
          <a:xfrm>
            <a:off x="457200" y="164592"/>
            <a:ext cx="8229600" cy="457200"/>
          </a:xfrm>
          <a:prstGeom prst="rect">
            <a:avLst/>
          </a:prstGeom>
          <a:noFill/>
          <a:ln/>
        </p:spPr>
        <p:txBody>
          <a:bodyPr wrap="square" lIns="0" tIns="0" rIns="0" bIns="0" rtlCol="0" anchor="ctr"/>
          <a:lstStyle/>
          <a:p>
            <a:pPr indent="0" marL="0">
              <a:buNone/>
            </a:pPr>
            <a:r>
              <a:rPr lang="en-US" sz="2000" b="1" spc="200" kern="0" dirty="0">
                <a:solidFill>
                  <a:srgbClr val="0D1B40"/>
                </a:solidFill>
                <a:latin typeface="Calibri" pitchFamily="34" charset="0"/>
                <a:ea typeface="Calibri" pitchFamily="34" charset="-122"/>
                <a:cs typeface="Calibri" pitchFamily="34" charset="-120"/>
              </a:rPr>
              <a:t>PERSPECTIVES &amp; ÉVOLUTIONS FUTURES</a:t>
            </a:r>
            <a:endParaRPr lang="en-US" sz="20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Améliorations envisagées pour les versions futures de la plateforme</a:t>
            </a:r>
            <a:endParaRPr lang="en-US" sz="1100" dirty="0"/>
          </a:p>
        </p:txBody>
      </p:sp>
      <p:sp>
        <p:nvSpPr>
          <p:cNvPr id="5" name="Shape 3"/>
          <p:cNvSpPr/>
          <p:nvPr/>
        </p:nvSpPr>
        <p:spPr>
          <a:xfrm>
            <a:off x="274320" y="987552"/>
            <a:ext cx="2788920"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103120" y="1060704"/>
            <a:ext cx="822960" cy="228600"/>
          </a:xfrm>
          <a:prstGeom prst="rect">
            <a:avLst/>
          </a:prstGeom>
          <a:solidFill>
            <a:srgbClr val="000000"/>
          </a:solidFill>
          <a:ln w="12700">
            <a:solidFill>
              <a:srgbClr val="000000"/>
            </a:solidFill>
            <a:prstDash val="solid"/>
          </a:ln>
        </p:spPr>
      </p:sp>
      <p:sp>
        <p:nvSpPr>
          <p:cNvPr id="7" name="Text 5"/>
          <p:cNvSpPr/>
          <p:nvPr/>
        </p:nvSpPr>
        <p:spPr>
          <a:xfrm>
            <a:off x="2103120" y="1069848"/>
            <a:ext cx="822960" cy="201168"/>
          </a:xfrm>
          <a:prstGeom prst="rect">
            <a:avLst/>
          </a:prstGeom>
          <a:noFill/>
          <a:ln/>
        </p:spPr>
        <p:txBody>
          <a:bodyPr wrap="square" lIns="0" tIns="0" rIns="0" bIns="0" rtlCol="0" anchor="ctr"/>
          <a:lstStyle/>
          <a:p>
            <a:pPr algn="ctr" indent="0" marL="0">
              <a:buNone/>
            </a:pPr>
            <a:r>
              <a:rPr lang="en-US" sz="650" b="1" dirty="0">
                <a:solidFill>
                  <a:srgbClr val="1A3A8F"/>
                </a:solidFill>
                <a:latin typeface="Calibri" pitchFamily="34" charset="0"/>
                <a:ea typeface="Calibri" pitchFamily="34" charset="-122"/>
                <a:cs typeface="Calibri" pitchFamily="34" charset="-120"/>
              </a:rPr>
              <a:t>Court terme</a:t>
            </a:r>
            <a:endParaRPr lang="en-US" sz="650" dirty="0"/>
          </a:p>
        </p:txBody>
      </p:sp>
      <p:sp>
        <p:nvSpPr>
          <p:cNvPr id="8" name="Text 6"/>
          <p:cNvSpPr/>
          <p:nvPr/>
        </p:nvSpPr>
        <p:spPr>
          <a:xfrm>
            <a:off x="274320" y="1060704"/>
            <a:ext cx="502920" cy="41148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9" name="Text 7"/>
          <p:cNvSpPr/>
          <p:nvPr/>
        </p:nvSpPr>
        <p:spPr>
          <a:xfrm>
            <a:off x="777240" y="1078992"/>
            <a:ext cx="1280160" cy="384048"/>
          </a:xfrm>
          <a:prstGeom prst="rect">
            <a:avLst/>
          </a:prstGeom>
          <a:noFill/>
          <a:ln/>
        </p:spPr>
        <p:txBody>
          <a:bodyPr wrap="square" lIns="0" tIns="0" rIns="0" bIns="0" rtlCol="0" anchor="ctr"/>
          <a:lstStyle/>
          <a:p>
            <a:pPr indent="0" marL="0">
              <a:buNone/>
            </a:pPr>
            <a:r>
              <a:rPr lang="en-US" sz="1000" b="1" dirty="0">
                <a:solidFill>
                  <a:srgbClr val="0D1B40"/>
                </a:solidFill>
                <a:latin typeface="Calibri" pitchFamily="34" charset="0"/>
                <a:ea typeface="Calibri" pitchFamily="34" charset="-122"/>
                <a:cs typeface="Calibri" pitchFamily="34" charset="-120"/>
              </a:rPr>
              <a:t>IA Générative – LLM</a:t>
            </a:r>
            <a:endParaRPr lang="en-US" sz="1000" dirty="0"/>
          </a:p>
        </p:txBody>
      </p:sp>
      <p:sp>
        <p:nvSpPr>
          <p:cNvPr id="10" name="Shape 8"/>
          <p:cNvSpPr/>
          <p:nvPr/>
        </p:nvSpPr>
        <p:spPr>
          <a:xfrm>
            <a:off x="384048" y="1517904"/>
            <a:ext cx="548640" cy="36576"/>
          </a:xfrm>
          <a:prstGeom prst="rect">
            <a:avLst/>
          </a:prstGeom>
          <a:solidFill>
            <a:srgbClr val="1A3A8F"/>
          </a:solidFill>
          <a:ln w="12700">
            <a:solidFill>
              <a:srgbClr val="1A3A8F"/>
            </a:solidFill>
            <a:prstDash val="solid"/>
          </a:ln>
        </p:spPr>
      </p:sp>
      <p:sp>
        <p:nvSpPr>
          <p:cNvPr id="11" name="Text 9"/>
          <p:cNvSpPr/>
          <p:nvPr/>
        </p:nvSpPr>
        <p:spPr>
          <a:xfrm>
            <a:off x="384048" y="1627632"/>
            <a:ext cx="2578608" cy="1115568"/>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Intégration de modèles de langage de grande taille (GPT-4, Claude, Llama) pour des réponses automatiques encore plus précises, une compréhension contextuelle avancée des tickets complexes et la génération automatique de documentation de résolution.</a:t>
            </a:r>
            <a:endParaRPr lang="en-US" sz="850" dirty="0"/>
          </a:p>
        </p:txBody>
      </p:sp>
      <p:sp>
        <p:nvSpPr>
          <p:cNvPr id="12" name="Shape 10"/>
          <p:cNvSpPr/>
          <p:nvPr/>
        </p:nvSpPr>
        <p:spPr>
          <a:xfrm>
            <a:off x="3200400" y="987552"/>
            <a:ext cx="2788920"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5029200" y="1060704"/>
            <a:ext cx="822960" cy="228600"/>
          </a:xfrm>
          <a:prstGeom prst="rect">
            <a:avLst/>
          </a:prstGeom>
          <a:solidFill>
            <a:srgbClr val="000000"/>
          </a:solidFill>
          <a:ln w="12700">
            <a:solidFill>
              <a:srgbClr val="000000"/>
            </a:solidFill>
            <a:prstDash val="solid"/>
          </a:ln>
        </p:spPr>
      </p:sp>
      <p:sp>
        <p:nvSpPr>
          <p:cNvPr id="14" name="Text 12"/>
          <p:cNvSpPr/>
          <p:nvPr/>
        </p:nvSpPr>
        <p:spPr>
          <a:xfrm>
            <a:off x="5029200" y="1069848"/>
            <a:ext cx="822960" cy="201168"/>
          </a:xfrm>
          <a:prstGeom prst="rect">
            <a:avLst/>
          </a:prstGeom>
          <a:noFill/>
          <a:ln/>
        </p:spPr>
        <p:txBody>
          <a:bodyPr wrap="square" lIns="0" tIns="0" rIns="0" bIns="0" rtlCol="0" anchor="ctr"/>
          <a:lstStyle/>
          <a:p>
            <a:pPr algn="ctr" indent="0" marL="0">
              <a:buNone/>
            </a:pPr>
            <a:r>
              <a:rPr lang="en-US" sz="650" b="1" dirty="0">
                <a:solidFill>
                  <a:srgbClr val="10B981"/>
                </a:solidFill>
                <a:latin typeface="Calibri" pitchFamily="34" charset="0"/>
                <a:ea typeface="Calibri" pitchFamily="34" charset="-122"/>
                <a:cs typeface="Calibri" pitchFamily="34" charset="-120"/>
              </a:rPr>
              <a:t>Moyen terme</a:t>
            </a:r>
            <a:endParaRPr lang="en-US" sz="650" dirty="0"/>
          </a:p>
        </p:txBody>
      </p:sp>
      <p:sp>
        <p:nvSpPr>
          <p:cNvPr id="15" name="Text 13"/>
          <p:cNvSpPr/>
          <p:nvPr/>
        </p:nvSpPr>
        <p:spPr>
          <a:xfrm>
            <a:off x="3200400" y="1060704"/>
            <a:ext cx="502920" cy="41148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16" name="Text 14"/>
          <p:cNvSpPr/>
          <p:nvPr/>
        </p:nvSpPr>
        <p:spPr>
          <a:xfrm>
            <a:off x="3703320" y="1078992"/>
            <a:ext cx="1280160" cy="384048"/>
          </a:xfrm>
          <a:prstGeom prst="rect">
            <a:avLst/>
          </a:prstGeom>
          <a:noFill/>
          <a:ln/>
        </p:spPr>
        <p:txBody>
          <a:bodyPr wrap="square" lIns="0" tIns="0" rIns="0" bIns="0" rtlCol="0" anchor="ctr"/>
          <a:lstStyle/>
          <a:p>
            <a:pPr indent="0" marL="0">
              <a:buNone/>
            </a:pPr>
            <a:r>
              <a:rPr lang="en-US" sz="1000" b="1" dirty="0">
                <a:solidFill>
                  <a:srgbClr val="0D1B40"/>
                </a:solidFill>
                <a:latin typeface="Calibri" pitchFamily="34" charset="0"/>
                <a:ea typeface="Calibri" pitchFamily="34" charset="-122"/>
                <a:cs typeface="Calibri" pitchFamily="34" charset="-120"/>
              </a:rPr>
              <a:t>Intégration WhatsApp &amp; Slack</a:t>
            </a:r>
            <a:endParaRPr lang="en-US" sz="1000" dirty="0"/>
          </a:p>
        </p:txBody>
      </p:sp>
      <p:sp>
        <p:nvSpPr>
          <p:cNvPr id="17" name="Shape 15"/>
          <p:cNvSpPr/>
          <p:nvPr/>
        </p:nvSpPr>
        <p:spPr>
          <a:xfrm>
            <a:off x="3310128" y="1517904"/>
            <a:ext cx="548640" cy="36576"/>
          </a:xfrm>
          <a:prstGeom prst="rect">
            <a:avLst/>
          </a:prstGeom>
          <a:solidFill>
            <a:srgbClr val="10B981"/>
          </a:solidFill>
          <a:ln w="12700">
            <a:solidFill>
              <a:srgbClr val="10B981"/>
            </a:solidFill>
            <a:prstDash val="solid"/>
          </a:ln>
        </p:spPr>
      </p:sp>
      <p:sp>
        <p:nvSpPr>
          <p:cNvPr id="18" name="Text 16"/>
          <p:cNvSpPr/>
          <p:nvPr/>
        </p:nvSpPr>
        <p:spPr>
          <a:xfrm>
            <a:off x="3310128" y="1627632"/>
            <a:ext cx="2578608" cy="1115568"/>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Extension multicanale via les APIs WhatsApp Business et Slack pour permettre la soumission, le suivi et la résolution de tickets directement depuis les applications de messagerie les plus utilisées par les équipes GEISER.</a:t>
            </a:r>
            <a:endParaRPr lang="en-US" sz="850" dirty="0"/>
          </a:p>
        </p:txBody>
      </p:sp>
      <p:sp>
        <p:nvSpPr>
          <p:cNvPr id="19" name="Shape 17"/>
          <p:cNvSpPr/>
          <p:nvPr/>
        </p:nvSpPr>
        <p:spPr>
          <a:xfrm>
            <a:off x="6126480" y="987552"/>
            <a:ext cx="2788920"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7955280" y="1060704"/>
            <a:ext cx="822960" cy="228600"/>
          </a:xfrm>
          <a:prstGeom prst="rect">
            <a:avLst/>
          </a:prstGeom>
          <a:solidFill>
            <a:srgbClr val="000000"/>
          </a:solidFill>
          <a:ln w="12700">
            <a:solidFill>
              <a:srgbClr val="000000"/>
            </a:solidFill>
            <a:prstDash val="solid"/>
          </a:ln>
        </p:spPr>
      </p:sp>
      <p:sp>
        <p:nvSpPr>
          <p:cNvPr id="21" name="Text 19"/>
          <p:cNvSpPr/>
          <p:nvPr/>
        </p:nvSpPr>
        <p:spPr>
          <a:xfrm>
            <a:off x="7955280" y="1069848"/>
            <a:ext cx="822960" cy="201168"/>
          </a:xfrm>
          <a:prstGeom prst="rect">
            <a:avLst/>
          </a:prstGeom>
          <a:noFill/>
          <a:ln/>
        </p:spPr>
        <p:txBody>
          <a:bodyPr wrap="square" lIns="0" tIns="0" rIns="0" bIns="0" rtlCol="0" anchor="ctr"/>
          <a:lstStyle/>
          <a:p>
            <a:pPr algn="ctr" indent="0" marL="0">
              <a:buNone/>
            </a:pPr>
            <a:r>
              <a:rPr lang="en-US" sz="650" b="1" dirty="0">
                <a:solidFill>
                  <a:srgbClr val="10B981"/>
                </a:solidFill>
                <a:latin typeface="Calibri" pitchFamily="34" charset="0"/>
                <a:ea typeface="Calibri" pitchFamily="34" charset="-122"/>
                <a:cs typeface="Calibri" pitchFamily="34" charset="-120"/>
              </a:rPr>
              <a:t>Moyen terme</a:t>
            </a:r>
            <a:endParaRPr lang="en-US" sz="650" dirty="0"/>
          </a:p>
        </p:txBody>
      </p:sp>
      <p:sp>
        <p:nvSpPr>
          <p:cNvPr id="22" name="Text 20"/>
          <p:cNvSpPr/>
          <p:nvPr/>
        </p:nvSpPr>
        <p:spPr>
          <a:xfrm>
            <a:off x="6126480" y="1060704"/>
            <a:ext cx="502920" cy="41148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23" name="Text 21"/>
          <p:cNvSpPr/>
          <p:nvPr/>
        </p:nvSpPr>
        <p:spPr>
          <a:xfrm>
            <a:off x="6629400" y="1078992"/>
            <a:ext cx="1280160" cy="384048"/>
          </a:xfrm>
          <a:prstGeom prst="rect">
            <a:avLst/>
          </a:prstGeom>
          <a:noFill/>
          <a:ln/>
        </p:spPr>
        <p:txBody>
          <a:bodyPr wrap="square" lIns="0" tIns="0" rIns="0" bIns="0" rtlCol="0" anchor="ctr"/>
          <a:lstStyle/>
          <a:p>
            <a:pPr indent="0" marL="0">
              <a:buNone/>
            </a:pPr>
            <a:r>
              <a:rPr lang="en-US" sz="1000" b="1" dirty="0">
                <a:solidFill>
                  <a:srgbClr val="0D1B40"/>
                </a:solidFill>
                <a:latin typeface="Calibri" pitchFamily="34" charset="0"/>
                <a:ea typeface="Calibri" pitchFamily="34" charset="-122"/>
                <a:cs typeface="Calibri" pitchFamily="34" charset="-120"/>
              </a:rPr>
              <a:t>Chatbot auto-apprenant</a:t>
            </a:r>
            <a:endParaRPr lang="en-US" sz="1000" dirty="0"/>
          </a:p>
        </p:txBody>
      </p:sp>
      <p:sp>
        <p:nvSpPr>
          <p:cNvPr id="24" name="Shape 22"/>
          <p:cNvSpPr/>
          <p:nvPr/>
        </p:nvSpPr>
        <p:spPr>
          <a:xfrm>
            <a:off x="6236208" y="1517904"/>
            <a:ext cx="548640" cy="36576"/>
          </a:xfrm>
          <a:prstGeom prst="rect">
            <a:avLst/>
          </a:prstGeom>
          <a:solidFill>
            <a:srgbClr val="10B981"/>
          </a:solidFill>
          <a:ln w="12700">
            <a:solidFill>
              <a:srgbClr val="10B981"/>
            </a:solidFill>
            <a:prstDash val="solid"/>
          </a:ln>
        </p:spPr>
      </p:sp>
      <p:sp>
        <p:nvSpPr>
          <p:cNvPr id="25" name="Text 23"/>
          <p:cNvSpPr/>
          <p:nvPr/>
        </p:nvSpPr>
        <p:spPr>
          <a:xfrm>
            <a:off x="6236208" y="1627632"/>
            <a:ext cx="2578608" cy="1115568"/>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Évolution du chatbot vers un modèle d'apprentissage par renforcement (Reinforcement Learning from Human Feedback – RLHF), lui permettant d'améliorer continuellement ses réponses sur la base des évaluations des utilisateurs.</a:t>
            </a:r>
            <a:endParaRPr lang="en-US" sz="850" dirty="0"/>
          </a:p>
        </p:txBody>
      </p:sp>
      <p:sp>
        <p:nvSpPr>
          <p:cNvPr id="26" name="Shape 24"/>
          <p:cNvSpPr/>
          <p:nvPr/>
        </p:nvSpPr>
        <p:spPr>
          <a:xfrm>
            <a:off x="274320" y="2953512"/>
            <a:ext cx="2788920"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2103120" y="3026664"/>
            <a:ext cx="822960" cy="228600"/>
          </a:xfrm>
          <a:prstGeom prst="rect">
            <a:avLst/>
          </a:prstGeom>
          <a:solidFill>
            <a:srgbClr val="000000"/>
          </a:solidFill>
          <a:ln w="12700">
            <a:solidFill>
              <a:srgbClr val="000000"/>
            </a:solidFill>
            <a:prstDash val="solid"/>
          </a:ln>
        </p:spPr>
      </p:sp>
      <p:sp>
        <p:nvSpPr>
          <p:cNvPr id="28" name="Text 26"/>
          <p:cNvSpPr/>
          <p:nvPr/>
        </p:nvSpPr>
        <p:spPr>
          <a:xfrm>
            <a:off x="2103120" y="3035808"/>
            <a:ext cx="822960" cy="201168"/>
          </a:xfrm>
          <a:prstGeom prst="rect">
            <a:avLst/>
          </a:prstGeom>
          <a:noFill/>
          <a:ln/>
        </p:spPr>
        <p:txBody>
          <a:bodyPr wrap="square" lIns="0" tIns="0" rIns="0" bIns="0" rtlCol="0" anchor="ctr"/>
          <a:lstStyle/>
          <a:p>
            <a:pPr algn="ctr" indent="0" marL="0">
              <a:buNone/>
            </a:pPr>
            <a:r>
              <a:rPr lang="en-US" sz="650" b="1" dirty="0">
                <a:solidFill>
                  <a:srgbClr val="F59E0B"/>
                </a:solidFill>
                <a:latin typeface="Calibri" pitchFamily="34" charset="0"/>
                <a:ea typeface="Calibri" pitchFamily="34" charset="-122"/>
                <a:cs typeface="Calibri" pitchFamily="34" charset="-120"/>
              </a:rPr>
              <a:t>Long terme</a:t>
            </a:r>
            <a:endParaRPr lang="en-US" sz="650" dirty="0"/>
          </a:p>
        </p:txBody>
      </p:sp>
      <p:sp>
        <p:nvSpPr>
          <p:cNvPr id="29" name="Text 27"/>
          <p:cNvSpPr/>
          <p:nvPr/>
        </p:nvSpPr>
        <p:spPr>
          <a:xfrm>
            <a:off x="274320" y="3026664"/>
            <a:ext cx="502920" cy="41148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30" name="Text 28"/>
          <p:cNvSpPr/>
          <p:nvPr/>
        </p:nvSpPr>
        <p:spPr>
          <a:xfrm>
            <a:off x="777240" y="3044952"/>
            <a:ext cx="1280160" cy="384048"/>
          </a:xfrm>
          <a:prstGeom prst="rect">
            <a:avLst/>
          </a:prstGeom>
          <a:noFill/>
          <a:ln/>
        </p:spPr>
        <p:txBody>
          <a:bodyPr wrap="square" lIns="0" tIns="0" rIns="0" bIns="0" rtlCol="0" anchor="ctr"/>
          <a:lstStyle/>
          <a:p>
            <a:pPr indent="0" marL="0">
              <a:buNone/>
            </a:pPr>
            <a:r>
              <a:rPr lang="en-US" sz="1000" b="1" dirty="0">
                <a:solidFill>
                  <a:srgbClr val="0D1B40"/>
                </a:solidFill>
                <a:latin typeface="Calibri" pitchFamily="34" charset="0"/>
                <a:ea typeface="Calibri" pitchFamily="34" charset="-122"/>
                <a:cs typeface="Calibri" pitchFamily="34" charset="-120"/>
              </a:rPr>
              <a:t>Support Multilingue</a:t>
            </a:r>
            <a:endParaRPr lang="en-US" sz="1000" dirty="0"/>
          </a:p>
        </p:txBody>
      </p:sp>
      <p:sp>
        <p:nvSpPr>
          <p:cNvPr id="31" name="Shape 29"/>
          <p:cNvSpPr/>
          <p:nvPr/>
        </p:nvSpPr>
        <p:spPr>
          <a:xfrm>
            <a:off x="384048" y="3483864"/>
            <a:ext cx="548640" cy="36576"/>
          </a:xfrm>
          <a:prstGeom prst="rect">
            <a:avLst/>
          </a:prstGeom>
          <a:solidFill>
            <a:srgbClr val="F59E0B"/>
          </a:solidFill>
          <a:ln w="12700">
            <a:solidFill>
              <a:srgbClr val="F59E0B"/>
            </a:solidFill>
            <a:prstDash val="solid"/>
          </a:ln>
        </p:spPr>
      </p:sp>
      <p:sp>
        <p:nvSpPr>
          <p:cNvPr id="32" name="Text 30"/>
          <p:cNvSpPr/>
          <p:nvPr/>
        </p:nvSpPr>
        <p:spPr>
          <a:xfrm>
            <a:off x="384048" y="3593592"/>
            <a:ext cx="2578608" cy="1115568"/>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Déploiement d'un moteur NLP multilingue (français, anglais, arabe…) pour étendre la portée de la plateforme aux filiales et partenaires internationaux de GEISER, avec détection automatique de la langue.</a:t>
            </a:r>
            <a:endParaRPr lang="en-US" sz="850" dirty="0"/>
          </a:p>
        </p:txBody>
      </p:sp>
      <p:sp>
        <p:nvSpPr>
          <p:cNvPr id="33" name="Shape 31"/>
          <p:cNvSpPr/>
          <p:nvPr/>
        </p:nvSpPr>
        <p:spPr>
          <a:xfrm>
            <a:off x="3200400" y="2953512"/>
            <a:ext cx="2788920"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5029200" y="3026664"/>
            <a:ext cx="822960" cy="228600"/>
          </a:xfrm>
          <a:prstGeom prst="rect">
            <a:avLst/>
          </a:prstGeom>
          <a:solidFill>
            <a:srgbClr val="000000"/>
          </a:solidFill>
          <a:ln w="12700">
            <a:solidFill>
              <a:srgbClr val="000000"/>
            </a:solidFill>
            <a:prstDash val="solid"/>
          </a:ln>
        </p:spPr>
      </p:sp>
      <p:sp>
        <p:nvSpPr>
          <p:cNvPr id="35" name="Text 33"/>
          <p:cNvSpPr/>
          <p:nvPr/>
        </p:nvSpPr>
        <p:spPr>
          <a:xfrm>
            <a:off x="5029200" y="3035808"/>
            <a:ext cx="822960" cy="201168"/>
          </a:xfrm>
          <a:prstGeom prst="rect">
            <a:avLst/>
          </a:prstGeom>
          <a:noFill/>
          <a:ln/>
        </p:spPr>
        <p:txBody>
          <a:bodyPr wrap="square" lIns="0" tIns="0" rIns="0" bIns="0" rtlCol="0" anchor="ctr"/>
          <a:lstStyle/>
          <a:p>
            <a:pPr algn="ctr" indent="0" marL="0">
              <a:buNone/>
            </a:pPr>
            <a:r>
              <a:rPr lang="en-US" sz="650" b="1" dirty="0">
                <a:solidFill>
                  <a:srgbClr val="F59E0B"/>
                </a:solidFill>
                <a:latin typeface="Calibri" pitchFamily="34" charset="0"/>
                <a:ea typeface="Calibri" pitchFamily="34" charset="-122"/>
                <a:cs typeface="Calibri" pitchFamily="34" charset="-120"/>
              </a:rPr>
              <a:t>Long terme</a:t>
            </a:r>
            <a:endParaRPr lang="en-US" sz="650" dirty="0"/>
          </a:p>
        </p:txBody>
      </p:sp>
      <p:sp>
        <p:nvSpPr>
          <p:cNvPr id="36" name="Text 34"/>
          <p:cNvSpPr/>
          <p:nvPr/>
        </p:nvSpPr>
        <p:spPr>
          <a:xfrm>
            <a:off x="3200400" y="3026664"/>
            <a:ext cx="502920" cy="41148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37" name="Text 35"/>
          <p:cNvSpPr/>
          <p:nvPr/>
        </p:nvSpPr>
        <p:spPr>
          <a:xfrm>
            <a:off x="3703320" y="3044952"/>
            <a:ext cx="1280160" cy="384048"/>
          </a:xfrm>
          <a:prstGeom prst="rect">
            <a:avLst/>
          </a:prstGeom>
          <a:noFill/>
          <a:ln/>
        </p:spPr>
        <p:txBody>
          <a:bodyPr wrap="square" lIns="0" tIns="0" rIns="0" bIns="0" rtlCol="0" anchor="ctr"/>
          <a:lstStyle/>
          <a:p>
            <a:pPr indent="0" marL="0">
              <a:buNone/>
            </a:pPr>
            <a:r>
              <a:rPr lang="en-US" sz="1000" b="1" dirty="0">
                <a:solidFill>
                  <a:srgbClr val="0D1B40"/>
                </a:solidFill>
                <a:latin typeface="Calibri" pitchFamily="34" charset="0"/>
                <a:ea typeface="Calibri" pitchFamily="34" charset="-122"/>
                <a:cs typeface="Calibri" pitchFamily="34" charset="-120"/>
              </a:rPr>
              <a:t>Application Mobile Native</a:t>
            </a:r>
            <a:endParaRPr lang="en-US" sz="1000" dirty="0"/>
          </a:p>
        </p:txBody>
      </p:sp>
      <p:sp>
        <p:nvSpPr>
          <p:cNvPr id="38" name="Shape 36"/>
          <p:cNvSpPr/>
          <p:nvPr/>
        </p:nvSpPr>
        <p:spPr>
          <a:xfrm>
            <a:off x="3310128" y="3483864"/>
            <a:ext cx="548640" cy="36576"/>
          </a:xfrm>
          <a:prstGeom prst="rect">
            <a:avLst/>
          </a:prstGeom>
          <a:solidFill>
            <a:srgbClr val="F59E0B"/>
          </a:solidFill>
          <a:ln w="12700">
            <a:solidFill>
              <a:srgbClr val="F59E0B"/>
            </a:solidFill>
            <a:prstDash val="solid"/>
          </a:ln>
        </p:spPr>
      </p:sp>
      <p:sp>
        <p:nvSpPr>
          <p:cNvPr id="39" name="Text 37"/>
          <p:cNvSpPr/>
          <p:nvPr/>
        </p:nvSpPr>
        <p:spPr>
          <a:xfrm>
            <a:off x="3310128" y="3593592"/>
            <a:ext cx="2578608" cy="1115568"/>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Développement d'une application mobile iOS et Android (React Native / Flutter) offrant aux agents la gestion complète des tickets en mobilité, avec notifications push en temps réel et interface optimisée.</a:t>
            </a:r>
            <a:endParaRPr lang="en-US" sz="850" dirty="0"/>
          </a:p>
        </p:txBody>
      </p:sp>
      <p:sp>
        <p:nvSpPr>
          <p:cNvPr id="40" name="Shape 38"/>
          <p:cNvSpPr/>
          <p:nvPr/>
        </p:nvSpPr>
        <p:spPr>
          <a:xfrm>
            <a:off x="6126480" y="2953512"/>
            <a:ext cx="2788920"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7955280" y="3026664"/>
            <a:ext cx="822960" cy="228600"/>
          </a:xfrm>
          <a:prstGeom prst="rect">
            <a:avLst/>
          </a:prstGeom>
          <a:solidFill>
            <a:srgbClr val="000000"/>
          </a:solidFill>
          <a:ln w="12700">
            <a:solidFill>
              <a:srgbClr val="000000"/>
            </a:solidFill>
            <a:prstDash val="solid"/>
          </a:ln>
        </p:spPr>
      </p:sp>
      <p:sp>
        <p:nvSpPr>
          <p:cNvPr id="42" name="Text 40"/>
          <p:cNvSpPr/>
          <p:nvPr/>
        </p:nvSpPr>
        <p:spPr>
          <a:xfrm>
            <a:off x="7955280" y="3035808"/>
            <a:ext cx="822960" cy="201168"/>
          </a:xfrm>
          <a:prstGeom prst="rect">
            <a:avLst/>
          </a:prstGeom>
          <a:noFill/>
          <a:ln/>
        </p:spPr>
        <p:txBody>
          <a:bodyPr wrap="square" lIns="0" tIns="0" rIns="0" bIns="0" rtlCol="0" anchor="ctr"/>
          <a:lstStyle/>
          <a:p>
            <a:pPr algn="ctr" indent="0" marL="0">
              <a:buNone/>
            </a:pPr>
            <a:r>
              <a:rPr lang="en-US" sz="650" b="1" dirty="0">
                <a:solidFill>
                  <a:srgbClr val="F59E0B"/>
                </a:solidFill>
                <a:latin typeface="Calibri" pitchFamily="34" charset="0"/>
                <a:ea typeface="Calibri" pitchFamily="34" charset="-122"/>
                <a:cs typeface="Calibri" pitchFamily="34" charset="-120"/>
              </a:rPr>
              <a:t>Long terme</a:t>
            </a:r>
            <a:endParaRPr lang="en-US" sz="650" dirty="0"/>
          </a:p>
        </p:txBody>
      </p:sp>
      <p:sp>
        <p:nvSpPr>
          <p:cNvPr id="43" name="Text 41"/>
          <p:cNvSpPr/>
          <p:nvPr/>
        </p:nvSpPr>
        <p:spPr>
          <a:xfrm>
            <a:off x="6126480" y="3026664"/>
            <a:ext cx="502920" cy="41148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44" name="Text 42"/>
          <p:cNvSpPr/>
          <p:nvPr/>
        </p:nvSpPr>
        <p:spPr>
          <a:xfrm>
            <a:off x="6629400" y="3044952"/>
            <a:ext cx="1280160" cy="384048"/>
          </a:xfrm>
          <a:prstGeom prst="rect">
            <a:avLst/>
          </a:prstGeom>
          <a:noFill/>
          <a:ln/>
        </p:spPr>
        <p:txBody>
          <a:bodyPr wrap="square" lIns="0" tIns="0" rIns="0" bIns="0" rtlCol="0" anchor="ctr"/>
          <a:lstStyle/>
          <a:p>
            <a:pPr indent="0" marL="0">
              <a:buNone/>
            </a:pPr>
            <a:r>
              <a:rPr lang="en-US" sz="1000" b="1" dirty="0">
                <a:solidFill>
                  <a:srgbClr val="0D1B40"/>
                </a:solidFill>
                <a:latin typeface="Calibri" pitchFamily="34" charset="0"/>
                <a:ea typeface="Calibri" pitchFamily="34" charset="-122"/>
                <a:cs typeface="Calibri" pitchFamily="34" charset="-120"/>
              </a:rPr>
              <a:t>Maintenance Prédictive</a:t>
            </a:r>
            <a:endParaRPr lang="en-US" sz="1000" dirty="0"/>
          </a:p>
        </p:txBody>
      </p:sp>
      <p:sp>
        <p:nvSpPr>
          <p:cNvPr id="45" name="Shape 43"/>
          <p:cNvSpPr/>
          <p:nvPr/>
        </p:nvSpPr>
        <p:spPr>
          <a:xfrm>
            <a:off x="6236208" y="3483864"/>
            <a:ext cx="548640" cy="36576"/>
          </a:xfrm>
          <a:prstGeom prst="rect">
            <a:avLst/>
          </a:prstGeom>
          <a:solidFill>
            <a:srgbClr val="F59E0B"/>
          </a:solidFill>
          <a:ln w="12700">
            <a:solidFill>
              <a:srgbClr val="F59E0B"/>
            </a:solidFill>
            <a:prstDash val="solid"/>
          </a:ln>
        </p:spPr>
      </p:sp>
      <p:sp>
        <p:nvSpPr>
          <p:cNvPr id="46" name="Text 44"/>
          <p:cNvSpPr/>
          <p:nvPr/>
        </p:nvSpPr>
        <p:spPr>
          <a:xfrm>
            <a:off x="6236208" y="3593592"/>
            <a:ext cx="2578608" cy="1115568"/>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Évolution vers un système proactif capable de détecter les pannes informatiques avant qu'elles ne surviennent, en analysant les signaux faibles (logs système, alertes monitoring) et en créant automatiquement des tickets préventifs.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Helpdesk IA – GEISER 2026</dc:title>
  <dc:subject>PptxGenJS Presentation</dc:subject>
  <dc:creator>PptxGenJS</dc:creator>
  <cp:lastModifiedBy>PptxGenJS</cp:lastModifiedBy>
  <cp:revision>1</cp:revision>
  <dcterms:created xsi:type="dcterms:W3CDTF">2026-05-13T10:50:51Z</dcterms:created>
  <dcterms:modified xsi:type="dcterms:W3CDTF">2026-05-13T10:50:51Z</dcterms:modified>
</cp:coreProperties>
</file>